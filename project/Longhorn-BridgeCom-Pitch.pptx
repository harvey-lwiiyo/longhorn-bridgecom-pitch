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06E"/>
        </a:solidFill>
        <a:effectLst/>
      </p:bgPr>
    </p:bg>
    <p:spTree>
      <p:nvGrpSpPr>
        <p:cNvPr id="1" name=""/>
        <p:cNvGrpSpPr/>
        <p:nvPr/>
      </p:nvGrpSpPr>
      <p:grpSpPr/>
      <p:sp>
        <p:nvSpPr>
          <p:cNvPr id="2" name="Rectangle 1"/>
          <p:cNvSpPr/>
          <p:nvPr/>
        </p:nvSpPr>
        <p:spPr>
          <a:xfrm>
            <a:off x="8686800" y="3200400"/>
            <a:ext cx="3657600" cy="4572000"/>
          </a:xfrm>
          <a:prstGeom prst="rect">
            <a:avLst/>
          </a:prstGeom>
          <a:solidFill>
            <a:srgbClr val="8005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601200" y="0"/>
            <a:ext cx="2743200" cy="7315200"/>
          </a:xfrm>
          <a:prstGeom prst="rect">
            <a:avLst/>
          </a:prstGeom>
          <a:solidFill>
            <a:srgbClr val="0600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98482" y="914400"/>
            <a:ext cx="5486400" cy="320040"/>
          </a:xfrm>
          <a:prstGeom prst="rect">
            <a:avLst/>
          </a:prstGeom>
          <a:noFill/>
        </p:spPr>
        <p:txBody>
          <a:bodyPr wrap="square">
            <a:spAutoFit/>
          </a:bodyPr>
          <a:lstStyle/>
          <a:p>
            <a:pPr algn="l"/>
            <a:r>
              <a:rPr sz="1000" b="0" i="0">
                <a:solidFill>
                  <a:srgbClr val="CCCCFF"/>
                </a:solidFill>
                <a:latin typeface="Courier New"/>
              </a:rPr>
              <a:t>BRIDGECOM NARRATIVES</a:t>
            </a:r>
          </a:p>
        </p:txBody>
      </p:sp>
      <p:sp>
        <p:nvSpPr>
          <p:cNvPr id="5" name="TextBox 4"/>
          <p:cNvSpPr txBox="1"/>
          <p:nvPr/>
        </p:nvSpPr>
        <p:spPr>
          <a:xfrm>
            <a:off x="6276322" y="868680"/>
            <a:ext cx="457200" cy="365760"/>
          </a:xfrm>
          <a:prstGeom prst="rect">
            <a:avLst/>
          </a:prstGeom>
          <a:noFill/>
        </p:spPr>
        <p:txBody>
          <a:bodyPr wrap="square">
            <a:spAutoFit/>
          </a:bodyPr>
          <a:lstStyle/>
          <a:p>
            <a:pPr algn="l"/>
            <a:r>
              <a:rPr sz="2200" b="0" i="1">
                <a:solidFill>
                  <a:srgbClr val="8080CC"/>
                </a:solidFill>
                <a:latin typeface="Georgia"/>
              </a:rPr>
              <a:t>×</a:t>
            </a:r>
          </a:p>
        </p:txBody>
      </p:sp>
      <p:sp>
        <p:nvSpPr>
          <p:cNvPr id="6" name="TextBox 5"/>
          <p:cNvSpPr txBox="1"/>
          <p:nvPr/>
        </p:nvSpPr>
        <p:spPr>
          <a:xfrm>
            <a:off x="6733522" y="914400"/>
            <a:ext cx="5029200" cy="320040"/>
          </a:xfrm>
          <a:prstGeom prst="rect">
            <a:avLst/>
          </a:prstGeom>
          <a:noFill/>
        </p:spPr>
        <p:txBody>
          <a:bodyPr wrap="square">
            <a:spAutoFit/>
          </a:bodyPr>
          <a:lstStyle/>
          <a:p>
            <a:pPr algn="l"/>
            <a:r>
              <a:rPr sz="1000" b="0" i="0">
                <a:solidFill>
                  <a:srgbClr val="CCCCFF"/>
                </a:solidFill>
                <a:latin typeface="Courier New"/>
              </a:rPr>
              <a:t>LONGHORN INSURANCE BROKERS</a:t>
            </a:r>
          </a:p>
        </p:txBody>
      </p:sp>
      <p:sp>
        <p:nvSpPr>
          <p:cNvPr id="7" name="TextBox 6"/>
          <p:cNvSpPr txBox="1"/>
          <p:nvPr/>
        </p:nvSpPr>
        <p:spPr>
          <a:xfrm>
            <a:off x="698482" y="1417320"/>
            <a:ext cx="8229600" cy="1371600"/>
          </a:xfrm>
          <a:prstGeom prst="rect">
            <a:avLst/>
          </a:prstGeom>
          <a:noFill/>
        </p:spPr>
        <p:txBody>
          <a:bodyPr wrap="square">
            <a:spAutoFit/>
          </a:bodyPr>
          <a:lstStyle/>
          <a:p>
            <a:pPr algn="l"/>
            <a:r>
              <a:rPr sz="10800" b="0" i="0">
                <a:solidFill>
                  <a:srgbClr val="FFFFFF"/>
                </a:solidFill>
                <a:latin typeface="Georgia"/>
              </a:rPr>
              <a:t>Brand Growth</a:t>
            </a:r>
          </a:p>
        </p:txBody>
      </p:sp>
      <p:sp>
        <p:nvSpPr>
          <p:cNvPr id="8" name="TextBox 7"/>
          <p:cNvSpPr txBox="1"/>
          <p:nvPr/>
        </p:nvSpPr>
        <p:spPr>
          <a:xfrm>
            <a:off x="698482" y="2651760"/>
            <a:ext cx="8229600" cy="1280160"/>
          </a:xfrm>
          <a:prstGeom prst="rect">
            <a:avLst/>
          </a:prstGeom>
          <a:noFill/>
        </p:spPr>
        <p:txBody>
          <a:bodyPr wrap="square">
            <a:spAutoFit/>
          </a:bodyPr>
          <a:lstStyle/>
          <a:p>
            <a:pPr algn="l"/>
            <a:r>
              <a:rPr sz="10800" b="0" i="1">
                <a:solidFill>
                  <a:srgbClr val="C8121E"/>
                </a:solidFill>
                <a:latin typeface="Georgia"/>
              </a:rPr>
              <a:t>Pitch</a:t>
            </a:r>
          </a:p>
        </p:txBody>
      </p:sp>
      <p:cxnSp>
        <p:nvCxnSpPr>
          <p:cNvPr id="9" name="Connector 8"/>
          <p:cNvCxnSpPr/>
          <p:nvPr/>
        </p:nvCxnSpPr>
        <p:spPr>
          <a:xfrm>
            <a:off x="698482" y="4069080"/>
            <a:ext cx="6400800" cy="0"/>
          </a:xfrm>
          <a:prstGeom prst="line">
            <a:avLst/>
          </a:prstGeom>
          <a:ln w="12700">
            <a:solidFill>
              <a:srgbClr val="40408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8482" y="4206240"/>
            <a:ext cx="7315200" cy="731520"/>
          </a:xfrm>
          <a:prstGeom prst="rect">
            <a:avLst/>
          </a:prstGeom>
          <a:noFill/>
        </p:spPr>
        <p:txBody>
          <a:bodyPr wrap="square">
            <a:spAutoFit/>
          </a:bodyPr>
          <a:lstStyle/>
          <a:p>
            <a:pPr algn="l"/>
            <a:r>
              <a:rPr sz="1600" b="0" i="0">
                <a:solidFill>
                  <a:srgbClr val="B0B0D8"/>
                </a:solidFill>
                <a:latin typeface="Calibri"/>
              </a:rPr>
              <a:t>A social media strategy to build Longhorn's presence,
trust, and pipeline from zero — across five channels.</a:t>
            </a:r>
          </a:p>
        </p:txBody>
      </p:sp>
      <p:sp>
        <p:nvSpPr>
          <p:cNvPr id="11" name="TextBox 10"/>
          <p:cNvSpPr txBox="1"/>
          <p:nvPr/>
        </p:nvSpPr>
        <p:spPr>
          <a:xfrm>
            <a:off x="698482" y="6172200"/>
            <a:ext cx="6400800" cy="274320"/>
          </a:xfrm>
          <a:prstGeom prst="rect">
            <a:avLst/>
          </a:prstGeom>
          <a:noFill/>
        </p:spPr>
        <p:txBody>
          <a:bodyPr wrap="square">
            <a:spAutoFit/>
          </a:bodyPr>
          <a:lstStyle/>
          <a:p>
            <a:pPr algn="l"/>
            <a:r>
              <a:rPr sz="900" b="0" i="0">
                <a:solidFill>
                  <a:srgbClr val="8080A8"/>
                </a:solidFill>
                <a:latin typeface="Courier New"/>
              </a:rPr>
              <a:t>BridgeCom Narratives  ·  Lusaka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06E"/>
        </a:solidFill>
        <a:effectLst/>
      </p:bgPr>
    </p:bg>
    <p:spTree>
      <p:nvGrpSpPr>
        <p:cNvPr id="1" name=""/>
        <p:cNvGrpSpPr/>
        <p:nvPr/>
      </p:nvGrpSpPr>
      <p:grpSpPr/>
      <p:sp>
        <p:nvSpPr>
          <p:cNvPr id="2" name="TextBox 1"/>
          <p:cNvSpPr txBox="1"/>
          <p:nvPr/>
        </p:nvSpPr>
        <p:spPr>
          <a:xfrm>
            <a:off x="424162" y="1097280"/>
            <a:ext cx="3657600" cy="3200400"/>
          </a:xfrm>
          <a:prstGeom prst="rect">
            <a:avLst/>
          </a:prstGeom>
          <a:noFill/>
        </p:spPr>
        <p:txBody>
          <a:bodyPr wrap="square">
            <a:spAutoFit/>
          </a:bodyPr>
          <a:lstStyle/>
          <a:p>
            <a:pPr algn="l"/>
            <a:r>
              <a:rPr sz="20000" b="0" i="1">
                <a:solidFill>
                  <a:srgbClr val="28209A"/>
                </a:solidFill>
                <a:latin typeface="Georgia"/>
              </a:rPr>
              <a:t>01</a:t>
            </a:r>
          </a:p>
        </p:txBody>
      </p:sp>
      <p:sp>
        <p:nvSpPr>
          <p:cNvPr id="3" name="TextBox 2"/>
          <p:cNvSpPr txBox="1"/>
          <p:nvPr/>
        </p:nvSpPr>
        <p:spPr>
          <a:xfrm>
            <a:off x="3624562" y="2286000"/>
            <a:ext cx="10794730" cy="256032"/>
          </a:xfrm>
          <a:prstGeom prst="rect">
            <a:avLst/>
          </a:prstGeom>
          <a:noFill/>
        </p:spPr>
        <p:txBody>
          <a:bodyPr wrap="square">
            <a:spAutoFit/>
          </a:bodyPr>
          <a:lstStyle/>
          <a:p>
            <a:pPr algn="l"/>
            <a:r>
              <a:rPr sz="900" b="0" i="0">
                <a:solidFill>
                  <a:srgbClr val="A0A0C0"/>
                </a:solidFill>
                <a:latin typeface="Courier New"/>
              </a:rPr>
              <a:t>• PART 01</a:t>
            </a:r>
          </a:p>
        </p:txBody>
      </p:sp>
      <p:sp>
        <p:nvSpPr>
          <p:cNvPr id="4" name="TextBox 3"/>
          <p:cNvSpPr txBox="1"/>
          <p:nvPr/>
        </p:nvSpPr>
        <p:spPr>
          <a:xfrm>
            <a:off x="3624562" y="2606040"/>
            <a:ext cx="7315200" cy="1371600"/>
          </a:xfrm>
          <a:prstGeom prst="rect">
            <a:avLst/>
          </a:prstGeom>
          <a:noFill/>
        </p:spPr>
        <p:txBody>
          <a:bodyPr wrap="square">
            <a:spAutoFit/>
          </a:bodyPr>
          <a:lstStyle/>
          <a:p>
            <a:pPr algn="l"/>
            <a:r>
              <a:rPr sz="8000" b="0" i="1">
                <a:solidFill>
                  <a:srgbClr val="FFFFFF"/>
                </a:solidFill>
                <a:latin typeface="Georgia"/>
              </a:rPr>
              <a:t>The Problem</a:t>
            </a:r>
          </a:p>
        </p:txBody>
      </p:sp>
      <p:sp>
        <p:nvSpPr>
          <p:cNvPr id="5" name="TextBox 4"/>
          <p:cNvSpPr txBox="1"/>
          <p:nvPr/>
        </p:nvSpPr>
        <p:spPr>
          <a:xfrm>
            <a:off x="3624562" y="3657600"/>
            <a:ext cx="6858000" cy="822960"/>
          </a:xfrm>
          <a:prstGeom prst="rect">
            <a:avLst/>
          </a:prstGeom>
          <a:noFill/>
        </p:spPr>
        <p:txBody>
          <a:bodyPr wrap="square">
            <a:spAutoFit/>
          </a:bodyPr>
          <a:lstStyle/>
          <a:p>
            <a:pPr algn="l"/>
            <a:r>
              <a:rPr sz="2000" b="0" i="0">
                <a:solidFill>
                  <a:srgbClr val="C0C0E0"/>
                </a:solidFill>
                <a:latin typeface="Calibri"/>
              </a:rPr>
              <a:t>Five platforms. One number on each. The market does not know Longhorn exists.</a:t>
            </a:r>
          </a:p>
        </p:txBody>
      </p:sp>
      <p:sp>
        <p:nvSpPr>
          <p:cNvPr id="6" name="TextBox 5"/>
          <p:cNvSpPr txBox="1"/>
          <p:nvPr/>
        </p:nvSpPr>
        <p:spPr>
          <a:xfrm>
            <a:off x="698482" y="320040"/>
            <a:ext cx="3200400" cy="320040"/>
          </a:xfrm>
          <a:prstGeom prst="rect">
            <a:avLst/>
          </a:prstGeom>
          <a:noFill/>
        </p:spPr>
        <p:txBody>
          <a:bodyPr wrap="square">
            <a:spAutoFit/>
          </a:bodyPr>
          <a:lstStyle/>
          <a:p>
            <a:pPr algn="l"/>
            <a:r>
              <a:rPr sz="1000" b="1" i="0">
                <a:solidFill>
                  <a:srgbClr val="FFFFFF"/>
                </a:solidFill>
                <a:latin typeface="Calibri"/>
              </a:rPr>
              <a:t>BridgeCom Narratives</a:t>
            </a:r>
          </a:p>
        </p:txBody>
      </p:sp>
      <p:sp>
        <p:nvSpPr>
          <p:cNvPr id="7" name="TextBox 6"/>
          <p:cNvSpPr txBox="1"/>
          <p:nvPr/>
        </p:nvSpPr>
        <p:spPr>
          <a:xfrm>
            <a:off x="698482" y="594360"/>
            <a:ext cx="3200400" cy="201168"/>
          </a:xfrm>
          <a:prstGeom prst="rect">
            <a:avLst/>
          </a:prstGeom>
          <a:noFill/>
        </p:spPr>
        <p:txBody>
          <a:bodyPr wrap="square">
            <a:spAutoFit/>
          </a:bodyPr>
          <a:lstStyle/>
          <a:p>
            <a:pPr algn="l"/>
            <a:r>
              <a:rPr sz="750" b="0" i="0">
                <a:solidFill>
                  <a:srgbClr val="FFFFFF"/>
                </a:solidFill>
                <a:latin typeface="Courier New"/>
              </a:rPr>
              <a:t>FOR LONGHORN INSURANCE</a:t>
            </a:r>
          </a:p>
        </p:txBody>
      </p:sp>
      <p:sp>
        <p:nvSpPr>
          <p:cNvPr id="8" name="TextBox 7"/>
          <p:cNvSpPr txBox="1"/>
          <p:nvPr/>
        </p:nvSpPr>
        <p:spPr>
          <a:xfrm>
            <a:off x="9207212" y="320040"/>
            <a:ext cx="2286000" cy="320040"/>
          </a:xfrm>
          <a:prstGeom prst="rect">
            <a:avLst/>
          </a:prstGeom>
          <a:noFill/>
        </p:spPr>
        <p:txBody>
          <a:bodyPr wrap="square">
            <a:spAutoFit/>
          </a:bodyPr>
          <a:lstStyle/>
          <a:p>
            <a:pPr algn="r"/>
            <a:r>
              <a:rPr sz="900" b="0" i="0">
                <a:solidFill>
                  <a:srgbClr val="FFFFFF"/>
                </a:solidFill>
                <a:latin typeface="Courier New"/>
              </a:rPr>
              <a:t>Part 01</a:t>
            </a:r>
          </a:p>
        </p:txBody>
      </p:sp>
      <p:cxnSp>
        <p:nvCxnSpPr>
          <p:cNvPr id="9" name="Connector 8"/>
          <p:cNvCxnSpPr/>
          <p:nvPr/>
        </p:nvCxnSpPr>
        <p:spPr>
          <a:xfrm>
            <a:off x="698482" y="6213362"/>
            <a:ext cx="10794730" cy="0"/>
          </a:xfrm>
          <a:prstGeom prst="line">
            <a:avLst/>
          </a:prstGeom>
          <a:ln w="6350">
            <a:solidFill>
              <a:srgbClr val="80809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8482" y="6085346"/>
            <a:ext cx="3657600" cy="228600"/>
          </a:xfrm>
          <a:prstGeom prst="rect">
            <a:avLst/>
          </a:prstGeom>
          <a:noFill/>
        </p:spPr>
        <p:txBody>
          <a:bodyPr wrap="square">
            <a:spAutoFit/>
          </a:bodyPr>
          <a:lstStyle/>
          <a:p>
            <a:pPr algn="l"/>
            <a:r>
              <a:rPr sz="800" b="0" i="0">
                <a:solidFill>
                  <a:srgbClr val="9090A8"/>
                </a:solidFill>
                <a:latin typeface="Courier New"/>
              </a:rPr>
              <a:t>BridgeCom Narratives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Problem · 01</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THE TRUTH, IN ONE SENTENCE</a:t>
            </a:r>
          </a:p>
        </p:txBody>
      </p:sp>
      <p:sp>
        <p:nvSpPr>
          <p:cNvPr id="6" name="TextBox 5"/>
          <p:cNvSpPr txBox="1"/>
          <p:nvPr/>
        </p:nvSpPr>
        <p:spPr>
          <a:xfrm>
            <a:off x="698482" y="982456"/>
            <a:ext cx="10794730" cy="2011680"/>
          </a:xfrm>
          <a:prstGeom prst="rect">
            <a:avLst/>
          </a:prstGeom>
          <a:noFill/>
        </p:spPr>
        <p:txBody>
          <a:bodyPr wrap="square">
            <a:spAutoFit/>
          </a:bodyPr>
          <a:lstStyle/>
          <a:p>
            <a:pPr algn="l"/>
            <a:r>
              <a:rPr sz="5400" b="0" i="1">
                <a:solidFill>
                  <a:srgbClr val="15152A"/>
                </a:solidFill>
                <a:latin typeface="Georgia"/>
              </a:rPr>
              <a:t>You do good work.
The market does not know you exist.</a:t>
            </a:r>
          </a:p>
        </p:txBody>
      </p:sp>
      <p:cxnSp>
        <p:nvCxnSpPr>
          <p:cNvPr id="7" name="Connector 6"/>
          <p:cNvCxnSpPr/>
          <p:nvPr/>
        </p:nvCxnSpPr>
        <p:spPr>
          <a:xfrm>
            <a:off x="698482" y="3149584"/>
            <a:ext cx="640080" cy="0"/>
          </a:xfrm>
          <a:prstGeom prst="line">
            <a:avLst/>
          </a:prstGeom>
          <a:ln w="25400">
            <a:solidFill>
              <a:srgbClr val="15152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98482" y="3423904"/>
            <a:ext cx="8686800" cy="1371600"/>
          </a:xfrm>
          <a:prstGeom prst="rect">
            <a:avLst/>
          </a:prstGeom>
          <a:noFill/>
        </p:spPr>
        <p:txBody>
          <a:bodyPr wrap="square">
            <a:spAutoFit/>
          </a:bodyPr>
          <a:lstStyle/>
          <a:p>
            <a:pPr algn="l"/>
            <a:r>
              <a:rPr sz="1600" b="0" i="0">
                <a:solidFill>
                  <a:srgbClr val="5B5B6E"/>
                </a:solidFill>
                <a:latin typeface="Calibri"/>
              </a:rPr>
              <a:t>Longhorn has product, licence, expertise, and a real broker model that legally serves the client, not the institution. None of that is visible online. A buyer searching for an insurance broker in Lusaka today will not find Longhorn on Google, on LinkedIn, on Facebook, on Instagram, or on WhatsApp. They will find your competitors.</a:t>
            </a:r>
          </a:p>
        </p:txBody>
      </p:sp>
      <p:cxnSp>
        <p:nvCxnSpPr>
          <p:cNvPr id="9" name="Connector 8"/>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11" name="TextBox 10"/>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03 / 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Problem · 02</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YOUR DIGITAL FOOTPRINT, MAY 2026</a:t>
            </a:r>
          </a:p>
        </p:txBody>
      </p:sp>
      <p:sp>
        <p:nvSpPr>
          <p:cNvPr id="6" name="TextBox 5"/>
          <p:cNvSpPr txBox="1"/>
          <p:nvPr/>
        </p:nvSpPr>
        <p:spPr>
          <a:xfrm>
            <a:off x="698482" y="982456"/>
            <a:ext cx="10794730" cy="731520"/>
          </a:xfrm>
          <a:prstGeom prst="rect">
            <a:avLst/>
          </a:prstGeom>
          <a:noFill/>
        </p:spPr>
        <p:txBody>
          <a:bodyPr wrap="square">
            <a:spAutoFit/>
          </a:bodyPr>
          <a:lstStyle/>
          <a:p>
            <a:pPr algn="l"/>
            <a:r>
              <a:rPr sz="4200" b="0" i="0">
                <a:solidFill>
                  <a:srgbClr val="15152A"/>
                </a:solidFill>
                <a:latin typeface="Georgia"/>
              </a:rPr>
              <a:t>Five platforms.  One number on each.</a:t>
            </a:r>
          </a:p>
        </p:txBody>
      </p:sp>
      <p:sp>
        <p:nvSpPr>
          <p:cNvPr id="7" name="Rectangle 6"/>
          <p:cNvSpPr/>
          <p:nvPr/>
        </p:nvSpPr>
        <p:spPr>
          <a:xfrm>
            <a:off x="698482" y="1869424"/>
            <a:ext cx="2085794" cy="310896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074" y="2034016"/>
            <a:ext cx="1811474" cy="256032"/>
          </a:xfrm>
          <a:prstGeom prst="rect">
            <a:avLst/>
          </a:prstGeom>
          <a:noFill/>
        </p:spPr>
        <p:txBody>
          <a:bodyPr wrap="square">
            <a:spAutoFit/>
          </a:bodyPr>
          <a:lstStyle/>
          <a:p>
            <a:pPr algn="l"/>
            <a:r>
              <a:rPr sz="800" b="1" i="0">
                <a:solidFill>
                  <a:srgbClr val="15152A"/>
                </a:solidFill>
                <a:latin typeface="Courier New"/>
              </a:rPr>
              <a:t>LINKEDIN</a:t>
            </a:r>
          </a:p>
        </p:txBody>
      </p:sp>
      <p:sp>
        <p:nvSpPr>
          <p:cNvPr id="9" name="TextBox 8"/>
          <p:cNvSpPr txBox="1"/>
          <p:nvPr/>
        </p:nvSpPr>
        <p:spPr>
          <a:xfrm>
            <a:off x="863074" y="2280904"/>
            <a:ext cx="1811474" cy="1005840"/>
          </a:xfrm>
          <a:prstGeom prst="rect">
            <a:avLst/>
          </a:prstGeom>
          <a:noFill/>
        </p:spPr>
        <p:txBody>
          <a:bodyPr wrap="square">
            <a:spAutoFit/>
          </a:bodyPr>
          <a:lstStyle/>
          <a:p>
            <a:pPr algn="l"/>
            <a:r>
              <a:rPr sz="6800" b="0" i="0">
                <a:solidFill>
                  <a:srgbClr val="C8121E"/>
                </a:solidFill>
                <a:latin typeface="Georgia"/>
              </a:rPr>
              <a:t>0</a:t>
            </a:r>
          </a:p>
        </p:txBody>
      </p:sp>
      <p:sp>
        <p:nvSpPr>
          <p:cNvPr id="10" name="TextBox 9"/>
          <p:cNvSpPr txBox="1"/>
          <p:nvPr/>
        </p:nvSpPr>
        <p:spPr>
          <a:xfrm>
            <a:off x="863074" y="3286744"/>
            <a:ext cx="1811474" cy="1280160"/>
          </a:xfrm>
          <a:prstGeom prst="rect">
            <a:avLst/>
          </a:prstGeom>
          <a:noFill/>
        </p:spPr>
        <p:txBody>
          <a:bodyPr wrap="square">
            <a:spAutoFit/>
          </a:bodyPr>
          <a:lstStyle/>
          <a:p>
            <a:pPr algn="l"/>
            <a:r>
              <a:rPr sz="950" b="0" i="0">
                <a:solidFill>
                  <a:srgbClr val="5B5B6E"/>
                </a:solidFill>
                <a:latin typeface="Calibri"/>
              </a:rPr>
              <a:t>Company page followers · Zero leadership posts · Zero Lead Gen forms</a:t>
            </a:r>
          </a:p>
        </p:txBody>
      </p:sp>
      <p:sp>
        <p:nvSpPr>
          <p:cNvPr id="11" name="Rectangle 10"/>
          <p:cNvSpPr/>
          <p:nvPr/>
        </p:nvSpPr>
        <p:spPr>
          <a:xfrm>
            <a:off x="2875716" y="1869424"/>
            <a:ext cx="2085794" cy="310896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40308" y="2034016"/>
            <a:ext cx="1811474" cy="256032"/>
          </a:xfrm>
          <a:prstGeom prst="rect">
            <a:avLst/>
          </a:prstGeom>
          <a:noFill/>
        </p:spPr>
        <p:txBody>
          <a:bodyPr wrap="square">
            <a:spAutoFit/>
          </a:bodyPr>
          <a:lstStyle/>
          <a:p>
            <a:pPr algn="l"/>
            <a:r>
              <a:rPr sz="800" b="1" i="0">
                <a:solidFill>
                  <a:srgbClr val="15152A"/>
                </a:solidFill>
                <a:latin typeface="Courier New"/>
              </a:rPr>
              <a:t>FACEBOOK</a:t>
            </a:r>
          </a:p>
        </p:txBody>
      </p:sp>
      <p:sp>
        <p:nvSpPr>
          <p:cNvPr id="13" name="TextBox 12"/>
          <p:cNvSpPr txBox="1"/>
          <p:nvPr/>
        </p:nvSpPr>
        <p:spPr>
          <a:xfrm>
            <a:off x="3040308" y="2280904"/>
            <a:ext cx="1811474" cy="1005840"/>
          </a:xfrm>
          <a:prstGeom prst="rect">
            <a:avLst/>
          </a:prstGeom>
          <a:noFill/>
        </p:spPr>
        <p:txBody>
          <a:bodyPr wrap="square">
            <a:spAutoFit/>
          </a:bodyPr>
          <a:lstStyle/>
          <a:p>
            <a:pPr algn="l"/>
            <a:r>
              <a:rPr sz="6800" b="0" i="0">
                <a:solidFill>
                  <a:srgbClr val="C8121E"/>
                </a:solidFill>
                <a:latin typeface="Georgia"/>
              </a:rPr>
              <a:t>0</a:t>
            </a:r>
          </a:p>
        </p:txBody>
      </p:sp>
      <p:sp>
        <p:nvSpPr>
          <p:cNvPr id="14" name="TextBox 13"/>
          <p:cNvSpPr txBox="1"/>
          <p:nvPr/>
        </p:nvSpPr>
        <p:spPr>
          <a:xfrm>
            <a:off x="3040308" y="3286744"/>
            <a:ext cx="1811474" cy="1280160"/>
          </a:xfrm>
          <a:prstGeom prst="rect">
            <a:avLst/>
          </a:prstGeom>
          <a:noFill/>
        </p:spPr>
        <p:txBody>
          <a:bodyPr wrap="square">
            <a:spAutoFit/>
          </a:bodyPr>
          <a:lstStyle/>
          <a:p>
            <a:pPr algn="l"/>
            <a:r>
              <a:rPr sz="950" b="0" i="0">
                <a:solidFill>
                  <a:srgbClr val="5B5B6E"/>
                </a:solidFill>
                <a:latin typeface="Calibri"/>
              </a:rPr>
              <a:t>Page followers · No live page · No retail or SME audience built</a:t>
            </a:r>
          </a:p>
        </p:txBody>
      </p:sp>
      <p:sp>
        <p:nvSpPr>
          <p:cNvPr id="15" name="Rectangle 14"/>
          <p:cNvSpPr/>
          <p:nvPr/>
        </p:nvSpPr>
        <p:spPr>
          <a:xfrm>
            <a:off x="5052950" y="1869424"/>
            <a:ext cx="2085794" cy="310896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7542" y="2034016"/>
            <a:ext cx="1811474" cy="256032"/>
          </a:xfrm>
          <a:prstGeom prst="rect">
            <a:avLst/>
          </a:prstGeom>
          <a:noFill/>
        </p:spPr>
        <p:txBody>
          <a:bodyPr wrap="square">
            <a:spAutoFit/>
          </a:bodyPr>
          <a:lstStyle/>
          <a:p>
            <a:pPr algn="l"/>
            <a:r>
              <a:rPr sz="800" b="1" i="0">
                <a:solidFill>
                  <a:srgbClr val="15152A"/>
                </a:solidFill>
                <a:latin typeface="Courier New"/>
              </a:rPr>
              <a:t>INSTAGRAM</a:t>
            </a:r>
          </a:p>
        </p:txBody>
      </p:sp>
      <p:sp>
        <p:nvSpPr>
          <p:cNvPr id="17" name="TextBox 16"/>
          <p:cNvSpPr txBox="1"/>
          <p:nvPr/>
        </p:nvSpPr>
        <p:spPr>
          <a:xfrm>
            <a:off x="5217542" y="2280904"/>
            <a:ext cx="1811474" cy="1005840"/>
          </a:xfrm>
          <a:prstGeom prst="rect">
            <a:avLst/>
          </a:prstGeom>
          <a:noFill/>
        </p:spPr>
        <p:txBody>
          <a:bodyPr wrap="square">
            <a:spAutoFit/>
          </a:bodyPr>
          <a:lstStyle/>
          <a:p>
            <a:pPr algn="l"/>
            <a:r>
              <a:rPr sz="6800" b="0" i="0">
                <a:solidFill>
                  <a:srgbClr val="C8121E"/>
                </a:solidFill>
                <a:latin typeface="Georgia"/>
              </a:rPr>
              <a:t>0</a:t>
            </a:r>
          </a:p>
        </p:txBody>
      </p:sp>
      <p:sp>
        <p:nvSpPr>
          <p:cNvPr id="18" name="TextBox 17"/>
          <p:cNvSpPr txBox="1"/>
          <p:nvPr/>
        </p:nvSpPr>
        <p:spPr>
          <a:xfrm>
            <a:off x="5217542" y="3286744"/>
            <a:ext cx="1811474" cy="1280160"/>
          </a:xfrm>
          <a:prstGeom prst="rect">
            <a:avLst/>
          </a:prstGeom>
          <a:noFill/>
        </p:spPr>
        <p:txBody>
          <a:bodyPr wrap="square">
            <a:spAutoFit/>
          </a:bodyPr>
          <a:lstStyle/>
          <a:p>
            <a:pPr algn="l"/>
            <a:r>
              <a:rPr sz="950" b="0" i="0">
                <a:solidFill>
                  <a:srgbClr val="5B5B6E"/>
                </a:solidFill>
                <a:latin typeface="Calibri"/>
              </a:rPr>
              <a:t>Followers · No Reels · No 22–38 professional audience reached</a:t>
            </a:r>
          </a:p>
        </p:txBody>
      </p:sp>
      <p:sp>
        <p:nvSpPr>
          <p:cNvPr id="19" name="Rectangle 18"/>
          <p:cNvSpPr/>
          <p:nvPr/>
        </p:nvSpPr>
        <p:spPr>
          <a:xfrm>
            <a:off x="7230184" y="1869424"/>
            <a:ext cx="2085794" cy="310896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94776" y="2034016"/>
            <a:ext cx="1811474" cy="256032"/>
          </a:xfrm>
          <a:prstGeom prst="rect">
            <a:avLst/>
          </a:prstGeom>
          <a:noFill/>
        </p:spPr>
        <p:txBody>
          <a:bodyPr wrap="square">
            <a:spAutoFit/>
          </a:bodyPr>
          <a:lstStyle/>
          <a:p>
            <a:pPr algn="l"/>
            <a:r>
              <a:rPr sz="800" b="1" i="0">
                <a:solidFill>
                  <a:srgbClr val="15152A"/>
                </a:solidFill>
                <a:latin typeface="Courier New"/>
              </a:rPr>
              <a:t>GOOGLE</a:t>
            </a:r>
          </a:p>
        </p:txBody>
      </p:sp>
      <p:sp>
        <p:nvSpPr>
          <p:cNvPr id="21" name="TextBox 20"/>
          <p:cNvSpPr txBox="1"/>
          <p:nvPr/>
        </p:nvSpPr>
        <p:spPr>
          <a:xfrm>
            <a:off x="7394776" y="2280904"/>
            <a:ext cx="1811474" cy="1005840"/>
          </a:xfrm>
          <a:prstGeom prst="rect">
            <a:avLst/>
          </a:prstGeom>
          <a:noFill/>
        </p:spPr>
        <p:txBody>
          <a:bodyPr wrap="square">
            <a:spAutoFit/>
          </a:bodyPr>
          <a:lstStyle/>
          <a:p>
            <a:pPr algn="l"/>
            <a:r>
              <a:rPr sz="6800" b="0" i="0">
                <a:solidFill>
                  <a:srgbClr val="C8121E"/>
                </a:solidFill>
                <a:latin typeface="Georgia"/>
              </a:rPr>
              <a:t>0</a:t>
            </a:r>
          </a:p>
        </p:txBody>
      </p:sp>
      <p:sp>
        <p:nvSpPr>
          <p:cNvPr id="22" name="TextBox 21"/>
          <p:cNvSpPr txBox="1"/>
          <p:nvPr/>
        </p:nvSpPr>
        <p:spPr>
          <a:xfrm>
            <a:off x="7394776" y="3286744"/>
            <a:ext cx="1811474" cy="1280160"/>
          </a:xfrm>
          <a:prstGeom prst="rect">
            <a:avLst/>
          </a:prstGeom>
          <a:noFill/>
        </p:spPr>
        <p:txBody>
          <a:bodyPr wrap="square">
            <a:spAutoFit/>
          </a:bodyPr>
          <a:lstStyle/>
          <a:p>
            <a:pPr algn="l"/>
            <a:r>
              <a:rPr sz="950" b="0" i="0">
                <a:solidFill>
                  <a:srgbClr val="5B5B6E"/>
                </a:solidFill>
                <a:latin typeface="Calibri"/>
              </a:rPr>
              <a:t>Ranking keywords · No landing pages · Invisible to anyone searching</a:t>
            </a:r>
          </a:p>
        </p:txBody>
      </p:sp>
      <p:sp>
        <p:nvSpPr>
          <p:cNvPr id="23" name="Rectangle 22"/>
          <p:cNvSpPr/>
          <p:nvPr/>
        </p:nvSpPr>
        <p:spPr>
          <a:xfrm>
            <a:off x="9407418" y="1869424"/>
            <a:ext cx="2085794" cy="310896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72010" y="2034016"/>
            <a:ext cx="1811474" cy="256032"/>
          </a:xfrm>
          <a:prstGeom prst="rect">
            <a:avLst/>
          </a:prstGeom>
          <a:noFill/>
        </p:spPr>
        <p:txBody>
          <a:bodyPr wrap="square">
            <a:spAutoFit/>
          </a:bodyPr>
          <a:lstStyle/>
          <a:p>
            <a:pPr algn="l"/>
            <a:r>
              <a:rPr sz="800" b="1" i="0">
                <a:solidFill>
                  <a:srgbClr val="15152A"/>
                </a:solidFill>
                <a:latin typeface="Courier New"/>
              </a:rPr>
              <a:t>WHATSAPP</a:t>
            </a:r>
          </a:p>
        </p:txBody>
      </p:sp>
      <p:sp>
        <p:nvSpPr>
          <p:cNvPr id="25" name="TextBox 24"/>
          <p:cNvSpPr txBox="1"/>
          <p:nvPr/>
        </p:nvSpPr>
        <p:spPr>
          <a:xfrm>
            <a:off x="9572010" y="2280904"/>
            <a:ext cx="1811474" cy="1005840"/>
          </a:xfrm>
          <a:prstGeom prst="rect">
            <a:avLst/>
          </a:prstGeom>
          <a:noFill/>
        </p:spPr>
        <p:txBody>
          <a:bodyPr wrap="square">
            <a:spAutoFit/>
          </a:bodyPr>
          <a:lstStyle/>
          <a:p>
            <a:pPr algn="l"/>
            <a:r>
              <a:rPr sz="6800" b="0" i="0">
                <a:solidFill>
                  <a:srgbClr val="C8121E"/>
                </a:solidFill>
                <a:latin typeface="Georgia"/>
              </a:rPr>
              <a:t>0</a:t>
            </a:r>
          </a:p>
        </p:txBody>
      </p:sp>
      <p:sp>
        <p:nvSpPr>
          <p:cNvPr id="26" name="TextBox 25"/>
          <p:cNvSpPr txBox="1"/>
          <p:nvPr/>
        </p:nvSpPr>
        <p:spPr>
          <a:xfrm>
            <a:off x="9572010" y="3286744"/>
            <a:ext cx="1811474" cy="1280160"/>
          </a:xfrm>
          <a:prstGeom prst="rect">
            <a:avLst/>
          </a:prstGeom>
          <a:noFill/>
        </p:spPr>
        <p:txBody>
          <a:bodyPr wrap="square">
            <a:spAutoFit/>
          </a:bodyPr>
          <a:lstStyle/>
          <a:p>
            <a:pPr algn="l"/>
            <a:r>
              <a:rPr sz="950" b="0" i="0">
                <a:solidFill>
                  <a:srgbClr val="5B5B6E"/>
                </a:solidFill>
                <a:latin typeface="Calibri"/>
              </a:rPr>
              <a:t>Broadcast subscribers · No automated reply · No nurture sequence</a:t>
            </a:r>
          </a:p>
        </p:txBody>
      </p:sp>
      <p:sp>
        <p:nvSpPr>
          <p:cNvPr id="27" name="TextBox 26"/>
          <p:cNvSpPr txBox="1"/>
          <p:nvPr/>
        </p:nvSpPr>
        <p:spPr>
          <a:xfrm>
            <a:off x="698482" y="4983480"/>
            <a:ext cx="10794730" cy="502920"/>
          </a:xfrm>
          <a:prstGeom prst="rect">
            <a:avLst/>
          </a:prstGeom>
          <a:noFill/>
        </p:spPr>
        <p:txBody>
          <a:bodyPr wrap="square">
            <a:spAutoFit/>
          </a:bodyPr>
          <a:lstStyle/>
          <a:p>
            <a:pPr algn="l"/>
            <a:r>
              <a:rPr sz="1300" b="0" i="0">
                <a:solidFill>
                  <a:srgbClr val="5B5B6E"/>
                </a:solidFill>
                <a:latin typeface="Calibri"/>
              </a:rPr>
              <a:t>This is not a small problem to fix later. Every channel above is where a decision-maker in Lusaka decides who to call, who to trust, and who to pay. Longhorn is absent from all of them.</a:t>
            </a:r>
          </a:p>
        </p:txBody>
      </p:sp>
      <p:cxnSp>
        <p:nvCxnSpPr>
          <p:cNvPr id="28" name="Connector 27"/>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30" name="TextBox 29"/>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04 / 24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Problem · 03</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WHERE ZAMBIA ACTUALLY DECIDES</a:t>
            </a:r>
          </a:p>
        </p:txBody>
      </p:sp>
      <p:sp>
        <p:nvSpPr>
          <p:cNvPr id="6" name="TextBox 5"/>
          <p:cNvSpPr txBox="1"/>
          <p:nvPr/>
        </p:nvSpPr>
        <p:spPr>
          <a:xfrm>
            <a:off x="698482" y="982456"/>
            <a:ext cx="3840480" cy="1188720"/>
          </a:xfrm>
          <a:prstGeom prst="rect">
            <a:avLst/>
          </a:prstGeom>
          <a:noFill/>
        </p:spPr>
        <p:txBody>
          <a:bodyPr wrap="square">
            <a:spAutoFit/>
          </a:bodyPr>
          <a:lstStyle/>
          <a:p>
            <a:pPr algn="l"/>
            <a:r>
              <a:rPr sz="3600" b="0" i="1">
                <a:solidFill>
                  <a:srgbClr val="15152A"/>
                </a:solidFill>
                <a:latin typeface="Georgia"/>
              </a:rPr>
              <a:t>The decision happens
before they call you.</a:t>
            </a:r>
          </a:p>
        </p:txBody>
      </p:sp>
      <p:sp>
        <p:nvSpPr>
          <p:cNvPr id="7" name="TextBox 6"/>
          <p:cNvSpPr txBox="1"/>
          <p:nvPr/>
        </p:nvSpPr>
        <p:spPr>
          <a:xfrm>
            <a:off x="698482" y="2372344"/>
            <a:ext cx="3840480" cy="2011680"/>
          </a:xfrm>
          <a:prstGeom prst="rect">
            <a:avLst/>
          </a:prstGeom>
          <a:noFill/>
        </p:spPr>
        <p:txBody>
          <a:bodyPr wrap="square">
            <a:spAutoFit/>
          </a:bodyPr>
          <a:lstStyle/>
          <a:p>
            <a:pPr algn="l"/>
            <a:r>
              <a:rPr sz="1300" b="0" i="0">
                <a:solidFill>
                  <a:srgbClr val="5B5B6E"/>
                </a:solidFill>
                <a:latin typeface="Calibri"/>
              </a:rPr>
              <a:t>98% of Zambians use WhatsApp daily. Facebook reaches 2.4M users. LinkedIn has 180k+ professionals. Google processes 300M+ searches monthly in Zambia. Every one of these platforms is a place where someone decides if Longhorn is credible before they ever pick up the phone.</a:t>
            </a:r>
          </a:p>
        </p:txBody>
      </p:sp>
      <p:sp>
        <p:nvSpPr>
          <p:cNvPr id="8" name="TextBox 7"/>
          <p:cNvSpPr txBox="1"/>
          <p:nvPr/>
        </p:nvSpPr>
        <p:spPr>
          <a:xfrm>
            <a:off x="4904722" y="909304"/>
            <a:ext cx="1554480" cy="292608"/>
          </a:xfrm>
          <a:prstGeom prst="rect">
            <a:avLst/>
          </a:prstGeom>
          <a:noFill/>
        </p:spPr>
        <p:txBody>
          <a:bodyPr wrap="square">
            <a:spAutoFit/>
          </a:bodyPr>
          <a:lstStyle/>
          <a:p>
            <a:pPr algn="l"/>
            <a:r>
              <a:rPr sz="1400" b="1" i="0">
                <a:solidFill>
                  <a:srgbClr val="15152A"/>
                </a:solidFill>
                <a:latin typeface="Calibri"/>
              </a:rPr>
              <a:t>WhatsApp</a:t>
            </a:r>
          </a:p>
        </p:txBody>
      </p:sp>
      <p:sp>
        <p:nvSpPr>
          <p:cNvPr id="9" name="Rectangle 8"/>
          <p:cNvSpPr/>
          <p:nvPr/>
        </p:nvSpPr>
        <p:spPr>
          <a:xfrm>
            <a:off x="6550642" y="927592"/>
            <a:ext cx="4211050" cy="274320"/>
          </a:xfrm>
          <a:prstGeom prst="rect">
            <a:avLst/>
          </a:prstGeom>
          <a:solidFill>
            <a:srgbClr val="E0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50642" y="927592"/>
            <a:ext cx="4126829" cy="274320"/>
          </a:xfrm>
          <a:prstGeom prst="rect">
            <a:avLst/>
          </a:prstGeom>
          <a:solidFill>
            <a:srgbClr val="C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853132" y="909304"/>
            <a:ext cx="594360" cy="292608"/>
          </a:xfrm>
          <a:prstGeom prst="rect">
            <a:avLst/>
          </a:prstGeom>
          <a:noFill/>
        </p:spPr>
        <p:txBody>
          <a:bodyPr wrap="square">
            <a:spAutoFit/>
          </a:bodyPr>
          <a:lstStyle/>
          <a:p>
            <a:pPr algn="r"/>
            <a:r>
              <a:rPr sz="2200" b="0" i="0">
                <a:solidFill>
                  <a:srgbClr val="15152A"/>
                </a:solidFill>
                <a:latin typeface="Georgia"/>
              </a:rPr>
              <a:t>98%</a:t>
            </a:r>
          </a:p>
        </p:txBody>
      </p:sp>
      <p:sp>
        <p:nvSpPr>
          <p:cNvPr id="12" name="TextBox 11"/>
          <p:cNvSpPr txBox="1"/>
          <p:nvPr/>
        </p:nvSpPr>
        <p:spPr>
          <a:xfrm>
            <a:off x="4904722" y="1841992"/>
            <a:ext cx="1554480" cy="292608"/>
          </a:xfrm>
          <a:prstGeom prst="rect">
            <a:avLst/>
          </a:prstGeom>
          <a:noFill/>
        </p:spPr>
        <p:txBody>
          <a:bodyPr wrap="square">
            <a:spAutoFit/>
          </a:bodyPr>
          <a:lstStyle/>
          <a:p>
            <a:pPr algn="l"/>
            <a:r>
              <a:rPr sz="1400" b="1" i="0">
                <a:solidFill>
                  <a:srgbClr val="15152A"/>
                </a:solidFill>
                <a:latin typeface="Calibri"/>
              </a:rPr>
              <a:t>Facebook</a:t>
            </a:r>
          </a:p>
        </p:txBody>
      </p:sp>
      <p:sp>
        <p:nvSpPr>
          <p:cNvPr id="13" name="Rectangle 12"/>
          <p:cNvSpPr/>
          <p:nvPr/>
        </p:nvSpPr>
        <p:spPr>
          <a:xfrm>
            <a:off x="6550642" y="1860280"/>
            <a:ext cx="4211050" cy="274320"/>
          </a:xfrm>
          <a:prstGeom prst="rect">
            <a:avLst/>
          </a:prstGeom>
          <a:solidFill>
            <a:srgbClr val="E0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50642" y="1860280"/>
            <a:ext cx="2610851" cy="274320"/>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853132" y="1841992"/>
            <a:ext cx="594360" cy="292608"/>
          </a:xfrm>
          <a:prstGeom prst="rect">
            <a:avLst/>
          </a:prstGeom>
          <a:noFill/>
        </p:spPr>
        <p:txBody>
          <a:bodyPr wrap="square">
            <a:spAutoFit/>
          </a:bodyPr>
          <a:lstStyle/>
          <a:p>
            <a:pPr algn="r"/>
            <a:r>
              <a:rPr sz="2200" b="0" i="0">
                <a:solidFill>
                  <a:srgbClr val="15152A"/>
                </a:solidFill>
                <a:latin typeface="Georgia"/>
              </a:rPr>
              <a:t>62%</a:t>
            </a:r>
          </a:p>
        </p:txBody>
      </p:sp>
      <p:sp>
        <p:nvSpPr>
          <p:cNvPr id="16" name="TextBox 15"/>
          <p:cNvSpPr txBox="1"/>
          <p:nvPr/>
        </p:nvSpPr>
        <p:spPr>
          <a:xfrm>
            <a:off x="4904722" y="2774680"/>
            <a:ext cx="1554480" cy="292608"/>
          </a:xfrm>
          <a:prstGeom prst="rect">
            <a:avLst/>
          </a:prstGeom>
          <a:noFill/>
        </p:spPr>
        <p:txBody>
          <a:bodyPr wrap="square">
            <a:spAutoFit/>
          </a:bodyPr>
          <a:lstStyle/>
          <a:p>
            <a:pPr algn="l"/>
            <a:r>
              <a:rPr sz="1400" b="1" i="0">
                <a:solidFill>
                  <a:srgbClr val="15152A"/>
                </a:solidFill>
                <a:latin typeface="Calibri"/>
              </a:rPr>
              <a:t>Google Search</a:t>
            </a:r>
          </a:p>
        </p:txBody>
      </p:sp>
      <p:sp>
        <p:nvSpPr>
          <p:cNvPr id="17" name="Rectangle 16"/>
          <p:cNvSpPr/>
          <p:nvPr/>
        </p:nvSpPr>
        <p:spPr>
          <a:xfrm>
            <a:off x="6550642" y="2792968"/>
            <a:ext cx="4211050" cy="274320"/>
          </a:xfrm>
          <a:prstGeom prst="rect">
            <a:avLst/>
          </a:prstGeom>
          <a:solidFill>
            <a:srgbClr val="E0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50642" y="2792968"/>
            <a:ext cx="2316077" cy="274320"/>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853132" y="2774680"/>
            <a:ext cx="594360" cy="292608"/>
          </a:xfrm>
          <a:prstGeom prst="rect">
            <a:avLst/>
          </a:prstGeom>
          <a:noFill/>
        </p:spPr>
        <p:txBody>
          <a:bodyPr wrap="square">
            <a:spAutoFit/>
          </a:bodyPr>
          <a:lstStyle/>
          <a:p>
            <a:pPr algn="r"/>
            <a:r>
              <a:rPr sz="2200" b="0" i="0">
                <a:solidFill>
                  <a:srgbClr val="15152A"/>
                </a:solidFill>
                <a:latin typeface="Georgia"/>
              </a:rPr>
              <a:t>55%</a:t>
            </a:r>
          </a:p>
        </p:txBody>
      </p:sp>
      <p:sp>
        <p:nvSpPr>
          <p:cNvPr id="20" name="TextBox 19"/>
          <p:cNvSpPr txBox="1"/>
          <p:nvPr/>
        </p:nvSpPr>
        <p:spPr>
          <a:xfrm>
            <a:off x="4904722" y="3707368"/>
            <a:ext cx="1554480" cy="292608"/>
          </a:xfrm>
          <a:prstGeom prst="rect">
            <a:avLst/>
          </a:prstGeom>
          <a:noFill/>
        </p:spPr>
        <p:txBody>
          <a:bodyPr wrap="square">
            <a:spAutoFit/>
          </a:bodyPr>
          <a:lstStyle/>
          <a:p>
            <a:pPr algn="l"/>
            <a:r>
              <a:rPr sz="1400" b="1" i="0">
                <a:solidFill>
                  <a:srgbClr val="15152A"/>
                </a:solidFill>
                <a:latin typeface="Calibri"/>
              </a:rPr>
              <a:t>Instagram</a:t>
            </a:r>
          </a:p>
        </p:txBody>
      </p:sp>
      <p:sp>
        <p:nvSpPr>
          <p:cNvPr id="21" name="Rectangle 20"/>
          <p:cNvSpPr/>
          <p:nvPr/>
        </p:nvSpPr>
        <p:spPr>
          <a:xfrm>
            <a:off x="6550642" y="3725656"/>
            <a:ext cx="4211050" cy="274320"/>
          </a:xfrm>
          <a:prstGeom prst="rect">
            <a:avLst/>
          </a:prstGeom>
          <a:solidFill>
            <a:srgbClr val="E0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50642" y="3725656"/>
            <a:ext cx="1600199" cy="274320"/>
          </a:xfrm>
          <a:prstGeom prst="rect">
            <a:avLst/>
          </a:prstGeom>
          <a:solidFill>
            <a:srgbClr val="C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853132" y="3707368"/>
            <a:ext cx="594360" cy="292608"/>
          </a:xfrm>
          <a:prstGeom prst="rect">
            <a:avLst/>
          </a:prstGeom>
          <a:noFill/>
        </p:spPr>
        <p:txBody>
          <a:bodyPr wrap="square">
            <a:spAutoFit/>
          </a:bodyPr>
          <a:lstStyle/>
          <a:p>
            <a:pPr algn="r"/>
            <a:r>
              <a:rPr sz="2200" b="0" i="0">
                <a:solidFill>
                  <a:srgbClr val="15152A"/>
                </a:solidFill>
                <a:latin typeface="Georgia"/>
              </a:rPr>
              <a:t>38%</a:t>
            </a:r>
          </a:p>
        </p:txBody>
      </p:sp>
      <p:sp>
        <p:nvSpPr>
          <p:cNvPr id="24" name="TextBox 23"/>
          <p:cNvSpPr txBox="1"/>
          <p:nvPr/>
        </p:nvSpPr>
        <p:spPr>
          <a:xfrm>
            <a:off x="4904722" y="4640056"/>
            <a:ext cx="1554480" cy="292608"/>
          </a:xfrm>
          <a:prstGeom prst="rect">
            <a:avLst/>
          </a:prstGeom>
          <a:noFill/>
        </p:spPr>
        <p:txBody>
          <a:bodyPr wrap="square">
            <a:spAutoFit/>
          </a:bodyPr>
          <a:lstStyle/>
          <a:p>
            <a:pPr algn="l"/>
            <a:r>
              <a:rPr sz="1400" b="1" i="0">
                <a:solidFill>
                  <a:srgbClr val="15152A"/>
                </a:solidFill>
                <a:latin typeface="Calibri"/>
              </a:rPr>
              <a:t>LinkedIn</a:t>
            </a:r>
          </a:p>
        </p:txBody>
      </p:sp>
      <p:sp>
        <p:nvSpPr>
          <p:cNvPr id="25" name="Rectangle 24"/>
          <p:cNvSpPr/>
          <p:nvPr/>
        </p:nvSpPr>
        <p:spPr>
          <a:xfrm>
            <a:off x="6550642" y="4658344"/>
            <a:ext cx="4211050" cy="274320"/>
          </a:xfrm>
          <a:prstGeom prst="rect">
            <a:avLst/>
          </a:prstGeom>
          <a:solidFill>
            <a:srgbClr val="E0D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50642" y="4658344"/>
            <a:ext cx="757989" cy="274320"/>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53132" y="4640056"/>
            <a:ext cx="594360" cy="292608"/>
          </a:xfrm>
          <a:prstGeom prst="rect">
            <a:avLst/>
          </a:prstGeom>
          <a:noFill/>
        </p:spPr>
        <p:txBody>
          <a:bodyPr wrap="square">
            <a:spAutoFit/>
          </a:bodyPr>
          <a:lstStyle/>
          <a:p>
            <a:pPr algn="r"/>
            <a:r>
              <a:rPr sz="2200" b="0" i="0">
                <a:solidFill>
                  <a:srgbClr val="15152A"/>
                </a:solidFill>
                <a:latin typeface="Georgia"/>
              </a:rPr>
              <a:t>18%</a:t>
            </a:r>
          </a:p>
        </p:txBody>
      </p:sp>
      <p:cxnSp>
        <p:nvCxnSpPr>
          <p:cNvPr id="28" name="Connector 27"/>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30" name="TextBox 29"/>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05 / 24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ECE7DC"/>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Problem · 04</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THE TRUST PROBLEM</a:t>
            </a:r>
          </a:p>
        </p:txBody>
      </p:sp>
      <p:sp>
        <p:nvSpPr>
          <p:cNvPr id="6" name="TextBox 5"/>
          <p:cNvSpPr txBox="1"/>
          <p:nvPr/>
        </p:nvSpPr>
        <p:spPr>
          <a:xfrm>
            <a:off x="698482" y="1000744"/>
            <a:ext cx="10794730" cy="1463040"/>
          </a:xfrm>
          <a:prstGeom prst="rect">
            <a:avLst/>
          </a:prstGeom>
          <a:noFill/>
        </p:spPr>
        <p:txBody>
          <a:bodyPr wrap="square">
            <a:spAutoFit/>
          </a:bodyPr>
          <a:lstStyle/>
          <a:p>
            <a:pPr algn="l"/>
            <a:r>
              <a:rPr sz="5200" b="0" i="1">
                <a:solidFill>
                  <a:srgbClr val="15152A"/>
                </a:solidFill>
                <a:latin typeface="Georgia"/>
              </a:rPr>
              <a:t>Insurance is the most trusted category
no one wants to think about.</a:t>
            </a:r>
          </a:p>
        </p:txBody>
      </p:sp>
      <p:sp>
        <p:nvSpPr>
          <p:cNvPr id="7" name="TextBox 6"/>
          <p:cNvSpPr txBox="1"/>
          <p:nvPr/>
        </p:nvSpPr>
        <p:spPr>
          <a:xfrm>
            <a:off x="698482" y="2829544"/>
            <a:ext cx="5123045" cy="292608"/>
          </a:xfrm>
          <a:prstGeom prst="rect">
            <a:avLst/>
          </a:prstGeom>
          <a:noFill/>
        </p:spPr>
        <p:txBody>
          <a:bodyPr wrap="square">
            <a:spAutoFit/>
          </a:bodyPr>
          <a:lstStyle/>
          <a:p>
            <a:pPr algn="l"/>
            <a:r>
              <a:rPr sz="900" b="1" i="0">
                <a:solidFill>
                  <a:srgbClr val="C8121E"/>
                </a:solidFill>
                <a:latin typeface="Courier New"/>
              </a:rPr>
              <a:t>The category problem</a:t>
            </a:r>
          </a:p>
        </p:txBody>
      </p:sp>
      <p:sp>
        <p:nvSpPr>
          <p:cNvPr id="8" name="TextBox 7"/>
          <p:cNvSpPr txBox="1"/>
          <p:nvPr/>
        </p:nvSpPr>
        <p:spPr>
          <a:xfrm>
            <a:off x="698482" y="3177016"/>
            <a:ext cx="5123045" cy="1371600"/>
          </a:xfrm>
          <a:prstGeom prst="rect">
            <a:avLst/>
          </a:prstGeom>
          <a:noFill/>
        </p:spPr>
        <p:txBody>
          <a:bodyPr wrap="square">
            <a:spAutoFit/>
          </a:bodyPr>
          <a:lstStyle/>
          <a:p>
            <a:pPr algn="l"/>
            <a:r>
              <a:rPr sz="1400" b="0" i="0">
                <a:solidFill>
                  <a:srgbClr val="5B5B6E"/>
                </a:solidFill>
                <a:latin typeface="Calibri"/>
              </a:rPr>
              <a:t>People buy insurance when forced to, delay when not, and choose on price because they have no other signal. Without a visible brand, Longhorn competes on price by default — and will lose to anyone willing to cut margins.</a:t>
            </a:r>
          </a:p>
        </p:txBody>
      </p:sp>
      <p:sp>
        <p:nvSpPr>
          <p:cNvPr id="9" name="TextBox 8"/>
          <p:cNvSpPr txBox="1"/>
          <p:nvPr/>
        </p:nvSpPr>
        <p:spPr>
          <a:xfrm>
            <a:off x="6278727" y="2829544"/>
            <a:ext cx="5123045" cy="292608"/>
          </a:xfrm>
          <a:prstGeom prst="rect">
            <a:avLst/>
          </a:prstGeom>
          <a:noFill/>
        </p:spPr>
        <p:txBody>
          <a:bodyPr wrap="square">
            <a:spAutoFit/>
          </a:bodyPr>
          <a:lstStyle/>
          <a:p>
            <a:pPr algn="l"/>
            <a:r>
              <a:rPr sz="900" b="1" i="0">
                <a:solidFill>
                  <a:srgbClr val="0A006E"/>
                </a:solidFill>
                <a:latin typeface="Courier New"/>
              </a:rPr>
              <a:t>The opportunity</a:t>
            </a:r>
          </a:p>
        </p:txBody>
      </p:sp>
      <p:sp>
        <p:nvSpPr>
          <p:cNvPr id="10" name="TextBox 9"/>
          <p:cNvSpPr txBox="1"/>
          <p:nvPr/>
        </p:nvSpPr>
        <p:spPr>
          <a:xfrm>
            <a:off x="6278727" y="3177016"/>
            <a:ext cx="5123045" cy="1371600"/>
          </a:xfrm>
          <a:prstGeom prst="rect">
            <a:avLst/>
          </a:prstGeom>
          <a:noFill/>
        </p:spPr>
        <p:txBody>
          <a:bodyPr wrap="square">
            <a:spAutoFit/>
          </a:bodyPr>
          <a:lstStyle/>
          <a:p>
            <a:pPr algn="l"/>
            <a:r>
              <a:rPr sz="1400" b="0" i="0">
                <a:solidFill>
                  <a:srgbClr val="5B5B6E"/>
                </a:solidFill>
                <a:latin typeface="Calibri"/>
              </a:rPr>
              <a:t>A broker who is visible, human, and consistently useful before the sale is the only broker who gets to charge on value rather than price. That broker does not exist in Zambia yet. BridgeCom's job is to make Longhorn that broker.</a:t>
            </a:r>
          </a:p>
        </p:txBody>
      </p:sp>
      <p:cxnSp>
        <p:nvCxnSpPr>
          <p:cNvPr id="11" name="Connector 10"/>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13" name="TextBox 12"/>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06 / 24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06E"/>
        </a:solidFill>
        <a:effectLst/>
      </p:bgPr>
    </p:bg>
    <p:spTree>
      <p:nvGrpSpPr>
        <p:cNvPr id="1" name=""/>
        <p:cNvGrpSpPr/>
        <p:nvPr/>
      </p:nvGrpSpPr>
      <p:grpSpPr/>
      <p:sp>
        <p:nvSpPr>
          <p:cNvPr id="2" name="TextBox 1"/>
          <p:cNvSpPr txBox="1"/>
          <p:nvPr/>
        </p:nvSpPr>
        <p:spPr>
          <a:xfrm>
            <a:off x="424162" y="1097280"/>
            <a:ext cx="3657600" cy="3200400"/>
          </a:xfrm>
          <a:prstGeom prst="rect">
            <a:avLst/>
          </a:prstGeom>
          <a:noFill/>
        </p:spPr>
        <p:txBody>
          <a:bodyPr wrap="square">
            <a:spAutoFit/>
          </a:bodyPr>
          <a:lstStyle/>
          <a:p>
            <a:pPr algn="l"/>
            <a:r>
              <a:rPr sz="20000" b="0" i="1">
                <a:solidFill>
                  <a:srgbClr val="28209A"/>
                </a:solidFill>
                <a:latin typeface="Georgia"/>
              </a:rPr>
              <a:t>02</a:t>
            </a:r>
          </a:p>
        </p:txBody>
      </p:sp>
      <p:sp>
        <p:nvSpPr>
          <p:cNvPr id="3" name="TextBox 2"/>
          <p:cNvSpPr txBox="1"/>
          <p:nvPr/>
        </p:nvSpPr>
        <p:spPr>
          <a:xfrm>
            <a:off x="3624562" y="2286000"/>
            <a:ext cx="10794730" cy="256032"/>
          </a:xfrm>
          <a:prstGeom prst="rect">
            <a:avLst/>
          </a:prstGeom>
          <a:noFill/>
        </p:spPr>
        <p:txBody>
          <a:bodyPr wrap="square">
            <a:spAutoFit/>
          </a:bodyPr>
          <a:lstStyle/>
          <a:p>
            <a:pPr algn="l"/>
            <a:r>
              <a:rPr sz="900" b="0" i="0">
                <a:solidFill>
                  <a:srgbClr val="A0A0C0"/>
                </a:solidFill>
                <a:latin typeface="Courier New"/>
              </a:rPr>
              <a:t>• PART 02</a:t>
            </a:r>
          </a:p>
        </p:txBody>
      </p:sp>
      <p:sp>
        <p:nvSpPr>
          <p:cNvPr id="4" name="TextBox 3"/>
          <p:cNvSpPr txBox="1"/>
          <p:nvPr/>
        </p:nvSpPr>
        <p:spPr>
          <a:xfrm>
            <a:off x="3624562" y="2606040"/>
            <a:ext cx="7315200" cy="1371600"/>
          </a:xfrm>
          <a:prstGeom prst="rect">
            <a:avLst/>
          </a:prstGeom>
          <a:noFill/>
        </p:spPr>
        <p:txBody>
          <a:bodyPr wrap="square">
            <a:spAutoFit/>
          </a:bodyPr>
          <a:lstStyle/>
          <a:p>
            <a:pPr algn="l"/>
            <a:r>
              <a:rPr sz="8000" b="0" i="1">
                <a:solidFill>
                  <a:srgbClr val="FFFFFF"/>
                </a:solidFill>
                <a:latin typeface="Georgia"/>
              </a:rPr>
              <a:t>The Solution</a:t>
            </a:r>
          </a:p>
        </p:txBody>
      </p:sp>
      <p:sp>
        <p:nvSpPr>
          <p:cNvPr id="5" name="TextBox 4"/>
          <p:cNvSpPr txBox="1"/>
          <p:nvPr/>
        </p:nvSpPr>
        <p:spPr>
          <a:xfrm>
            <a:off x="3624562" y="3657600"/>
            <a:ext cx="6858000" cy="822960"/>
          </a:xfrm>
          <a:prstGeom prst="rect">
            <a:avLst/>
          </a:prstGeom>
          <a:noFill/>
        </p:spPr>
        <p:txBody>
          <a:bodyPr wrap="square">
            <a:spAutoFit/>
          </a:bodyPr>
          <a:lstStyle/>
          <a:p>
            <a:pPr algn="l"/>
            <a:r>
              <a:rPr sz="2000" b="0" i="0">
                <a:solidFill>
                  <a:srgbClr val="C0C0E0"/>
                </a:solidFill>
                <a:latin typeface="Calibri"/>
              </a:rPr>
              <a:t>A visible brand built on one structural truth: the broker works for you, not the insurer.</a:t>
            </a:r>
          </a:p>
        </p:txBody>
      </p:sp>
      <p:sp>
        <p:nvSpPr>
          <p:cNvPr id="6" name="TextBox 5"/>
          <p:cNvSpPr txBox="1"/>
          <p:nvPr/>
        </p:nvSpPr>
        <p:spPr>
          <a:xfrm>
            <a:off x="698482" y="320040"/>
            <a:ext cx="3200400" cy="320040"/>
          </a:xfrm>
          <a:prstGeom prst="rect">
            <a:avLst/>
          </a:prstGeom>
          <a:noFill/>
        </p:spPr>
        <p:txBody>
          <a:bodyPr wrap="square">
            <a:spAutoFit/>
          </a:bodyPr>
          <a:lstStyle/>
          <a:p>
            <a:pPr algn="l"/>
            <a:r>
              <a:rPr sz="1000" b="1" i="0">
                <a:solidFill>
                  <a:srgbClr val="FFFFFF"/>
                </a:solidFill>
                <a:latin typeface="Calibri"/>
              </a:rPr>
              <a:t>BridgeCom Narratives</a:t>
            </a:r>
          </a:p>
        </p:txBody>
      </p:sp>
      <p:sp>
        <p:nvSpPr>
          <p:cNvPr id="7" name="TextBox 6"/>
          <p:cNvSpPr txBox="1"/>
          <p:nvPr/>
        </p:nvSpPr>
        <p:spPr>
          <a:xfrm>
            <a:off x="698482" y="594360"/>
            <a:ext cx="3200400" cy="201168"/>
          </a:xfrm>
          <a:prstGeom prst="rect">
            <a:avLst/>
          </a:prstGeom>
          <a:noFill/>
        </p:spPr>
        <p:txBody>
          <a:bodyPr wrap="square">
            <a:spAutoFit/>
          </a:bodyPr>
          <a:lstStyle/>
          <a:p>
            <a:pPr algn="l"/>
            <a:r>
              <a:rPr sz="750" b="0" i="0">
                <a:solidFill>
                  <a:srgbClr val="FFFFFF"/>
                </a:solidFill>
                <a:latin typeface="Courier New"/>
              </a:rPr>
              <a:t>FOR LONGHORN INSURANCE</a:t>
            </a:r>
          </a:p>
        </p:txBody>
      </p:sp>
      <p:sp>
        <p:nvSpPr>
          <p:cNvPr id="8" name="TextBox 7"/>
          <p:cNvSpPr txBox="1"/>
          <p:nvPr/>
        </p:nvSpPr>
        <p:spPr>
          <a:xfrm>
            <a:off x="9207212" y="320040"/>
            <a:ext cx="2286000" cy="320040"/>
          </a:xfrm>
          <a:prstGeom prst="rect">
            <a:avLst/>
          </a:prstGeom>
          <a:noFill/>
        </p:spPr>
        <p:txBody>
          <a:bodyPr wrap="square">
            <a:spAutoFit/>
          </a:bodyPr>
          <a:lstStyle/>
          <a:p>
            <a:pPr algn="r"/>
            <a:r>
              <a:rPr sz="900" b="0" i="0">
                <a:solidFill>
                  <a:srgbClr val="FFFFFF"/>
                </a:solidFill>
                <a:latin typeface="Courier New"/>
              </a:rPr>
              <a:t>Part 02</a:t>
            </a:r>
          </a:p>
        </p:txBody>
      </p:sp>
      <p:cxnSp>
        <p:nvCxnSpPr>
          <p:cNvPr id="9" name="Connector 8"/>
          <p:cNvCxnSpPr/>
          <p:nvPr/>
        </p:nvCxnSpPr>
        <p:spPr>
          <a:xfrm>
            <a:off x="698482" y="6213362"/>
            <a:ext cx="10794730" cy="0"/>
          </a:xfrm>
          <a:prstGeom prst="line">
            <a:avLst/>
          </a:prstGeom>
          <a:ln w="6350">
            <a:solidFill>
              <a:srgbClr val="80809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8482" y="6085346"/>
            <a:ext cx="3657600" cy="228600"/>
          </a:xfrm>
          <a:prstGeom prst="rect">
            <a:avLst/>
          </a:prstGeom>
          <a:noFill/>
        </p:spPr>
        <p:txBody>
          <a:bodyPr wrap="square">
            <a:spAutoFit/>
          </a:bodyPr>
          <a:lstStyle/>
          <a:p>
            <a:pPr algn="l"/>
            <a:r>
              <a:rPr sz="800" b="0" i="0">
                <a:solidFill>
                  <a:srgbClr val="9090A8"/>
                </a:solidFill>
                <a:latin typeface="Courier New"/>
              </a:rPr>
              <a:t>BridgeCom Narratives · 2026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Solution · 01</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THE STRATEGIC REFRAME</a:t>
            </a:r>
          </a:p>
        </p:txBody>
      </p:sp>
      <p:sp>
        <p:nvSpPr>
          <p:cNvPr id="6" name="TextBox 5"/>
          <p:cNvSpPr txBox="1"/>
          <p:nvPr/>
        </p:nvSpPr>
        <p:spPr>
          <a:xfrm>
            <a:off x="698482" y="982456"/>
            <a:ext cx="10794730" cy="914400"/>
          </a:xfrm>
          <a:prstGeom prst="rect">
            <a:avLst/>
          </a:prstGeom>
          <a:noFill/>
        </p:spPr>
        <p:txBody>
          <a:bodyPr wrap="square">
            <a:spAutoFit/>
          </a:bodyPr>
          <a:lstStyle/>
          <a:p>
            <a:pPr algn="l"/>
            <a:r>
              <a:rPr sz="4000" b="0" i="1">
                <a:solidFill>
                  <a:srgbClr val="15152A"/>
                </a:solidFill>
                <a:latin typeface="Georgia"/>
              </a:rPr>
              <a:t>Stop selling insurance.
Start selling certainty.</a:t>
            </a:r>
          </a:p>
        </p:txBody>
      </p:sp>
      <p:sp>
        <p:nvSpPr>
          <p:cNvPr id="7" name="Rectangle 6"/>
          <p:cNvSpPr/>
          <p:nvPr/>
        </p:nvSpPr>
        <p:spPr>
          <a:xfrm>
            <a:off x="698482" y="2143744"/>
            <a:ext cx="5123045" cy="2743200"/>
          </a:xfrm>
          <a:prstGeom prst="rect">
            <a:avLst/>
          </a:prstGeom>
          <a:solidFill>
            <a:srgbClr val="FFFFFF"/>
          </a:solidFill>
          <a:ln w="1270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72802" y="2326624"/>
            <a:ext cx="2743200" cy="228600"/>
          </a:xfrm>
          <a:prstGeom prst="rect">
            <a:avLst/>
          </a:prstGeom>
          <a:noFill/>
        </p:spPr>
        <p:txBody>
          <a:bodyPr wrap="square">
            <a:spAutoFit/>
          </a:bodyPr>
          <a:lstStyle/>
          <a:p>
            <a:pPr algn="l"/>
            <a:r>
              <a:rPr sz="900" b="0" i="0">
                <a:solidFill>
                  <a:srgbClr val="5B5B6E"/>
                </a:solidFill>
                <a:latin typeface="Courier New"/>
              </a:rPr>
              <a:t>FROM</a:t>
            </a:r>
          </a:p>
        </p:txBody>
      </p:sp>
      <p:sp>
        <p:nvSpPr>
          <p:cNvPr id="9" name="TextBox 8"/>
          <p:cNvSpPr txBox="1"/>
          <p:nvPr/>
        </p:nvSpPr>
        <p:spPr>
          <a:xfrm>
            <a:off x="972802" y="2646664"/>
            <a:ext cx="4848725" cy="365760"/>
          </a:xfrm>
          <a:prstGeom prst="rect">
            <a:avLst/>
          </a:prstGeom>
          <a:noFill/>
        </p:spPr>
        <p:txBody>
          <a:bodyPr wrap="square">
            <a:spAutoFit/>
          </a:bodyPr>
          <a:lstStyle/>
          <a:p>
            <a:pPr algn="l"/>
            <a:r>
              <a:rPr sz="2600" b="0" i="1">
                <a:solidFill>
                  <a:srgbClr val="5B5B6E"/>
                </a:solidFill>
                <a:latin typeface="Georgia"/>
              </a:rPr>
              <a:t>– Insurance products</a:t>
            </a:r>
          </a:p>
        </p:txBody>
      </p:sp>
      <p:sp>
        <p:nvSpPr>
          <p:cNvPr id="10" name="TextBox 9"/>
          <p:cNvSpPr txBox="1"/>
          <p:nvPr/>
        </p:nvSpPr>
        <p:spPr>
          <a:xfrm>
            <a:off x="972802" y="3122152"/>
            <a:ext cx="4848725" cy="365760"/>
          </a:xfrm>
          <a:prstGeom prst="rect">
            <a:avLst/>
          </a:prstGeom>
          <a:noFill/>
        </p:spPr>
        <p:txBody>
          <a:bodyPr wrap="square">
            <a:spAutoFit/>
          </a:bodyPr>
          <a:lstStyle/>
          <a:p>
            <a:pPr algn="l"/>
            <a:r>
              <a:rPr sz="2600" b="0" i="1">
                <a:solidFill>
                  <a:srgbClr val="5B5B6E"/>
                </a:solidFill>
                <a:latin typeface="Georgia"/>
              </a:rPr>
              <a:t>– Policy features</a:t>
            </a:r>
          </a:p>
        </p:txBody>
      </p:sp>
      <p:sp>
        <p:nvSpPr>
          <p:cNvPr id="11" name="TextBox 10"/>
          <p:cNvSpPr txBox="1"/>
          <p:nvPr/>
        </p:nvSpPr>
        <p:spPr>
          <a:xfrm>
            <a:off x="972802" y="3597640"/>
            <a:ext cx="4848725" cy="365760"/>
          </a:xfrm>
          <a:prstGeom prst="rect">
            <a:avLst/>
          </a:prstGeom>
          <a:noFill/>
        </p:spPr>
        <p:txBody>
          <a:bodyPr wrap="square">
            <a:spAutoFit/>
          </a:bodyPr>
          <a:lstStyle/>
          <a:p>
            <a:pPr algn="l"/>
            <a:r>
              <a:rPr sz="2600" b="0" i="1">
                <a:solidFill>
                  <a:srgbClr val="5B5B6E"/>
                </a:solidFill>
                <a:latin typeface="Georgia"/>
              </a:rPr>
              <a:t>– Price comparisons</a:t>
            </a:r>
          </a:p>
        </p:txBody>
      </p:sp>
      <p:sp>
        <p:nvSpPr>
          <p:cNvPr id="12" name="TextBox 11"/>
          <p:cNvSpPr txBox="1"/>
          <p:nvPr/>
        </p:nvSpPr>
        <p:spPr>
          <a:xfrm>
            <a:off x="972802" y="4073128"/>
            <a:ext cx="4848725" cy="365760"/>
          </a:xfrm>
          <a:prstGeom prst="rect">
            <a:avLst/>
          </a:prstGeom>
          <a:noFill/>
        </p:spPr>
        <p:txBody>
          <a:bodyPr wrap="square">
            <a:spAutoFit/>
          </a:bodyPr>
          <a:lstStyle/>
          <a:p>
            <a:pPr algn="l"/>
            <a:r>
              <a:rPr sz="2600" b="0" i="1">
                <a:solidFill>
                  <a:srgbClr val="5B5B6E"/>
                </a:solidFill>
                <a:latin typeface="Georgia"/>
              </a:rPr>
              <a:t>– Claims ratios</a:t>
            </a:r>
          </a:p>
        </p:txBody>
      </p:sp>
      <p:sp>
        <p:nvSpPr>
          <p:cNvPr id="13" name="Rectangle 12"/>
          <p:cNvSpPr/>
          <p:nvPr/>
        </p:nvSpPr>
        <p:spPr>
          <a:xfrm>
            <a:off x="6187287" y="2143744"/>
            <a:ext cx="5305925" cy="2743200"/>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61607" y="2326624"/>
            <a:ext cx="2743200" cy="228600"/>
          </a:xfrm>
          <a:prstGeom prst="rect">
            <a:avLst/>
          </a:prstGeom>
          <a:noFill/>
        </p:spPr>
        <p:txBody>
          <a:bodyPr wrap="square">
            <a:spAutoFit/>
          </a:bodyPr>
          <a:lstStyle/>
          <a:p>
            <a:pPr algn="l"/>
            <a:r>
              <a:rPr sz="900" b="0" i="0">
                <a:solidFill>
                  <a:srgbClr val="A0A0D0"/>
                </a:solidFill>
                <a:latin typeface="Courier New"/>
              </a:rPr>
              <a:t>TO</a:t>
            </a:r>
          </a:p>
        </p:txBody>
      </p:sp>
      <p:sp>
        <p:nvSpPr>
          <p:cNvPr id="15" name="TextBox 14"/>
          <p:cNvSpPr txBox="1"/>
          <p:nvPr/>
        </p:nvSpPr>
        <p:spPr>
          <a:xfrm>
            <a:off x="6461607" y="2646664"/>
            <a:ext cx="4848725" cy="365760"/>
          </a:xfrm>
          <a:prstGeom prst="rect">
            <a:avLst/>
          </a:prstGeom>
          <a:noFill/>
        </p:spPr>
        <p:txBody>
          <a:bodyPr wrap="square">
            <a:spAutoFit/>
          </a:bodyPr>
          <a:lstStyle/>
          <a:p>
            <a:pPr algn="l"/>
            <a:r>
              <a:rPr sz="2600" b="0" i="1">
                <a:solidFill>
                  <a:srgbClr val="FFFFFF"/>
                </a:solidFill>
                <a:latin typeface="Georgia"/>
              </a:rPr>
              <a:t>Peace of mind, guaranteed</a:t>
            </a:r>
          </a:p>
        </p:txBody>
      </p:sp>
      <p:sp>
        <p:nvSpPr>
          <p:cNvPr id="16" name="TextBox 15"/>
          <p:cNvSpPr txBox="1"/>
          <p:nvPr/>
        </p:nvSpPr>
        <p:spPr>
          <a:xfrm>
            <a:off x="6461607" y="3122152"/>
            <a:ext cx="4848725" cy="365760"/>
          </a:xfrm>
          <a:prstGeom prst="rect">
            <a:avLst/>
          </a:prstGeom>
          <a:noFill/>
        </p:spPr>
        <p:txBody>
          <a:bodyPr wrap="square">
            <a:spAutoFit/>
          </a:bodyPr>
          <a:lstStyle/>
          <a:p>
            <a:pPr algn="l"/>
            <a:r>
              <a:rPr sz="2600" b="0" i="1">
                <a:solidFill>
                  <a:srgbClr val="FFFFFF"/>
                </a:solidFill>
                <a:latin typeface="Georgia"/>
              </a:rPr>
              <a:t>What happens when it matters</a:t>
            </a:r>
          </a:p>
        </p:txBody>
      </p:sp>
      <p:sp>
        <p:nvSpPr>
          <p:cNvPr id="17" name="TextBox 16"/>
          <p:cNvSpPr txBox="1"/>
          <p:nvPr/>
        </p:nvSpPr>
        <p:spPr>
          <a:xfrm>
            <a:off x="6461607" y="3597640"/>
            <a:ext cx="4848725" cy="365760"/>
          </a:xfrm>
          <a:prstGeom prst="rect">
            <a:avLst/>
          </a:prstGeom>
          <a:noFill/>
        </p:spPr>
        <p:txBody>
          <a:bodyPr wrap="square">
            <a:spAutoFit/>
          </a:bodyPr>
          <a:lstStyle/>
          <a:p>
            <a:pPr algn="l"/>
            <a:r>
              <a:rPr sz="2600" b="0" i="1">
                <a:solidFill>
                  <a:srgbClr val="FFFFFF"/>
                </a:solidFill>
                <a:latin typeface="Georgia"/>
              </a:rPr>
              <a:t>The broker who works for you</a:t>
            </a:r>
          </a:p>
        </p:txBody>
      </p:sp>
      <p:sp>
        <p:nvSpPr>
          <p:cNvPr id="18" name="TextBox 17"/>
          <p:cNvSpPr txBox="1"/>
          <p:nvPr/>
        </p:nvSpPr>
        <p:spPr>
          <a:xfrm>
            <a:off x="6461607" y="4073128"/>
            <a:ext cx="4848725" cy="365760"/>
          </a:xfrm>
          <a:prstGeom prst="rect">
            <a:avLst/>
          </a:prstGeom>
          <a:noFill/>
        </p:spPr>
        <p:txBody>
          <a:bodyPr wrap="square">
            <a:spAutoFit/>
          </a:bodyPr>
          <a:lstStyle/>
          <a:p>
            <a:pPr algn="l"/>
            <a:r>
              <a:rPr sz="2600" b="0" i="1">
                <a:solidFill>
                  <a:srgbClr val="FFFFFF"/>
                </a:solidFill>
                <a:latin typeface="Georgia"/>
              </a:rPr>
              <a:t>Someone on your side. Always.</a:t>
            </a:r>
          </a:p>
        </p:txBody>
      </p:sp>
      <p:cxnSp>
        <p:nvCxnSpPr>
          <p:cNvPr id="19" name="Connector 18"/>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21" name="TextBox 20"/>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08 / 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06E"/>
        </a:solidFill>
        <a:effectLst/>
      </p:bgPr>
    </p:bg>
    <p:spTree>
      <p:nvGrpSpPr>
        <p:cNvPr id="1" name=""/>
        <p:cNvGrpSpPr/>
        <p:nvPr/>
      </p:nvGrpSpPr>
      <p:grpSpPr/>
      <p:sp>
        <p:nvSpPr>
          <p:cNvPr id="2" name="Rectangle 1"/>
          <p:cNvSpPr/>
          <p:nvPr/>
        </p:nvSpPr>
        <p:spPr>
          <a:xfrm>
            <a:off x="9326880" y="914400"/>
            <a:ext cx="2194560" cy="4572000"/>
          </a:xfrm>
          <a:prstGeom prst="rect">
            <a:avLst/>
          </a:prstGeom>
          <a:solidFill>
            <a:srgbClr val="180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509760" y="1188720"/>
            <a:ext cx="1828800" cy="3657600"/>
          </a:xfrm>
          <a:prstGeom prst="rect">
            <a:avLst/>
          </a:prstGeom>
          <a:solidFill>
            <a:srgbClr val="1004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0" y="2560320"/>
            <a:ext cx="1280160" cy="1280160"/>
          </a:xfrm>
          <a:prstGeom prst="rect">
            <a:avLst/>
          </a:prstGeom>
          <a:noFill/>
        </p:spPr>
        <p:txBody>
          <a:bodyPr wrap="square">
            <a:spAutoFit/>
          </a:bodyPr>
          <a:lstStyle/>
          <a:p>
            <a:pPr algn="ctr"/>
            <a:r>
              <a:rPr sz="7200" b="0" i="0">
                <a:solidFill>
                  <a:srgbClr val="FFFFFF"/>
                </a:solidFill>
                <a:latin typeface="Calibri"/>
              </a:rPr>
              <a:t>✓</a:t>
            </a:r>
          </a:p>
        </p:txBody>
      </p:sp>
      <p:sp>
        <p:nvSpPr>
          <p:cNvPr id="5" name="TextBox 4"/>
          <p:cNvSpPr txBox="1"/>
          <p:nvPr/>
        </p:nvSpPr>
        <p:spPr>
          <a:xfrm>
            <a:off x="9418320" y="4754880"/>
            <a:ext cx="2286000" cy="292608"/>
          </a:xfrm>
          <a:prstGeom prst="rect">
            <a:avLst/>
          </a:prstGeom>
          <a:noFill/>
        </p:spPr>
        <p:txBody>
          <a:bodyPr wrap="square">
            <a:spAutoFit/>
          </a:bodyPr>
          <a:lstStyle/>
          <a:p>
            <a:pPr algn="ctr"/>
            <a:r>
              <a:rPr sz="800" b="0" i="0">
                <a:solidFill>
                  <a:srgbClr val="8080C0"/>
                </a:solidFill>
                <a:latin typeface="Courier New"/>
              </a:rPr>
              <a:t>PIA LICENSED</a:t>
            </a:r>
          </a:p>
        </p:txBody>
      </p:sp>
      <p:sp>
        <p:nvSpPr>
          <p:cNvPr id="6" name="TextBox 5"/>
          <p:cNvSpPr txBox="1"/>
          <p:nvPr/>
        </p:nvSpPr>
        <p:spPr>
          <a:xfrm>
            <a:off x="698482" y="320040"/>
            <a:ext cx="3200400" cy="320040"/>
          </a:xfrm>
          <a:prstGeom prst="rect">
            <a:avLst/>
          </a:prstGeom>
          <a:noFill/>
        </p:spPr>
        <p:txBody>
          <a:bodyPr wrap="square">
            <a:spAutoFit/>
          </a:bodyPr>
          <a:lstStyle/>
          <a:p>
            <a:pPr algn="l"/>
            <a:r>
              <a:rPr sz="1000" b="1" i="0">
                <a:solidFill>
                  <a:srgbClr val="FFFFFF"/>
                </a:solidFill>
                <a:latin typeface="Calibri"/>
              </a:rPr>
              <a:t>BridgeCom Narratives</a:t>
            </a:r>
          </a:p>
        </p:txBody>
      </p:sp>
      <p:sp>
        <p:nvSpPr>
          <p:cNvPr id="7" name="TextBox 6"/>
          <p:cNvSpPr txBox="1"/>
          <p:nvPr/>
        </p:nvSpPr>
        <p:spPr>
          <a:xfrm>
            <a:off x="698482" y="594360"/>
            <a:ext cx="3200400" cy="201168"/>
          </a:xfrm>
          <a:prstGeom prst="rect">
            <a:avLst/>
          </a:prstGeom>
          <a:noFill/>
        </p:spPr>
        <p:txBody>
          <a:bodyPr wrap="square">
            <a:spAutoFit/>
          </a:bodyPr>
          <a:lstStyle/>
          <a:p>
            <a:pPr algn="l"/>
            <a:r>
              <a:rPr sz="750" b="0" i="0">
                <a:solidFill>
                  <a:srgbClr val="FFFFFF"/>
                </a:solidFill>
                <a:latin typeface="Courier New"/>
              </a:rPr>
              <a:t>FOR LONGHORN INSURANCE</a:t>
            </a:r>
          </a:p>
        </p:txBody>
      </p:sp>
      <p:sp>
        <p:nvSpPr>
          <p:cNvPr id="8" name="TextBox 7"/>
          <p:cNvSpPr txBox="1"/>
          <p:nvPr/>
        </p:nvSpPr>
        <p:spPr>
          <a:xfrm>
            <a:off x="9207212" y="320040"/>
            <a:ext cx="2286000" cy="320040"/>
          </a:xfrm>
          <a:prstGeom prst="rect">
            <a:avLst/>
          </a:prstGeom>
          <a:noFill/>
        </p:spPr>
        <p:txBody>
          <a:bodyPr wrap="square">
            <a:spAutoFit/>
          </a:bodyPr>
          <a:lstStyle/>
          <a:p>
            <a:pPr algn="r"/>
            <a:r>
              <a:rPr sz="900" b="0" i="0">
                <a:solidFill>
                  <a:srgbClr val="FFFFFF"/>
                </a:solidFill>
                <a:latin typeface="Courier New"/>
              </a:rPr>
              <a:t>The Solution · 02</a:t>
            </a:r>
          </a:p>
        </p:txBody>
      </p:sp>
      <p:sp>
        <p:nvSpPr>
          <p:cNvPr id="9" name="TextBox 8"/>
          <p:cNvSpPr txBox="1"/>
          <p:nvPr/>
        </p:nvSpPr>
        <p:spPr>
          <a:xfrm>
            <a:off x="698482" y="909304"/>
            <a:ext cx="10794730" cy="256032"/>
          </a:xfrm>
          <a:prstGeom prst="rect">
            <a:avLst/>
          </a:prstGeom>
          <a:noFill/>
        </p:spPr>
        <p:txBody>
          <a:bodyPr wrap="square">
            <a:spAutoFit/>
          </a:bodyPr>
          <a:lstStyle/>
          <a:p>
            <a:pPr algn="l"/>
            <a:r>
              <a:rPr sz="900" b="0" i="0">
                <a:solidFill>
                  <a:srgbClr val="A0A0C0"/>
                </a:solidFill>
                <a:latin typeface="Courier New"/>
              </a:rPr>
              <a:t>• THE BRAND PROMISE</a:t>
            </a:r>
          </a:p>
        </p:txBody>
      </p:sp>
      <p:sp>
        <p:nvSpPr>
          <p:cNvPr id="10" name="TextBox 9"/>
          <p:cNvSpPr txBox="1"/>
          <p:nvPr/>
        </p:nvSpPr>
        <p:spPr>
          <a:xfrm>
            <a:off x="698482" y="1293352"/>
            <a:ext cx="8686800" cy="1188720"/>
          </a:xfrm>
          <a:prstGeom prst="rect">
            <a:avLst/>
          </a:prstGeom>
          <a:noFill/>
        </p:spPr>
        <p:txBody>
          <a:bodyPr wrap="square">
            <a:spAutoFit/>
          </a:bodyPr>
          <a:lstStyle/>
          <a:p>
            <a:pPr algn="l"/>
            <a:r>
              <a:rPr sz="11000" b="0" i="0">
                <a:solidFill>
                  <a:srgbClr val="FFFFFF"/>
                </a:solidFill>
                <a:latin typeface="Georgia"/>
              </a:rPr>
              <a:t>On your side.</a:t>
            </a:r>
          </a:p>
        </p:txBody>
      </p:sp>
      <p:sp>
        <p:nvSpPr>
          <p:cNvPr id="11" name="TextBox 10"/>
          <p:cNvSpPr txBox="1"/>
          <p:nvPr/>
        </p:nvSpPr>
        <p:spPr>
          <a:xfrm>
            <a:off x="698482" y="2372344"/>
            <a:ext cx="8686800" cy="1188720"/>
          </a:xfrm>
          <a:prstGeom prst="rect">
            <a:avLst/>
          </a:prstGeom>
          <a:noFill/>
        </p:spPr>
        <p:txBody>
          <a:bodyPr wrap="square">
            <a:spAutoFit/>
          </a:bodyPr>
          <a:lstStyle/>
          <a:p>
            <a:pPr algn="l"/>
            <a:r>
              <a:rPr sz="11000" b="0" i="1">
                <a:solidFill>
                  <a:srgbClr val="E8E6F0"/>
                </a:solidFill>
                <a:latin typeface="Georgia"/>
              </a:rPr>
              <a:t>Always.</a:t>
            </a:r>
          </a:p>
        </p:txBody>
      </p:sp>
      <p:sp>
        <p:nvSpPr>
          <p:cNvPr id="12" name="TextBox 11"/>
          <p:cNvSpPr txBox="1"/>
          <p:nvPr/>
        </p:nvSpPr>
        <p:spPr>
          <a:xfrm>
            <a:off x="698482" y="3698224"/>
            <a:ext cx="8412480" cy="1097280"/>
          </a:xfrm>
          <a:prstGeom prst="rect">
            <a:avLst/>
          </a:prstGeom>
          <a:noFill/>
        </p:spPr>
        <p:txBody>
          <a:bodyPr wrap="square">
            <a:spAutoFit/>
          </a:bodyPr>
          <a:lstStyle/>
          <a:p>
            <a:pPr algn="l"/>
            <a:r>
              <a:rPr sz="1500" b="0" i="0">
                <a:solidFill>
                  <a:srgbClr val="C0C0E0"/>
                </a:solidFill>
                <a:latin typeface="Calibri"/>
              </a:rPr>
              <a:t>Every insurer works for their shareholders. Every bank works for its balance sheet. A broker is legally required to work for the person sitting across the table. That is not a marketing claim. It is a structural fact that no competitor can honestly match.</a:t>
            </a:r>
          </a:p>
        </p:txBody>
      </p:sp>
      <p:cxnSp>
        <p:nvCxnSpPr>
          <p:cNvPr id="13" name="Connector 12"/>
          <p:cNvCxnSpPr/>
          <p:nvPr/>
        </p:nvCxnSpPr>
        <p:spPr>
          <a:xfrm>
            <a:off x="698482" y="6213362"/>
            <a:ext cx="10794730" cy="0"/>
          </a:xfrm>
          <a:prstGeom prst="line">
            <a:avLst/>
          </a:prstGeom>
          <a:ln w="6350">
            <a:solidFill>
              <a:srgbClr val="80809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98482" y="6085346"/>
            <a:ext cx="3657600" cy="228600"/>
          </a:xfrm>
          <a:prstGeom prst="rect">
            <a:avLst/>
          </a:prstGeom>
          <a:noFill/>
        </p:spPr>
        <p:txBody>
          <a:bodyPr wrap="square">
            <a:spAutoFit/>
          </a:bodyPr>
          <a:lstStyle/>
          <a:p>
            <a:pPr algn="l"/>
            <a:r>
              <a:rPr sz="800" b="0" i="0">
                <a:solidFill>
                  <a:srgbClr val="9090A8"/>
                </a:solidFill>
                <a:latin typeface="Courier New"/>
              </a:rPr>
              <a:t>Longhorn × BridgeCom</a:t>
            </a:r>
          </a:p>
        </p:txBody>
      </p:sp>
      <p:sp>
        <p:nvSpPr>
          <p:cNvPr id="15" name="TextBox 14"/>
          <p:cNvSpPr txBox="1"/>
          <p:nvPr/>
        </p:nvSpPr>
        <p:spPr>
          <a:xfrm>
            <a:off x="9664412" y="6085346"/>
            <a:ext cx="1828800" cy="228600"/>
          </a:xfrm>
          <a:prstGeom prst="rect">
            <a:avLst/>
          </a:prstGeom>
          <a:noFill/>
        </p:spPr>
        <p:txBody>
          <a:bodyPr wrap="square">
            <a:spAutoFit/>
          </a:bodyPr>
          <a:lstStyle/>
          <a:p>
            <a:pPr algn="r"/>
            <a:r>
              <a:rPr sz="800" b="0" i="0">
                <a:solidFill>
                  <a:srgbClr val="9090A8"/>
                </a:solidFill>
                <a:latin typeface="Courier New"/>
              </a:rPr>
              <a:t>09 / 24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Solution · 03</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THREE AUDIENCES, ONE BRAND</a:t>
            </a:r>
          </a:p>
        </p:txBody>
      </p:sp>
      <p:sp>
        <p:nvSpPr>
          <p:cNvPr id="6" name="TextBox 5"/>
          <p:cNvSpPr txBox="1"/>
          <p:nvPr/>
        </p:nvSpPr>
        <p:spPr>
          <a:xfrm>
            <a:off x="698482" y="982456"/>
            <a:ext cx="10794730" cy="822960"/>
          </a:xfrm>
          <a:prstGeom prst="rect">
            <a:avLst/>
          </a:prstGeom>
          <a:noFill/>
        </p:spPr>
        <p:txBody>
          <a:bodyPr wrap="square">
            <a:spAutoFit/>
          </a:bodyPr>
          <a:lstStyle/>
          <a:p>
            <a:pPr algn="l"/>
            <a:r>
              <a:rPr sz="3400" b="0" i="1">
                <a:solidFill>
                  <a:srgbClr val="15152A"/>
                </a:solidFill>
                <a:latin typeface="Georgia"/>
              </a:rPr>
              <a:t>Different people. Different fears.
One voice that works for all of them.</a:t>
            </a:r>
          </a:p>
        </p:txBody>
      </p:sp>
      <p:sp>
        <p:nvSpPr>
          <p:cNvPr id="7" name="Rectangle 6"/>
          <p:cNvSpPr/>
          <p:nvPr/>
        </p:nvSpPr>
        <p:spPr>
          <a:xfrm>
            <a:off x="698482" y="2006584"/>
            <a:ext cx="3506803" cy="3749039"/>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8482" y="2006584"/>
            <a:ext cx="3506803" cy="64008"/>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9650" y="2189464"/>
            <a:ext cx="3141043" cy="457200"/>
          </a:xfrm>
          <a:prstGeom prst="rect">
            <a:avLst/>
          </a:prstGeom>
          <a:noFill/>
        </p:spPr>
        <p:txBody>
          <a:bodyPr wrap="square">
            <a:spAutoFit/>
          </a:bodyPr>
          <a:lstStyle/>
          <a:p>
            <a:pPr algn="l"/>
            <a:r>
              <a:rPr sz="2600" b="0" i="0">
                <a:solidFill>
                  <a:srgbClr val="15152A"/>
                </a:solidFill>
                <a:latin typeface="Georgia"/>
              </a:rPr>
              <a:t>Corporate &amp; SME</a:t>
            </a:r>
          </a:p>
        </p:txBody>
      </p:sp>
      <p:sp>
        <p:nvSpPr>
          <p:cNvPr id="10" name="TextBox 9"/>
          <p:cNvSpPr txBox="1"/>
          <p:nvPr/>
        </p:nvSpPr>
        <p:spPr>
          <a:xfrm>
            <a:off x="899650" y="2756392"/>
            <a:ext cx="3141043" cy="502920"/>
          </a:xfrm>
          <a:prstGeom prst="rect">
            <a:avLst/>
          </a:prstGeom>
          <a:noFill/>
        </p:spPr>
        <p:txBody>
          <a:bodyPr wrap="square">
            <a:spAutoFit/>
          </a:bodyPr>
          <a:lstStyle/>
          <a:p>
            <a:pPr algn="l"/>
            <a:r>
              <a:rPr sz="1200" b="0" i="0">
                <a:solidFill>
                  <a:srgbClr val="5B5B6E"/>
                </a:solidFill>
                <a:latin typeface="Calibri"/>
              </a:rPr>
              <a:t>HR Managers, CFOs, Business Owners.</a:t>
            </a:r>
          </a:p>
        </p:txBody>
      </p:sp>
      <p:cxnSp>
        <p:nvCxnSpPr>
          <p:cNvPr id="11" name="Connector 10"/>
          <p:cNvCxnSpPr/>
          <p:nvPr/>
        </p:nvCxnSpPr>
        <p:spPr>
          <a:xfrm>
            <a:off x="899650" y="3469624"/>
            <a:ext cx="3104467"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99650" y="3579352"/>
            <a:ext cx="3141043" cy="201168"/>
          </a:xfrm>
          <a:prstGeom prst="rect">
            <a:avLst/>
          </a:prstGeom>
          <a:noFill/>
        </p:spPr>
        <p:txBody>
          <a:bodyPr wrap="square">
            <a:spAutoFit/>
          </a:bodyPr>
          <a:lstStyle/>
          <a:p>
            <a:pPr algn="l"/>
            <a:r>
              <a:rPr sz="750" b="0" i="0">
                <a:solidFill>
                  <a:srgbClr val="C8121E"/>
                </a:solidFill>
                <a:latin typeface="Courier New"/>
              </a:rPr>
              <a:t>CORE FEAR</a:t>
            </a:r>
          </a:p>
        </p:txBody>
      </p:sp>
      <p:sp>
        <p:nvSpPr>
          <p:cNvPr id="13" name="TextBox 12"/>
          <p:cNvSpPr txBox="1"/>
          <p:nvPr/>
        </p:nvSpPr>
        <p:spPr>
          <a:xfrm>
            <a:off x="899650" y="3817096"/>
            <a:ext cx="3141043" cy="1554480"/>
          </a:xfrm>
          <a:prstGeom prst="rect">
            <a:avLst/>
          </a:prstGeom>
          <a:noFill/>
        </p:spPr>
        <p:txBody>
          <a:bodyPr wrap="square">
            <a:spAutoFit/>
          </a:bodyPr>
          <a:lstStyle/>
          <a:p>
            <a:pPr algn="l"/>
            <a:r>
              <a:rPr sz="1600" b="0" i="1">
                <a:solidFill>
                  <a:srgbClr val="15152A"/>
                </a:solidFill>
                <a:latin typeface="Georgia"/>
              </a:rPr>
              <a:t>"If my business burns down tomorrow, can I make payroll next month?"</a:t>
            </a:r>
          </a:p>
        </p:txBody>
      </p:sp>
      <p:sp>
        <p:nvSpPr>
          <p:cNvPr id="14" name="Rectangle 13"/>
          <p:cNvSpPr/>
          <p:nvPr/>
        </p:nvSpPr>
        <p:spPr>
          <a:xfrm>
            <a:off x="4342445" y="2006584"/>
            <a:ext cx="3506803" cy="3749039"/>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2445" y="2006584"/>
            <a:ext cx="3506803" cy="64008"/>
          </a:xfrm>
          <a:prstGeom prst="rect">
            <a:avLst/>
          </a:prstGeom>
          <a:solidFill>
            <a:srgbClr val="C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43613" y="2189464"/>
            <a:ext cx="3141043" cy="457200"/>
          </a:xfrm>
          <a:prstGeom prst="rect">
            <a:avLst/>
          </a:prstGeom>
          <a:noFill/>
        </p:spPr>
        <p:txBody>
          <a:bodyPr wrap="square">
            <a:spAutoFit/>
          </a:bodyPr>
          <a:lstStyle/>
          <a:p>
            <a:pPr algn="l"/>
            <a:r>
              <a:rPr sz="2600" b="0" i="0">
                <a:solidFill>
                  <a:srgbClr val="15152A"/>
                </a:solidFill>
                <a:latin typeface="Georgia"/>
              </a:rPr>
              <a:t>Retail &amp; Family</a:t>
            </a:r>
          </a:p>
        </p:txBody>
      </p:sp>
      <p:sp>
        <p:nvSpPr>
          <p:cNvPr id="17" name="TextBox 16"/>
          <p:cNvSpPr txBox="1"/>
          <p:nvPr/>
        </p:nvSpPr>
        <p:spPr>
          <a:xfrm>
            <a:off x="4543613" y="2756392"/>
            <a:ext cx="3141043" cy="502920"/>
          </a:xfrm>
          <a:prstGeom prst="rect">
            <a:avLst/>
          </a:prstGeom>
          <a:noFill/>
        </p:spPr>
        <p:txBody>
          <a:bodyPr wrap="square">
            <a:spAutoFit/>
          </a:bodyPr>
          <a:lstStyle/>
          <a:p>
            <a:pPr algn="l"/>
            <a:r>
              <a:rPr sz="1200" b="0" i="0">
                <a:solidFill>
                  <a:srgbClr val="5B5B6E"/>
                </a:solidFill>
                <a:latin typeface="Calibri"/>
              </a:rPr>
              <a:t>Working professionals, 25–50, Lusaka.</a:t>
            </a:r>
          </a:p>
        </p:txBody>
      </p:sp>
      <p:cxnSp>
        <p:nvCxnSpPr>
          <p:cNvPr id="18" name="Connector 17"/>
          <p:cNvCxnSpPr/>
          <p:nvPr/>
        </p:nvCxnSpPr>
        <p:spPr>
          <a:xfrm>
            <a:off x="4543613" y="3469624"/>
            <a:ext cx="3104468"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4543613" y="3579352"/>
            <a:ext cx="3141043" cy="201168"/>
          </a:xfrm>
          <a:prstGeom prst="rect">
            <a:avLst/>
          </a:prstGeom>
          <a:noFill/>
        </p:spPr>
        <p:txBody>
          <a:bodyPr wrap="square">
            <a:spAutoFit/>
          </a:bodyPr>
          <a:lstStyle/>
          <a:p>
            <a:pPr algn="l"/>
            <a:r>
              <a:rPr sz="750" b="0" i="0">
                <a:solidFill>
                  <a:srgbClr val="C8121E"/>
                </a:solidFill>
                <a:latin typeface="Courier New"/>
              </a:rPr>
              <a:t>CORE FEAR</a:t>
            </a:r>
          </a:p>
        </p:txBody>
      </p:sp>
      <p:sp>
        <p:nvSpPr>
          <p:cNvPr id="20" name="TextBox 19"/>
          <p:cNvSpPr txBox="1"/>
          <p:nvPr/>
        </p:nvSpPr>
        <p:spPr>
          <a:xfrm>
            <a:off x="4543613" y="3817096"/>
            <a:ext cx="3141043" cy="1554480"/>
          </a:xfrm>
          <a:prstGeom prst="rect">
            <a:avLst/>
          </a:prstGeom>
          <a:noFill/>
        </p:spPr>
        <p:txBody>
          <a:bodyPr wrap="square">
            <a:spAutoFit/>
          </a:bodyPr>
          <a:lstStyle/>
          <a:p>
            <a:pPr algn="l"/>
            <a:r>
              <a:rPr sz="1600" b="0" i="1">
                <a:solidFill>
                  <a:srgbClr val="15152A"/>
                </a:solidFill>
                <a:latin typeface="Georgia"/>
              </a:rPr>
              <a:t>"If I die tomorrow, does my family keep the house?"</a:t>
            </a:r>
          </a:p>
        </p:txBody>
      </p:sp>
      <p:sp>
        <p:nvSpPr>
          <p:cNvPr id="21" name="Rectangle 20"/>
          <p:cNvSpPr/>
          <p:nvPr/>
        </p:nvSpPr>
        <p:spPr>
          <a:xfrm>
            <a:off x="7986409" y="2006584"/>
            <a:ext cx="3506803" cy="3749039"/>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86409" y="2006584"/>
            <a:ext cx="3506803" cy="64008"/>
          </a:xfrm>
          <a:prstGeom prst="rect">
            <a:avLst/>
          </a:prstGeom>
          <a:solidFill>
            <a:srgbClr val="2750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87577" y="2189464"/>
            <a:ext cx="3141043" cy="457200"/>
          </a:xfrm>
          <a:prstGeom prst="rect">
            <a:avLst/>
          </a:prstGeom>
          <a:noFill/>
        </p:spPr>
        <p:txBody>
          <a:bodyPr wrap="square">
            <a:spAutoFit/>
          </a:bodyPr>
          <a:lstStyle/>
          <a:p>
            <a:pPr algn="l"/>
            <a:r>
              <a:rPr sz="2600" b="0" i="0">
                <a:solidFill>
                  <a:srgbClr val="15152A"/>
                </a:solidFill>
                <a:latin typeface="Georgia"/>
              </a:rPr>
              <a:t>High Net Worth</a:t>
            </a:r>
          </a:p>
        </p:txBody>
      </p:sp>
      <p:sp>
        <p:nvSpPr>
          <p:cNvPr id="24" name="TextBox 23"/>
          <p:cNvSpPr txBox="1"/>
          <p:nvPr/>
        </p:nvSpPr>
        <p:spPr>
          <a:xfrm>
            <a:off x="8187577" y="2756392"/>
            <a:ext cx="3141043" cy="502920"/>
          </a:xfrm>
          <a:prstGeom prst="rect">
            <a:avLst/>
          </a:prstGeom>
          <a:noFill/>
        </p:spPr>
        <p:txBody>
          <a:bodyPr wrap="square">
            <a:spAutoFit/>
          </a:bodyPr>
          <a:lstStyle/>
          <a:p>
            <a:pPr algn="l"/>
            <a:r>
              <a:rPr sz="1200" b="0" i="0">
                <a:solidFill>
                  <a:srgbClr val="5B5B6E"/>
                </a:solidFill>
                <a:latin typeface="Calibri"/>
              </a:rPr>
              <a:t>Business owners, senior professionals.</a:t>
            </a:r>
          </a:p>
        </p:txBody>
      </p:sp>
      <p:cxnSp>
        <p:nvCxnSpPr>
          <p:cNvPr id="25" name="Connector 24"/>
          <p:cNvCxnSpPr/>
          <p:nvPr/>
        </p:nvCxnSpPr>
        <p:spPr>
          <a:xfrm>
            <a:off x="8187577" y="3469624"/>
            <a:ext cx="3104467"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8187577" y="3579352"/>
            <a:ext cx="3141043" cy="201168"/>
          </a:xfrm>
          <a:prstGeom prst="rect">
            <a:avLst/>
          </a:prstGeom>
          <a:noFill/>
        </p:spPr>
        <p:txBody>
          <a:bodyPr wrap="square">
            <a:spAutoFit/>
          </a:bodyPr>
          <a:lstStyle/>
          <a:p>
            <a:pPr algn="l"/>
            <a:r>
              <a:rPr sz="750" b="0" i="0">
                <a:solidFill>
                  <a:srgbClr val="C8121E"/>
                </a:solidFill>
                <a:latin typeface="Courier New"/>
              </a:rPr>
              <a:t>CORE FEAR</a:t>
            </a:r>
          </a:p>
        </p:txBody>
      </p:sp>
      <p:sp>
        <p:nvSpPr>
          <p:cNvPr id="27" name="TextBox 26"/>
          <p:cNvSpPr txBox="1"/>
          <p:nvPr/>
        </p:nvSpPr>
        <p:spPr>
          <a:xfrm>
            <a:off x="8187577" y="3817096"/>
            <a:ext cx="3141043" cy="1554480"/>
          </a:xfrm>
          <a:prstGeom prst="rect">
            <a:avLst/>
          </a:prstGeom>
          <a:noFill/>
        </p:spPr>
        <p:txBody>
          <a:bodyPr wrap="square">
            <a:spAutoFit/>
          </a:bodyPr>
          <a:lstStyle/>
          <a:p>
            <a:pPr algn="l"/>
            <a:r>
              <a:rPr sz="1600" b="0" i="1">
                <a:solidFill>
                  <a:srgbClr val="15152A"/>
                </a:solidFill>
                <a:latin typeface="Georgia"/>
              </a:rPr>
              <a:t>"If I lose one asset, does everything unravel?"</a:t>
            </a:r>
          </a:p>
        </p:txBody>
      </p:sp>
      <p:cxnSp>
        <p:nvCxnSpPr>
          <p:cNvPr id="28" name="Connector 27"/>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30" name="TextBox 29"/>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10 / 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Solution · 04</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PRODUCT LANGUAGE, REFRAMED</a:t>
            </a:r>
          </a:p>
        </p:txBody>
      </p:sp>
      <p:sp>
        <p:nvSpPr>
          <p:cNvPr id="6" name="TextBox 5"/>
          <p:cNvSpPr txBox="1"/>
          <p:nvPr/>
        </p:nvSpPr>
        <p:spPr>
          <a:xfrm>
            <a:off x="698482" y="982456"/>
            <a:ext cx="10794730" cy="548640"/>
          </a:xfrm>
          <a:prstGeom prst="rect">
            <a:avLst/>
          </a:prstGeom>
          <a:noFill/>
        </p:spPr>
        <p:txBody>
          <a:bodyPr wrap="square">
            <a:spAutoFit/>
          </a:bodyPr>
          <a:lstStyle/>
          <a:p>
            <a:pPr algn="l"/>
            <a:r>
              <a:rPr sz="4400" b="0" i="1">
                <a:solidFill>
                  <a:srgbClr val="15152A"/>
                </a:solidFill>
                <a:latin typeface="Georgia"/>
              </a:rPr>
              <a:t>Every product has a human name.</a:t>
            </a:r>
          </a:p>
        </p:txBody>
      </p:sp>
      <p:cxnSp>
        <p:nvCxnSpPr>
          <p:cNvPr id="7" name="Connector 6"/>
          <p:cNvCxnSpPr/>
          <p:nvPr/>
        </p:nvCxnSpPr>
        <p:spPr>
          <a:xfrm>
            <a:off x="698482" y="1732264"/>
            <a:ext cx="10794730" cy="0"/>
          </a:xfrm>
          <a:prstGeom prst="line">
            <a:avLst/>
          </a:prstGeom>
          <a:ln w="15240">
            <a:solidFill>
              <a:srgbClr val="15152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98482" y="1805416"/>
            <a:ext cx="2011680" cy="256032"/>
          </a:xfrm>
          <a:prstGeom prst="rect">
            <a:avLst/>
          </a:prstGeom>
          <a:noFill/>
        </p:spPr>
        <p:txBody>
          <a:bodyPr wrap="square">
            <a:spAutoFit/>
          </a:bodyPr>
          <a:lstStyle/>
          <a:p>
            <a:pPr algn="l"/>
            <a:r>
              <a:rPr sz="850" b="0" i="0">
                <a:solidFill>
                  <a:srgbClr val="5B5B6E"/>
                </a:solidFill>
                <a:latin typeface="Courier New"/>
              </a:rPr>
              <a:t>PRODUCT</a:t>
            </a:r>
          </a:p>
        </p:txBody>
      </p:sp>
      <p:sp>
        <p:nvSpPr>
          <p:cNvPr id="9" name="TextBox 8"/>
          <p:cNvSpPr txBox="1"/>
          <p:nvPr/>
        </p:nvSpPr>
        <p:spPr>
          <a:xfrm>
            <a:off x="2755882" y="1805416"/>
            <a:ext cx="3291840" cy="256032"/>
          </a:xfrm>
          <a:prstGeom prst="rect">
            <a:avLst/>
          </a:prstGeom>
          <a:noFill/>
        </p:spPr>
        <p:txBody>
          <a:bodyPr wrap="square">
            <a:spAutoFit/>
          </a:bodyPr>
          <a:lstStyle/>
          <a:p>
            <a:pPr algn="l"/>
            <a:r>
              <a:rPr sz="850" b="0" i="0">
                <a:solidFill>
                  <a:srgbClr val="5B5B6E"/>
                </a:solidFill>
                <a:latin typeface="Courier New"/>
              </a:rPr>
              <a:t>CATEGORY LANGUAGE</a:t>
            </a:r>
          </a:p>
        </p:txBody>
      </p:sp>
      <p:sp>
        <p:nvSpPr>
          <p:cNvPr id="10" name="TextBox 9"/>
          <p:cNvSpPr txBox="1"/>
          <p:nvPr/>
        </p:nvSpPr>
        <p:spPr>
          <a:xfrm>
            <a:off x="6093442" y="1805416"/>
            <a:ext cx="5212080" cy="256032"/>
          </a:xfrm>
          <a:prstGeom prst="rect">
            <a:avLst/>
          </a:prstGeom>
          <a:noFill/>
        </p:spPr>
        <p:txBody>
          <a:bodyPr wrap="square">
            <a:spAutoFit/>
          </a:bodyPr>
          <a:lstStyle/>
          <a:p>
            <a:pPr algn="l"/>
            <a:r>
              <a:rPr sz="850" b="0" i="0">
                <a:solidFill>
                  <a:srgbClr val="5B5B6E"/>
                </a:solidFill>
                <a:latin typeface="Courier New"/>
              </a:rPr>
              <a:t>LONGHORN LANGUAGE</a:t>
            </a:r>
          </a:p>
        </p:txBody>
      </p:sp>
      <p:cxnSp>
        <p:nvCxnSpPr>
          <p:cNvPr id="11" name="Connector 10"/>
          <p:cNvCxnSpPr/>
          <p:nvPr/>
        </p:nvCxnSpPr>
        <p:spPr>
          <a:xfrm>
            <a:off x="698482" y="2079736"/>
            <a:ext cx="10794730" cy="0"/>
          </a:xfrm>
          <a:prstGeom prst="line">
            <a:avLst/>
          </a:prstGeom>
          <a:ln w="12700">
            <a:solidFill>
              <a:srgbClr val="15152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4202" y="2171176"/>
            <a:ext cx="1920240" cy="457200"/>
          </a:xfrm>
          <a:prstGeom prst="rect">
            <a:avLst/>
          </a:prstGeom>
          <a:noFill/>
        </p:spPr>
        <p:txBody>
          <a:bodyPr wrap="square">
            <a:spAutoFit/>
          </a:bodyPr>
          <a:lstStyle/>
          <a:p>
            <a:pPr algn="l"/>
            <a:r>
              <a:rPr sz="2000" b="0" i="0">
                <a:solidFill>
                  <a:srgbClr val="15152A"/>
                </a:solidFill>
                <a:latin typeface="Georgia"/>
              </a:rPr>
              <a:t>Motor</a:t>
            </a:r>
          </a:p>
        </p:txBody>
      </p:sp>
      <p:sp>
        <p:nvSpPr>
          <p:cNvPr id="13" name="TextBox 12"/>
          <p:cNvSpPr txBox="1"/>
          <p:nvPr/>
        </p:nvSpPr>
        <p:spPr>
          <a:xfrm>
            <a:off x="2847322" y="2171176"/>
            <a:ext cx="3154680" cy="457200"/>
          </a:xfrm>
          <a:prstGeom prst="rect">
            <a:avLst/>
          </a:prstGeom>
          <a:noFill/>
        </p:spPr>
        <p:txBody>
          <a:bodyPr wrap="square">
            <a:spAutoFit/>
          </a:bodyPr>
          <a:lstStyle/>
          <a:p>
            <a:pPr algn="l"/>
            <a:r>
              <a:rPr sz="1400" b="0" i="1">
                <a:solidFill>
                  <a:srgbClr val="5B5B6E"/>
                </a:solidFill>
                <a:latin typeface="Calibri"/>
              </a:rPr>
              <a:t>Comprehensive vehicle insurance</a:t>
            </a:r>
          </a:p>
        </p:txBody>
      </p:sp>
      <p:sp>
        <p:nvSpPr>
          <p:cNvPr id="14" name="TextBox 13"/>
          <p:cNvSpPr txBox="1"/>
          <p:nvPr/>
        </p:nvSpPr>
        <p:spPr>
          <a:xfrm>
            <a:off x="6230602" y="2171176"/>
            <a:ext cx="5029200" cy="457200"/>
          </a:xfrm>
          <a:prstGeom prst="rect">
            <a:avLst/>
          </a:prstGeom>
          <a:noFill/>
        </p:spPr>
        <p:txBody>
          <a:bodyPr wrap="square">
            <a:spAutoFit/>
          </a:bodyPr>
          <a:lstStyle/>
          <a:p>
            <a:pPr algn="l"/>
            <a:r>
              <a:rPr sz="1700" b="0" i="1">
                <a:solidFill>
                  <a:srgbClr val="C8121E"/>
                </a:solidFill>
                <a:latin typeface="Georgia"/>
              </a:rPr>
              <a:t>If someone writes it off — we sort it.</a:t>
            </a:r>
          </a:p>
        </p:txBody>
      </p:sp>
      <p:cxnSp>
        <p:nvCxnSpPr>
          <p:cNvPr id="15" name="Connector 14"/>
          <p:cNvCxnSpPr/>
          <p:nvPr/>
        </p:nvCxnSpPr>
        <p:spPr>
          <a:xfrm>
            <a:off x="698482" y="2664952"/>
            <a:ext cx="10794730" cy="0"/>
          </a:xfrm>
          <a:prstGeom prst="line">
            <a:avLst/>
          </a:prstGeom>
          <a:ln w="5080">
            <a:solidFill>
              <a:srgbClr val="D8D7E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4202" y="2829544"/>
            <a:ext cx="1920240" cy="457200"/>
          </a:xfrm>
          <a:prstGeom prst="rect">
            <a:avLst/>
          </a:prstGeom>
          <a:noFill/>
        </p:spPr>
        <p:txBody>
          <a:bodyPr wrap="square">
            <a:spAutoFit/>
          </a:bodyPr>
          <a:lstStyle/>
          <a:p>
            <a:pPr algn="l"/>
            <a:r>
              <a:rPr sz="2000" b="0" i="0">
                <a:solidFill>
                  <a:srgbClr val="15152A"/>
                </a:solidFill>
                <a:latin typeface="Georgia"/>
              </a:rPr>
              <a:t>Life</a:t>
            </a:r>
          </a:p>
        </p:txBody>
      </p:sp>
      <p:sp>
        <p:nvSpPr>
          <p:cNvPr id="17" name="TextBox 16"/>
          <p:cNvSpPr txBox="1"/>
          <p:nvPr/>
        </p:nvSpPr>
        <p:spPr>
          <a:xfrm>
            <a:off x="2847322" y="2829544"/>
            <a:ext cx="3154680" cy="457200"/>
          </a:xfrm>
          <a:prstGeom prst="rect">
            <a:avLst/>
          </a:prstGeom>
          <a:noFill/>
        </p:spPr>
        <p:txBody>
          <a:bodyPr wrap="square">
            <a:spAutoFit/>
          </a:bodyPr>
          <a:lstStyle/>
          <a:p>
            <a:pPr algn="l"/>
            <a:r>
              <a:rPr sz="1400" b="0" i="1">
                <a:solidFill>
                  <a:srgbClr val="5B5B6E"/>
                </a:solidFill>
                <a:latin typeface="Calibri"/>
              </a:rPr>
              <a:t>Term life / endowment</a:t>
            </a:r>
          </a:p>
        </p:txBody>
      </p:sp>
      <p:sp>
        <p:nvSpPr>
          <p:cNvPr id="18" name="TextBox 17"/>
          <p:cNvSpPr txBox="1"/>
          <p:nvPr/>
        </p:nvSpPr>
        <p:spPr>
          <a:xfrm>
            <a:off x="6230602" y="2829544"/>
            <a:ext cx="5029200" cy="457200"/>
          </a:xfrm>
          <a:prstGeom prst="rect">
            <a:avLst/>
          </a:prstGeom>
          <a:noFill/>
        </p:spPr>
        <p:txBody>
          <a:bodyPr wrap="square">
            <a:spAutoFit/>
          </a:bodyPr>
          <a:lstStyle/>
          <a:p>
            <a:pPr algn="l"/>
            <a:r>
              <a:rPr sz="1700" b="0" i="1">
                <a:solidFill>
                  <a:srgbClr val="C8121E"/>
                </a:solidFill>
                <a:latin typeface="Georgia"/>
              </a:rPr>
              <a:t>Your family keeps the life you built.</a:t>
            </a:r>
          </a:p>
        </p:txBody>
      </p:sp>
      <p:cxnSp>
        <p:nvCxnSpPr>
          <p:cNvPr id="19" name="Connector 18"/>
          <p:cNvCxnSpPr/>
          <p:nvPr/>
        </p:nvCxnSpPr>
        <p:spPr>
          <a:xfrm>
            <a:off x="698482" y="3323320"/>
            <a:ext cx="10794730" cy="0"/>
          </a:xfrm>
          <a:prstGeom prst="line">
            <a:avLst/>
          </a:prstGeom>
          <a:ln w="5080">
            <a:solidFill>
              <a:srgbClr val="D8D7E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44202" y="3487912"/>
            <a:ext cx="1920240" cy="457200"/>
          </a:xfrm>
          <a:prstGeom prst="rect">
            <a:avLst/>
          </a:prstGeom>
          <a:noFill/>
        </p:spPr>
        <p:txBody>
          <a:bodyPr wrap="square">
            <a:spAutoFit/>
          </a:bodyPr>
          <a:lstStyle/>
          <a:p>
            <a:pPr algn="l"/>
            <a:r>
              <a:rPr sz="2000" b="0" i="0">
                <a:solidFill>
                  <a:srgbClr val="15152A"/>
                </a:solidFill>
                <a:latin typeface="Georgia"/>
              </a:rPr>
              <a:t>Business</a:t>
            </a:r>
          </a:p>
        </p:txBody>
      </p:sp>
      <p:sp>
        <p:nvSpPr>
          <p:cNvPr id="21" name="TextBox 20"/>
          <p:cNvSpPr txBox="1"/>
          <p:nvPr/>
        </p:nvSpPr>
        <p:spPr>
          <a:xfrm>
            <a:off x="2847322" y="3487912"/>
            <a:ext cx="3154680" cy="457200"/>
          </a:xfrm>
          <a:prstGeom prst="rect">
            <a:avLst/>
          </a:prstGeom>
          <a:noFill/>
        </p:spPr>
        <p:txBody>
          <a:bodyPr wrap="square">
            <a:spAutoFit/>
          </a:bodyPr>
          <a:lstStyle/>
          <a:p>
            <a:pPr algn="l"/>
            <a:r>
              <a:rPr sz="1400" b="0" i="1">
                <a:solidFill>
                  <a:srgbClr val="5B5B6E"/>
                </a:solidFill>
                <a:latin typeface="Calibri"/>
              </a:rPr>
              <a:t>Commercial property &amp; liability</a:t>
            </a:r>
          </a:p>
        </p:txBody>
      </p:sp>
      <p:sp>
        <p:nvSpPr>
          <p:cNvPr id="22" name="TextBox 21"/>
          <p:cNvSpPr txBox="1"/>
          <p:nvPr/>
        </p:nvSpPr>
        <p:spPr>
          <a:xfrm>
            <a:off x="6230602" y="3487912"/>
            <a:ext cx="5029200" cy="457200"/>
          </a:xfrm>
          <a:prstGeom prst="rect">
            <a:avLst/>
          </a:prstGeom>
          <a:noFill/>
        </p:spPr>
        <p:txBody>
          <a:bodyPr wrap="square">
            <a:spAutoFit/>
          </a:bodyPr>
          <a:lstStyle/>
          <a:p>
            <a:pPr algn="l"/>
            <a:r>
              <a:rPr sz="1700" b="0" i="1">
                <a:solidFill>
                  <a:srgbClr val="C8121E"/>
                </a:solidFill>
                <a:latin typeface="Georgia"/>
              </a:rPr>
              <a:t>Your business survives the unthinkable.</a:t>
            </a:r>
          </a:p>
        </p:txBody>
      </p:sp>
      <p:cxnSp>
        <p:nvCxnSpPr>
          <p:cNvPr id="23" name="Connector 22"/>
          <p:cNvCxnSpPr/>
          <p:nvPr/>
        </p:nvCxnSpPr>
        <p:spPr>
          <a:xfrm>
            <a:off x="698482" y="3981688"/>
            <a:ext cx="10794730" cy="0"/>
          </a:xfrm>
          <a:prstGeom prst="line">
            <a:avLst/>
          </a:prstGeom>
          <a:ln w="5080">
            <a:solidFill>
              <a:srgbClr val="D8D7E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4202" y="4146280"/>
            <a:ext cx="1920240" cy="457200"/>
          </a:xfrm>
          <a:prstGeom prst="rect">
            <a:avLst/>
          </a:prstGeom>
          <a:noFill/>
        </p:spPr>
        <p:txBody>
          <a:bodyPr wrap="square">
            <a:spAutoFit/>
          </a:bodyPr>
          <a:lstStyle/>
          <a:p>
            <a:pPr algn="l"/>
            <a:r>
              <a:rPr sz="2000" b="0" i="0">
                <a:solidFill>
                  <a:srgbClr val="15152A"/>
                </a:solidFill>
                <a:latin typeface="Georgia"/>
              </a:rPr>
              <a:t>Medical</a:t>
            </a:r>
          </a:p>
        </p:txBody>
      </p:sp>
      <p:sp>
        <p:nvSpPr>
          <p:cNvPr id="25" name="TextBox 24"/>
          <p:cNvSpPr txBox="1"/>
          <p:nvPr/>
        </p:nvSpPr>
        <p:spPr>
          <a:xfrm>
            <a:off x="2847322" y="4146280"/>
            <a:ext cx="3154680" cy="457200"/>
          </a:xfrm>
          <a:prstGeom prst="rect">
            <a:avLst/>
          </a:prstGeom>
          <a:noFill/>
        </p:spPr>
        <p:txBody>
          <a:bodyPr wrap="square">
            <a:spAutoFit/>
          </a:bodyPr>
          <a:lstStyle/>
          <a:p>
            <a:pPr algn="l"/>
            <a:r>
              <a:rPr sz="1400" b="0" i="1">
                <a:solidFill>
                  <a:srgbClr val="5B5B6E"/>
                </a:solidFill>
                <a:latin typeface="Calibri"/>
              </a:rPr>
              <a:t>Medical expense cover</a:t>
            </a:r>
          </a:p>
        </p:txBody>
      </p:sp>
      <p:sp>
        <p:nvSpPr>
          <p:cNvPr id="26" name="TextBox 25"/>
          <p:cNvSpPr txBox="1"/>
          <p:nvPr/>
        </p:nvSpPr>
        <p:spPr>
          <a:xfrm>
            <a:off x="6230602" y="4146280"/>
            <a:ext cx="5029200" cy="457200"/>
          </a:xfrm>
          <a:prstGeom prst="rect">
            <a:avLst/>
          </a:prstGeom>
          <a:noFill/>
        </p:spPr>
        <p:txBody>
          <a:bodyPr wrap="square">
            <a:spAutoFit/>
          </a:bodyPr>
          <a:lstStyle/>
          <a:p>
            <a:pPr algn="l"/>
            <a:r>
              <a:rPr sz="1700" b="0" i="1">
                <a:solidFill>
                  <a:srgbClr val="C8121E"/>
                </a:solidFill>
                <a:latin typeface="Georgia"/>
              </a:rPr>
              <a:t>You get treated. Not declined.</a:t>
            </a:r>
          </a:p>
        </p:txBody>
      </p:sp>
      <p:cxnSp>
        <p:nvCxnSpPr>
          <p:cNvPr id="27" name="Connector 26"/>
          <p:cNvCxnSpPr/>
          <p:nvPr/>
        </p:nvCxnSpPr>
        <p:spPr>
          <a:xfrm>
            <a:off x="698482" y="4640056"/>
            <a:ext cx="10794730" cy="0"/>
          </a:xfrm>
          <a:prstGeom prst="line">
            <a:avLst/>
          </a:prstGeom>
          <a:ln w="5080">
            <a:solidFill>
              <a:srgbClr val="D8D7E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44202" y="4804648"/>
            <a:ext cx="1920240" cy="457200"/>
          </a:xfrm>
          <a:prstGeom prst="rect">
            <a:avLst/>
          </a:prstGeom>
          <a:noFill/>
        </p:spPr>
        <p:txBody>
          <a:bodyPr wrap="square">
            <a:spAutoFit/>
          </a:bodyPr>
          <a:lstStyle/>
          <a:p>
            <a:pPr algn="l"/>
            <a:r>
              <a:rPr sz="2000" b="0" i="0">
                <a:solidFill>
                  <a:srgbClr val="15152A"/>
                </a:solidFill>
                <a:latin typeface="Georgia"/>
              </a:rPr>
              <a:t>Home</a:t>
            </a:r>
          </a:p>
        </p:txBody>
      </p:sp>
      <p:sp>
        <p:nvSpPr>
          <p:cNvPr id="29" name="TextBox 28"/>
          <p:cNvSpPr txBox="1"/>
          <p:nvPr/>
        </p:nvSpPr>
        <p:spPr>
          <a:xfrm>
            <a:off x="2847322" y="4804648"/>
            <a:ext cx="3154680" cy="457200"/>
          </a:xfrm>
          <a:prstGeom prst="rect">
            <a:avLst/>
          </a:prstGeom>
          <a:noFill/>
        </p:spPr>
        <p:txBody>
          <a:bodyPr wrap="square">
            <a:spAutoFit/>
          </a:bodyPr>
          <a:lstStyle/>
          <a:p>
            <a:pPr algn="l"/>
            <a:r>
              <a:rPr sz="1400" b="0" i="1">
                <a:solidFill>
                  <a:srgbClr val="5B5B6E"/>
                </a:solidFill>
                <a:latin typeface="Calibri"/>
              </a:rPr>
              <a:t>Household contents &amp; structure</a:t>
            </a:r>
          </a:p>
        </p:txBody>
      </p:sp>
      <p:sp>
        <p:nvSpPr>
          <p:cNvPr id="30" name="TextBox 29"/>
          <p:cNvSpPr txBox="1"/>
          <p:nvPr/>
        </p:nvSpPr>
        <p:spPr>
          <a:xfrm>
            <a:off x="6230602" y="4804648"/>
            <a:ext cx="5029200" cy="457200"/>
          </a:xfrm>
          <a:prstGeom prst="rect">
            <a:avLst/>
          </a:prstGeom>
          <a:noFill/>
        </p:spPr>
        <p:txBody>
          <a:bodyPr wrap="square">
            <a:spAutoFit/>
          </a:bodyPr>
          <a:lstStyle/>
          <a:p>
            <a:pPr algn="l"/>
            <a:r>
              <a:rPr sz="1700" b="0" i="1">
                <a:solidFill>
                  <a:srgbClr val="C8121E"/>
                </a:solidFill>
                <a:latin typeface="Georgia"/>
              </a:rPr>
              <a:t>Everything inside still belongs to you.</a:t>
            </a:r>
          </a:p>
        </p:txBody>
      </p:sp>
      <p:cxnSp>
        <p:nvCxnSpPr>
          <p:cNvPr id="31" name="Connector 30"/>
          <p:cNvCxnSpPr/>
          <p:nvPr/>
        </p:nvCxnSpPr>
        <p:spPr>
          <a:xfrm>
            <a:off x="698482" y="5298424"/>
            <a:ext cx="10794730" cy="0"/>
          </a:xfrm>
          <a:prstGeom prst="line">
            <a:avLst/>
          </a:prstGeom>
          <a:ln w="5080">
            <a:solidFill>
              <a:srgbClr val="D8D7E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34" name="TextBox 33"/>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11 /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06E"/>
        </a:solidFill>
        <a:effectLst/>
      </p:bgPr>
    </p:bg>
    <p:spTree>
      <p:nvGrpSpPr>
        <p:cNvPr id="1" name=""/>
        <p:cNvGrpSpPr/>
        <p:nvPr/>
      </p:nvGrpSpPr>
      <p:grpSpPr/>
      <p:sp>
        <p:nvSpPr>
          <p:cNvPr id="2" name="TextBox 1"/>
          <p:cNvSpPr txBox="1"/>
          <p:nvPr/>
        </p:nvSpPr>
        <p:spPr>
          <a:xfrm>
            <a:off x="424162" y="1097280"/>
            <a:ext cx="3657600" cy="3200400"/>
          </a:xfrm>
          <a:prstGeom prst="rect">
            <a:avLst/>
          </a:prstGeom>
          <a:noFill/>
        </p:spPr>
        <p:txBody>
          <a:bodyPr wrap="square">
            <a:spAutoFit/>
          </a:bodyPr>
          <a:lstStyle/>
          <a:p>
            <a:pPr algn="l"/>
            <a:r>
              <a:rPr sz="20000" b="0" i="1">
                <a:solidFill>
                  <a:srgbClr val="28209A"/>
                </a:solidFill>
                <a:latin typeface="Georgia"/>
              </a:rPr>
              <a:t>03</a:t>
            </a:r>
          </a:p>
        </p:txBody>
      </p:sp>
      <p:sp>
        <p:nvSpPr>
          <p:cNvPr id="3" name="TextBox 2"/>
          <p:cNvSpPr txBox="1"/>
          <p:nvPr/>
        </p:nvSpPr>
        <p:spPr>
          <a:xfrm>
            <a:off x="3624562" y="2286000"/>
            <a:ext cx="10794730" cy="256032"/>
          </a:xfrm>
          <a:prstGeom prst="rect">
            <a:avLst/>
          </a:prstGeom>
          <a:noFill/>
        </p:spPr>
        <p:txBody>
          <a:bodyPr wrap="square">
            <a:spAutoFit/>
          </a:bodyPr>
          <a:lstStyle/>
          <a:p>
            <a:pPr algn="l"/>
            <a:r>
              <a:rPr sz="900" b="0" i="0">
                <a:solidFill>
                  <a:srgbClr val="A0A0C0"/>
                </a:solidFill>
                <a:latin typeface="Courier New"/>
              </a:rPr>
              <a:t>• PART 03</a:t>
            </a:r>
          </a:p>
        </p:txBody>
      </p:sp>
      <p:sp>
        <p:nvSpPr>
          <p:cNvPr id="4" name="TextBox 3"/>
          <p:cNvSpPr txBox="1"/>
          <p:nvPr/>
        </p:nvSpPr>
        <p:spPr>
          <a:xfrm>
            <a:off x="3624562" y="2606040"/>
            <a:ext cx="7315200" cy="1371600"/>
          </a:xfrm>
          <a:prstGeom prst="rect">
            <a:avLst/>
          </a:prstGeom>
          <a:noFill/>
        </p:spPr>
        <p:txBody>
          <a:bodyPr wrap="square">
            <a:spAutoFit/>
          </a:bodyPr>
          <a:lstStyle/>
          <a:p>
            <a:pPr algn="l"/>
            <a:r>
              <a:rPr sz="8000" b="0" i="1">
                <a:solidFill>
                  <a:srgbClr val="FFFFFF"/>
                </a:solidFill>
                <a:latin typeface="Georgia"/>
              </a:rPr>
              <a:t>The Plan</a:t>
            </a:r>
          </a:p>
        </p:txBody>
      </p:sp>
      <p:sp>
        <p:nvSpPr>
          <p:cNvPr id="5" name="TextBox 4"/>
          <p:cNvSpPr txBox="1"/>
          <p:nvPr/>
        </p:nvSpPr>
        <p:spPr>
          <a:xfrm>
            <a:off x="3624562" y="3657600"/>
            <a:ext cx="6858000" cy="822960"/>
          </a:xfrm>
          <a:prstGeom prst="rect">
            <a:avLst/>
          </a:prstGeom>
          <a:noFill/>
        </p:spPr>
        <p:txBody>
          <a:bodyPr wrap="square">
            <a:spAutoFit/>
          </a:bodyPr>
          <a:lstStyle/>
          <a:p>
            <a:pPr algn="l"/>
            <a:r>
              <a:rPr sz="2000" b="0" i="0">
                <a:solidFill>
                  <a:srgbClr val="C0C0E0"/>
                </a:solidFill>
                <a:latin typeface="Calibri"/>
              </a:rPr>
              <a:t>Five channels. One funnel. Every touchpoint engineered to reduce resistance and increase action.</a:t>
            </a:r>
          </a:p>
        </p:txBody>
      </p:sp>
      <p:sp>
        <p:nvSpPr>
          <p:cNvPr id="6" name="TextBox 5"/>
          <p:cNvSpPr txBox="1"/>
          <p:nvPr/>
        </p:nvSpPr>
        <p:spPr>
          <a:xfrm>
            <a:off x="698482" y="320040"/>
            <a:ext cx="3200400" cy="320040"/>
          </a:xfrm>
          <a:prstGeom prst="rect">
            <a:avLst/>
          </a:prstGeom>
          <a:noFill/>
        </p:spPr>
        <p:txBody>
          <a:bodyPr wrap="square">
            <a:spAutoFit/>
          </a:bodyPr>
          <a:lstStyle/>
          <a:p>
            <a:pPr algn="l"/>
            <a:r>
              <a:rPr sz="1000" b="1" i="0">
                <a:solidFill>
                  <a:srgbClr val="FFFFFF"/>
                </a:solidFill>
                <a:latin typeface="Calibri"/>
              </a:rPr>
              <a:t>BridgeCom Narratives</a:t>
            </a:r>
          </a:p>
        </p:txBody>
      </p:sp>
      <p:sp>
        <p:nvSpPr>
          <p:cNvPr id="7" name="TextBox 6"/>
          <p:cNvSpPr txBox="1"/>
          <p:nvPr/>
        </p:nvSpPr>
        <p:spPr>
          <a:xfrm>
            <a:off x="698482" y="594360"/>
            <a:ext cx="3200400" cy="201168"/>
          </a:xfrm>
          <a:prstGeom prst="rect">
            <a:avLst/>
          </a:prstGeom>
          <a:noFill/>
        </p:spPr>
        <p:txBody>
          <a:bodyPr wrap="square">
            <a:spAutoFit/>
          </a:bodyPr>
          <a:lstStyle/>
          <a:p>
            <a:pPr algn="l"/>
            <a:r>
              <a:rPr sz="750" b="0" i="0">
                <a:solidFill>
                  <a:srgbClr val="FFFFFF"/>
                </a:solidFill>
                <a:latin typeface="Courier New"/>
              </a:rPr>
              <a:t>FOR LONGHORN INSURANCE</a:t>
            </a:r>
          </a:p>
        </p:txBody>
      </p:sp>
      <p:sp>
        <p:nvSpPr>
          <p:cNvPr id="8" name="TextBox 7"/>
          <p:cNvSpPr txBox="1"/>
          <p:nvPr/>
        </p:nvSpPr>
        <p:spPr>
          <a:xfrm>
            <a:off x="9207212" y="320040"/>
            <a:ext cx="2286000" cy="320040"/>
          </a:xfrm>
          <a:prstGeom prst="rect">
            <a:avLst/>
          </a:prstGeom>
          <a:noFill/>
        </p:spPr>
        <p:txBody>
          <a:bodyPr wrap="square">
            <a:spAutoFit/>
          </a:bodyPr>
          <a:lstStyle/>
          <a:p>
            <a:pPr algn="r"/>
            <a:r>
              <a:rPr sz="900" b="0" i="0">
                <a:solidFill>
                  <a:srgbClr val="FFFFFF"/>
                </a:solidFill>
                <a:latin typeface="Courier New"/>
              </a:rPr>
              <a:t>Part 03</a:t>
            </a:r>
          </a:p>
        </p:txBody>
      </p:sp>
      <p:cxnSp>
        <p:nvCxnSpPr>
          <p:cNvPr id="9" name="Connector 8"/>
          <p:cNvCxnSpPr/>
          <p:nvPr/>
        </p:nvCxnSpPr>
        <p:spPr>
          <a:xfrm>
            <a:off x="698482" y="6213362"/>
            <a:ext cx="10794730" cy="0"/>
          </a:xfrm>
          <a:prstGeom prst="line">
            <a:avLst/>
          </a:prstGeom>
          <a:ln w="6350">
            <a:solidFill>
              <a:srgbClr val="80809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8482" y="6085346"/>
            <a:ext cx="3657600" cy="228600"/>
          </a:xfrm>
          <a:prstGeom prst="rect">
            <a:avLst/>
          </a:prstGeom>
          <a:noFill/>
        </p:spPr>
        <p:txBody>
          <a:bodyPr wrap="square">
            <a:spAutoFit/>
          </a:bodyPr>
          <a:lstStyle/>
          <a:p>
            <a:pPr algn="l"/>
            <a:r>
              <a:rPr sz="800" b="0" i="0">
                <a:solidFill>
                  <a:srgbClr val="9090A8"/>
                </a:solidFill>
                <a:latin typeface="Courier New"/>
              </a:rPr>
              <a:t>BridgeCom Narratives ·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Plan · 01</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FIVE CHANNELS, ONE FUNNEL</a:t>
            </a:r>
          </a:p>
        </p:txBody>
      </p:sp>
      <p:sp>
        <p:nvSpPr>
          <p:cNvPr id="6" name="TextBox 5"/>
          <p:cNvSpPr txBox="1"/>
          <p:nvPr/>
        </p:nvSpPr>
        <p:spPr>
          <a:xfrm>
            <a:off x="698482" y="982456"/>
            <a:ext cx="10794730" cy="731520"/>
          </a:xfrm>
          <a:prstGeom prst="rect">
            <a:avLst/>
          </a:prstGeom>
          <a:noFill/>
        </p:spPr>
        <p:txBody>
          <a:bodyPr wrap="square">
            <a:spAutoFit/>
          </a:bodyPr>
          <a:lstStyle/>
          <a:p>
            <a:pPr algn="l"/>
            <a:r>
              <a:rPr sz="4000" b="0" i="1">
                <a:solidFill>
                  <a:srgbClr val="15152A"/>
                </a:solidFill>
                <a:latin typeface="Georgia"/>
              </a:rPr>
              <a:t>Every channel feeds the next.
Nothing is isolated.</a:t>
            </a:r>
          </a:p>
        </p:txBody>
      </p:sp>
      <p:sp>
        <p:nvSpPr>
          <p:cNvPr id="7" name="Rectangle 6"/>
          <p:cNvSpPr/>
          <p:nvPr/>
        </p:nvSpPr>
        <p:spPr>
          <a:xfrm>
            <a:off x="698482" y="1933432"/>
            <a:ext cx="10794730" cy="621792"/>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5642" y="2098024"/>
            <a:ext cx="457200" cy="347472"/>
          </a:xfrm>
          <a:prstGeom prst="rect">
            <a:avLst/>
          </a:prstGeom>
          <a:noFill/>
        </p:spPr>
        <p:txBody>
          <a:bodyPr wrap="square">
            <a:spAutoFit/>
          </a:bodyPr>
          <a:lstStyle/>
          <a:p>
            <a:pPr algn="l"/>
            <a:r>
              <a:rPr sz="2800" b="0" i="1">
                <a:solidFill>
                  <a:srgbClr val="FFFFFF"/>
                </a:solidFill>
                <a:latin typeface="Georgia"/>
              </a:rPr>
              <a:t>01</a:t>
            </a:r>
          </a:p>
        </p:txBody>
      </p:sp>
      <p:sp>
        <p:nvSpPr>
          <p:cNvPr id="9" name="TextBox 8"/>
          <p:cNvSpPr txBox="1"/>
          <p:nvPr/>
        </p:nvSpPr>
        <p:spPr>
          <a:xfrm>
            <a:off x="1384282" y="2043160"/>
            <a:ext cx="1828800" cy="256032"/>
          </a:xfrm>
          <a:prstGeom prst="rect">
            <a:avLst/>
          </a:prstGeom>
          <a:noFill/>
        </p:spPr>
        <p:txBody>
          <a:bodyPr wrap="square">
            <a:spAutoFit/>
          </a:bodyPr>
          <a:lstStyle/>
          <a:p>
            <a:pPr algn="l"/>
            <a:r>
              <a:rPr sz="1400" b="1" i="0">
                <a:solidFill>
                  <a:srgbClr val="FFFFFF"/>
                </a:solidFill>
                <a:latin typeface="Calibri"/>
              </a:rPr>
              <a:t>AWARENESS</a:t>
            </a:r>
          </a:p>
        </p:txBody>
      </p:sp>
      <p:sp>
        <p:nvSpPr>
          <p:cNvPr id="10" name="TextBox 9"/>
          <p:cNvSpPr txBox="1"/>
          <p:nvPr/>
        </p:nvSpPr>
        <p:spPr>
          <a:xfrm>
            <a:off x="1384282" y="2299192"/>
            <a:ext cx="2286000" cy="228600"/>
          </a:xfrm>
          <a:prstGeom prst="rect">
            <a:avLst/>
          </a:prstGeom>
          <a:noFill/>
        </p:spPr>
        <p:txBody>
          <a:bodyPr wrap="square">
            <a:spAutoFit/>
          </a:bodyPr>
          <a:lstStyle/>
          <a:p>
            <a:pPr algn="l"/>
            <a:r>
              <a:rPr sz="800" b="0" i="0">
                <a:solidFill>
                  <a:srgbClr val="C0C0FF"/>
                </a:solidFill>
                <a:latin typeface="Courier New"/>
              </a:rPr>
              <a:t>LinkedIn + Facebook + Instagram</a:t>
            </a:r>
          </a:p>
        </p:txBody>
      </p:sp>
      <p:sp>
        <p:nvSpPr>
          <p:cNvPr id="11" name="TextBox 10"/>
          <p:cNvSpPr txBox="1"/>
          <p:nvPr/>
        </p:nvSpPr>
        <p:spPr>
          <a:xfrm>
            <a:off x="3898882" y="2116312"/>
            <a:ext cx="7411450" cy="329184"/>
          </a:xfrm>
          <a:prstGeom prst="rect">
            <a:avLst/>
          </a:prstGeom>
          <a:noFill/>
        </p:spPr>
        <p:txBody>
          <a:bodyPr wrap="square">
            <a:spAutoFit/>
          </a:bodyPr>
          <a:lstStyle/>
          <a:p>
            <a:pPr algn="l"/>
            <a:r>
              <a:rPr sz="1200" b="0" i="0">
                <a:solidFill>
                  <a:srgbClr val="E0E0FF"/>
                </a:solidFill>
                <a:latin typeface="Calibri"/>
              </a:rPr>
              <a:t>Reach the right person before they are looking</a:t>
            </a:r>
          </a:p>
        </p:txBody>
      </p:sp>
      <p:sp>
        <p:nvSpPr>
          <p:cNvPr id="12" name="Rectangle 11"/>
          <p:cNvSpPr/>
          <p:nvPr/>
        </p:nvSpPr>
        <p:spPr>
          <a:xfrm>
            <a:off x="863074" y="2591800"/>
            <a:ext cx="10630138" cy="621792"/>
          </a:xfrm>
          <a:prstGeom prst="rect">
            <a:avLst/>
          </a:prstGeom>
          <a:solidFill>
            <a:srgbClr val="1A10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0234" y="2756392"/>
            <a:ext cx="457200" cy="347472"/>
          </a:xfrm>
          <a:prstGeom prst="rect">
            <a:avLst/>
          </a:prstGeom>
          <a:noFill/>
        </p:spPr>
        <p:txBody>
          <a:bodyPr wrap="square">
            <a:spAutoFit/>
          </a:bodyPr>
          <a:lstStyle/>
          <a:p>
            <a:pPr algn="l"/>
            <a:r>
              <a:rPr sz="2800" b="0" i="1">
                <a:solidFill>
                  <a:srgbClr val="FFFFFF"/>
                </a:solidFill>
                <a:latin typeface="Georgia"/>
              </a:rPr>
              <a:t>02</a:t>
            </a:r>
          </a:p>
        </p:txBody>
      </p:sp>
      <p:sp>
        <p:nvSpPr>
          <p:cNvPr id="14" name="TextBox 13"/>
          <p:cNvSpPr txBox="1"/>
          <p:nvPr/>
        </p:nvSpPr>
        <p:spPr>
          <a:xfrm>
            <a:off x="1548874" y="2701528"/>
            <a:ext cx="1828800" cy="256032"/>
          </a:xfrm>
          <a:prstGeom prst="rect">
            <a:avLst/>
          </a:prstGeom>
          <a:noFill/>
        </p:spPr>
        <p:txBody>
          <a:bodyPr wrap="square">
            <a:spAutoFit/>
          </a:bodyPr>
          <a:lstStyle/>
          <a:p>
            <a:pPr algn="l"/>
            <a:r>
              <a:rPr sz="1400" b="1" i="0">
                <a:solidFill>
                  <a:srgbClr val="FFFFFF"/>
                </a:solidFill>
                <a:latin typeface="Calibri"/>
              </a:rPr>
              <a:t>INTEREST</a:t>
            </a:r>
          </a:p>
        </p:txBody>
      </p:sp>
      <p:sp>
        <p:nvSpPr>
          <p:cNvPr id="15" name="TextBox 14"/>
          <p:cNvSpPr txBox="1"/>
          <p:nvPr/>
        </p:nvSpPr>
        <p:spPr>
          <a:xfrm>
            <a:off x="1548874" y="2957560"/>
            <a:ext cx="2286000" cy="228600"/>
          </a:xfrm>
          <a:prstGeom prst="rect">
            <a:avLst/>
          </a:prstGeom>
          <a:noFill/>
        </p:spPr>
        <p:txBody>
          <a:bodyPr wrap="square">
            <a:spAutoFit/>
          </a:bodyPr>
          <a:lstStyle/>
          <a:p>
            <a:pPr algn="l"/>
            <a:r>
              <a:rPr sz="800" b="0" i="0">
                <a:solidFill>
                  <a:srgbClr val="C0C0FF"/>
                </a:solidFill>
                <a:latin typeface="Courier New"/>
              </a:rPr>
              <a:t>Content + SEO + Organic</a:t>
            </a:r>
          </a:p>
        </p:txBody>
      </p:sp>
      <p:sp>
        <p:nvSpPr>
          <p:cNvPr id="16" name="TextBox 15"/>
          <p:cNvSpPr txBox="1"/>
          <p:nvPr/>
        </p:nvSpPr>
        <p:spPr>
          <a:xfrm>
            <a:off x="4063474" y="2774680"/>
            <a:ext cx="7246858" cy="329184"/>
          </a:xfrm>
          <a:prstGeom prst="rect">
            <a:avLst/>
          </a:prstGeom>
          <a:noFill/>
        </p:spPr>
        <p:txBody>
          <a:bodyPr wrap="square">
            <a:spAutoFit/>
          </a:bodyPr>
          <a:lstStyle/>
          <a:p>
            <a:pPr algn="l"/>
            <a:r>
              <a:rPr sz="1200" b="0" i="0">
                <a:solidFill>
                  <a:srgbClr val="E0E0FF"/>
                </a:solidFill>
                <a:latin typeface="Calibri"/>
              </a:rPr>
              <a:t>Give them a reason to keep paying attention</a:t>
            </a:r>
          </a:p>
        </p:txBody>
      </p:sp>
      <p:sp>
        <p:nvSpPr>
          <p:cNvPr id="17" name="Rectangle 16"/>
          <p:cNvSpPr/>
          <p:nvPr/>
        </p:nvSpPr>
        <p:spPr>
          <a:xfrm>
            <a:off x="1027666" y="3250168"/>
            <a:ext cx="10465546" cy="621792"/>
          </a:xfrm>
          <a:prstGeom prst="rect">
            <a:avLst/>
          </a:prstGeom>
          <a:solidFill>
            <a:srgbClr val="2A18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64826" y="3414760"/>
            <a:ext cx="457200" cy="347472"/>
          </a:xfrm>
          <a:prstGeom prst="rect">
            <a:avLst/>
          </a:prstGeom>
          <a:noFill/>
        </p:spPr>
        <p:txBody>
          <a:bodyPr wrap="square">
            <a:spAutoFit/>
          </a:bodyPr>
          <a:lstStyle/>
          <a:p>
            <a:pPr algn="l"/>
            <a:r>
              <a:rPr sz="2800" b="0" i="1">
                <a:solidFill>
                  <a:srgbClr val="FFFFFF"/>
                </a:solidFill>
                <a:latin typeface="Georgia"/>
              </a:rPr>
              <a:t>03</a:t>
            </a:r>
          </a:p>
        </p:txBody>
      </p:sp>
      <p:sp>
        <p:nvSpPr>
          <p:cNvPr id="19" name="TextBox 18"/>
          <p:cNvSpPr txBox="1"/>
          <p:nvPr/>
        </p:nvSpPr>
        <p:spPr>
          <a:xfrm>
            <a:off x="1713466" y="3359896"/>
            <a:ext cx="1828800" cy="256032"/>
          </a:xfrm>
          <a:prstGeom prst="rect">
            <a:avLst/>
          </a:prstGeom>
          <a:noFill/>
        </p:spPr>
        <p:txBody>
          <a:bodyPr wrap="square">
            <a:spAutoFit/>
          </a:bodyPr>
          <a:lstStyle/>
          <a:p>
            <a:pPr algn="l"/>
            <a:r>
              <a:rPr sz="1400" b="1" i="0">
                <a:solidFill>
                  <a:srgbClr val="FFFFFF"/>
                </a:solidFill>
                <a:latin typeface="Calibri"/>
              </a:rPr>
              <a:t>INTENT</a:t>
            </a:r>
          </a:p>
        </p:txBody>
      </p:sp>
      <p:sp>
        <p:nvSpPr>
          <p:cNvPr id="20" name="TextBox 19"/>
          <p:cNvSpPr txBox="1"/>
          <p:nvPr/>
        </p:nvSpPr>
        <p:spPr>
          <a:xfrm>
            <a:off x="1713466" y="3615928"/>
            <a:ext cx="2286000" cy="228600"/>
          </a:xfrm>
          <a:prstGeom prst="rect">
            <a:avLst/>
          </a:prstGeom>
          <a:noFill/>
        </p:spPr>
        <p:txBody>
          <a:bodyPr wrap="square">
            <a:spAutoFit/>
          </a:bodyPr>
          <a:lstStyle/>
          <a:p>
            <a:pPr algn="l"/>
            <a:r>
              <a:rPr sz="800" b="0" i="0">
                <a:solidFill>
                  <a:srgbClr val="C0C0FF"/>
                </a:solidFill>
                <a:latin typeface="Courier New"/>
              </a:rPr>
              <a:t>Google Search + Landing Pages</a:t>
            </a:r>
          </a:p>
        </p:txBody>
      </p:sp>
      <p:sp>
        <p:nvSpPr>
          <p:cNvPr id="21" name="TextBox 20"/>
          <p:cNvSpPr txBox="1"/>
          <p:nvPr/>
        </p:nvSpPr>
        <p:spPr>
          <a:xfrm>
            <a:off x="4228066" y="3433048"/>
            <a:ext cx="7082266" cy="329184"/>
          </a:xfrm>
          <a:prstGeom prst="rect">
            <a:avLst/>
          </a:prstGeom>
          <a:noFill/>
        </p:spPr>
        <p:txBody>
          <a:bodyPr wrap="square">
            <a:spAutoFit/>
          </a:bodyPr>
          <a:lstStyle/>
          <a:p>
            <a:pPr algn="l"/>
            <a:r>
              <a:rPr sz="1200" b="0" i="0">
                <a:solidFill>
                  <a:srgbClr val="E0E0FF"/>
                </a:solidFill>
                <a:latin typeface="Calibri"/>
              </a:rPr>
              <a:t>Catch them when they are actively searching</a:t>
            </a:r>
          </a:p>
        </p:txBody>
      </p:sp>
      <p:sp>
        <p:nvSpPr>
          <p:cNvPr id="22" name="Rectangle 21"/>
          <p:cNvSpPr/>
          <p:nvPr/>
        </p:nvSpPr>
        <p:spPr>
          <a:xfrm>
            <a:off x="1192258" y="3908536"/>
            <a:ext cx="10300954" cy="621792"/>
          </a:xfrm>
          <a:prstGeom prst="rect">
            <a:avLst/>
          </a:prstGeom>
          <a:solidFill>
            <a:srgbClr val="C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9418" y="4073128"/>
            <a:ext cx="457200" cy="347472"/>
          </a:xfrm>
          <a:prstGeom prst="rect">
            <a:avLst/>
          </a:prstGeom>
          <a:noFill/>
        </p:spPr>
        <p:txBody>
          <a:bodyPr wrap="square">
            <a:spAutoFit/>
          </a:bodyPr>
          <a:lstStyle/>
          <a:p>
            <a:pPr algn="l"/>
            <a:r>
              <a:rPr sz="2800" b="0" i="1">
                <a:solidFill>
                  <a:srgbClr val="FFFFFF"/>
                </a:solidFill>
                <a:latin typeface="Georgia"/>
              </a:rPr>
              <a:t>04</a:t>
            </a:r>
          </a:p>
        </p:txBody>
      </p:sp>
      <p:sp>
        <p:nvSpPr>
          <p:cNvPr id="24" name="TextBox 23"/>
          <p:cNvSpPr txBox="1"/>
          <p:nvPr/>
        </p:nvSpPr>
        <p:spPr>
          <a:xfrm>
            <a:off x="1878058" y="4018264"/>
            <a:ext cx="1828800" cy="256032"/>
          </a:xfrm>
          <a:prstGeom prst="rect">
            <a:avLst/>
          </a:prstGeom>
          <a:noFill/>
        </p:spPr>
        <p:txBody>
          <a:bodyPr wrap="square">
            <a:spAutoFit/>
          </a:bodyPr>
          <a:lstStyle/>
          <a:p>
            <a:pPr algn="l"/>
            <a:r>
              <a:rPr sz="1400" b="1" i="0">
                <a:solidFill>
                  <a:srgbClr val="FFFFFF"/>
                </a:solidFill>
                <a:latin typeface="Calibri"/>
              </a:rPr>
              <a:t>CONVERSION</a:t>
            </a:r>
          </a:p>
        </p:txBody>
      </p:sp>
      <p:sp>
        <p:nvSpPr>
          <p:cNvPr id="25" name="TextBox 24"/>
          <p:cNvSpPr txBox="1"/>
          <p:nvPr/>
        </p:nvSpPr>
        <p:spPr>
          <a:xfrm>
            <a:off x="1878058" y="4274296"/>
            <a:ext cx="2286000" cy="228600"/>
          </a:xfrm>
          <a:prstGeom prst="rect">
            <a:avLst/>
          </a:prstGeom>
          <a:noFill/>
        </p:spPr>
        <p:txBody>
          <a:bodyPr wrap="square">
            <a:spAutoFit/>
          </a:bodyPr>
          <a:lstStyle/>
          <a:p>
            <a:pPr algn="l"/>
            <a:r>
              <a:rPr sz="800" b="0" i="0">
                <a:solidFill>
                  <a:srgbClr val="C0C0FF"/>
                </a:solidFill>
                <a:latin typeface="Courier New"/>
              </a:rPr>
              <a:t>WhatsApp + Broker contact</a:t>
            </a:r>
          </a:p>
        </p:txBody>
      </p:sp>
      <p:sp>
        <p:nvSpPr>
          <p:cNvPr id="26" name="TextBox 25"/>
          <p:cNvSpPr txBox="1"/>
          <p:nvPr/>
        </p:nvSpPr>
        <p:spPr>
          <a:xfrm>
            <a:off x="4392658" y="4091416"/>
            <a:ext cx="6917674" cy="329184"/>
          </a:xfrm>
          <a:prstGeom prst="rect">
            <a:avLst/>
          </a:prstGeom>
          <a:noFill/>
        </p:spPr>
        <p:txBody>
          <a:bodyPr wrap="square">
            <a:spAutoFit/>
          </a:bodyPr>
          <a:lstStyle/>
          <a:p>
            <a:pPr algn="l"/>
            <a:r>
              <a:rPr sz="1200" b="0" i="0">
                <a:solidFill>
                  <a:srgbClr val="E0E0FF"/>
                </a:solidFill>
                <a:latin typeface="Calibri"/>
              </a:rPr>
              <a:t>Move the conversation into a quote</a:t>
            </a:r>
          </a:p>
        </p:txBody>
      </p:sp>
      <p:sp>
        <p:nvSpPr>
          <p:cNvPr id="27" name="Rectangle 26"/>
          <p:cNvSpPr/>
          <p:nvPr/>
        </p:nvSpPr>
        <p:spPr>
          <a:xfrm>
            <a:off x="1356850" y="4566904"/>
            <a:ext cx="10136362" cy="621792"/>
          </a:xfrm>
          <a:prstGeom prst="rect">
            <a:avLst/>
          </a:prstGeom>
          <a:solidFill>
            <a:srgbClr val="8B0A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94010" y="4731496"/>
            <a:ext cx="457200" cy="347472"/>
          </a:xfrm>
          <a:prstGeom prst="rect">
            <a:avLst/>
          </a:prstGeom>
          <a:noFill/>
        </p:spPr>
        <p:txBody>
          <a:bodyPr wrap="square">
            <a:spAutoFit/>
          </a:bodyPr>
          <a:lstStyle/>
          <a:p>
            <a:pPr algn="l"/>
            <a:r>
              <a:rPr sz="2800" b="0" i="1">
                <a:solidFill>
                  <a:srgbClr val="FFFFFF"/>
                </a:solidFill>
                <a:latin typeface="Georgia"/>
              </a:rPr>
              <a:t>05</a:t>
            </a:r>
          </a:p>
        </p:txBody>
      </p:sp>
      <p:sp>
        <p:nvSpPr>
          <p:cNvPr id="29" name="TextBox 28"/>
          <p:cNvSpPr txBox="1"/>
          <p:nvPr/>
        </p:nvSpPr>
        <p:spPr>
          <a:xfrm>
            <a:off x="2042650" y="4676632"/>
            <a:ext cx="1828800" cy="256032"/>
          </a:xfrm>
          <a:prstGeom prst="rect">
            <a:avLst/>
          </a:prstGeom>
          <a:noFill/>
        </p:spPr>
        <p:txBody>
          <a:bodyPr wrap="square">
            <a:spAutoFit/>
          </a:bodyPr>
          <a:lstStyle/>
          <a:p>
            <a:pPr algn="l"/>
            <a:r>
              <a:rPr sz="1400" b="1" i="0">
                <a:solidFill>
                  <a:srgbClr val="FFFFFF"/>
                </a:solidFill>
                <a:latin typeface="Calibri"/>
              </a:rPr>
              <a:t>RETENTION</a:t>
            </a:r>
          </a:p>
        </p:txBody>
      </p:sp>
      <p:sp>
        <p:nvSpPr>
          <p:cNvPr id="30" name="TextBox 29"/>
          <p:cNvSpPr txBox="1"/>
          <p:nvPr/>
        </p:nvSpPr>
        <p:spPr>
          <a:xfrm>
            <a:off x="2042650" y="4932664"/>
            <a:ext cx="2286000" cy="228600"/>
          </a:xfrm>
          <a:prstGeom prst="rect">
            <a:avLst/>
          </a:prstGeom>
          <a:noFill/>
        </p:spPr>
        <p:txBody>
          <a:bodyPr wrap="square">
            <a:spAutoFit/>
          </a:bodyPr>
          <a:lstStyle/>
          <a:p>
            <a:pPr algn="l"/>
            <a:r>
              <a:rPr sz="800" b="0" i="0">
                <a:solidFill>
                  <a:srgbClr val="C0C0FF"/>
                </a:solidFill>
                <a:latin typeface="Courier New"/>
              </a:rPr>
              <a:t>CRM + Broadcast + Referrals</a:t>
            </a:r>
          </a:p>
        </p:txBody>
      </p:sp>
      <p:sp>
        <p:nvSpPr>
          <p:cNvPr id="31" name="TextBox 30"/>
          <p:cNvSpPr txBox="1"/>
          <p:nvPr/>
        </p:nvSpPr>
        <p:spPr>
          <a:xfrm>
            <a:off x="4557250" y="4749784"/>
            <a:ext cx="6753082" cy="329184"/>
          </a:xfrm>
          <a:prstGeom prst="rect">
            <a:avLst/>
          </a:prstGeom>
          <a:noFill/>
        </p:spPr>
        <p:txBody>
          <a:bodyPr wrap="square">
            <a:spAutoFit/>
          </a:bodyPr>
          <a:lstStyle/>
          <a:p>
            <a:pPr algn="l"/>
            <a:r>
              <a:rPr sz="1200" b="0" i="0">
                <a:solidFill>
                  <a:srgbClr val="E0E0FF"/>
                </a:solidFill>
                <a:latin typeface="Calibri"/>
              </a:rPr>
              <a:t>Turn one client into many</a:t>
            </a:r>
          </a:p>
        </p:txBody>
      </p:sp>
      <p:cxnSp>
        <p:nvCxnSpPr>
          <p:cNvPr id="32" name="Connector 31"/>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34" name="TextBox 33"/>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13 / 24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Plan · 02</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EACH CHANNEL DOES ONE JOB</a:t>
            </a:r>
          </a:p>
        </p:txBody>
      </p:sp>
      <p:sp>
        <p:nvSpPr>
          <p:cNvPr id="6" name="TextBox 5"/>
          <p:cNvSpPr txBox="1"/>
          <p:nvPr/>
        </p:nvSpPr>
        <p:spPr>
          <a:xfrm>
            <a:off x="698482" y="982456"/>
            <a:ext cx="10794730" cy="548640"/>
          </a:xfrm>
          <a:prstGeom prst="rect">
            <a:avLst/>
          </a:prstGeom>
          <a:noFill/>
        </p:spPr>
        <p:txBody>
          <a:bodyPr wrap="square">
            <a:spAutoFit/>
          </a:bodyPr>
          <a:lstStyle/>
          <a:p>
            <a:pPr algn="l"/>
            <a:r>
              <a:rPr sz="3600" b="0" i="1">
                <a:solidFill>
                  <a:srgbClr val="15152A"/>
                </a:solidFill>
                <a:latin typeface="Georgia"/>
              </a:rPr>
              <a:t>No channel does everything. Each does one thing for the funnel.</a:t>
            </a:r>
          </a:p>
        </p:txBody>
      </p:sp>
      <p:sp>
        <p:nvSpPr>
          <p:cNvPr id="7" name="Rectangle 6"/>
          <p:cNvSpPr/>
          <p:nvPr/>
        </p:nvSpPr>
        <p:spPr>
          <a:xfrm>
            <a:off x="698482" y="1713976"/>
            <a:ext cx="2607242" cy="416052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8482" y="1713976"/>
            <a:ext cx="2607242" cy="54864"/>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1362" y="1878568"/>
            <a:ext cx="2287202" cy="228600"/>
          </a:xfrm>
          <a:prstGeom prst="rect">
            <a:avLst/>
          </a:prstGeom>
          <a:noFill/>
        </p:spPr>
        <p:txBody>
          <a:bodyPr wrap="square">
            <a:spAutoFit/>
          </a:bodyPr>
          <a:lstStyle/>
          <a:p>
            <a:pPr algn="l"/>
            <a:r>
              <a:rPr sz="750" b="0" i="0">
                <a:solidFill>
                  <a:srgbClr val="5B5B6E"/>
                </a:solidFill>
                <a:latin typeface="Courier New"/>
              </a:rPr>
              <a:t>B2B · DECISION-MAKERS</a:t>
            </a:r>
          </a:p>
        </p:txBody>
      </p:sp>
      <p:sp>
        <p:nvSpPr>
          <p:cNvPr id="10" name="TextBox 9"/>
          <p:cNvSpPr txBox="1"/>
          <p:nvPr/>
        </p:nvSpPr>
        <p:spPr>
          <a:xfrm>
            <a:off x="881362" y="2125456"/>
            <a:ext cx="2287202" cy="594360"/>
          </a:xfrm>
          <a:prstGeom prst="rect">
            <a:avLst/>
          </a:prstGeom>
          <a:noFill/>
        </p:spPr>
        <p:txBody>
          <a:bodyPr wrap="square">
            <a:spAutoFit/>
          </a:bodyPr>
          <a:lstStyle/>
          <a:p>
            <a:pPr algn="l"/>
            <a:r>
              <a:rPr sz="2800" b="0" i="1">
                <a:solidFill>
                  <a:srgbClr val="15152A"/>
                </a:solidFill>
                <a:latin typeface="Georgia"/>
              </a:rPr>
              <a:t>LinkedIn</a:t>
            </a:r>
          </a:p>
        </p:txBody>
      </p:sp>
      <p:sp>
        <p:nvSpPr>
          <p:cNvPr id="11" name="TextBox 10"/>
          <p:cNvSpPr txBox="1"/>
          <p:nvPr/>
        </p:nvSpPr>
        <p:spPr>
          <a:xfrm>
            <a:off x="881362" y="2765536"/>
            <a:ext cx="2287202" cy="502920"/>
          </a:xfrm>
          <a:prstGeom prst="rect">
            <a:avLst/>
          </a:prstGeom>
          <a:noFill/>
        </p:spPr>
        <p:txBody>
          <a:bodyPr wrap="square">
            <a:spAutoFit/>
          </a:bodyPr>
          <a:lstStyle/>
          <a:p>
            <a:pPr algn="l"/>
            <a:r>
              <a:rPr sz="1150" b="1" i="0">
                <a:solidFill>
                  <a:srgbClr val="15152A"/>
                </a:solidFill>
                <a:latin typeface="Calibri"/>
              </a:rPr>
              <a:t>Gets in front of the person who signs the contract.</a:t>
            </a:r>
          </a:p>
        </p:txBody>
      </p:sp>
      <p:sp>
        <p:nvSpPr>
          <p:cNvPr id="12" name="TextBox 11"/>
          <p:cNvSpPr txBox="1"/>
          <p:nvPr/>
        </p:nvSpPr>
        <p:spPr>
          <a:xfrm>
            <a:off x="881362" y="3286744"/>
            <a:ext cx="2287202" cy="1417320"/>
          </a:xfrm>
          <a:prstGeom prst="rect">
            <a:avLst/>
          </a:prstGeom>
          <a:noFill/>
        </p:spPr>
        <p:txBody>
          <a:bodyPr wrap="square">
            <a:spAutoFit/>
          </a:bodyPr>
          <a:lstStyle/>
          <a:p>
            <a:pPr algn="l"/>
            <a:r>
              <a:rPr sz="1050" b="0" i="0">
                <a:solidFill>
                  <a:srgbClr val="5B5B6E"/>
                </a:solidFill>
                <a:latin typeface="Calibri"/>
              </a:rPr>
              <a:t>Targets HR Managers, CFOs and Founders by job title, industry and company size in Lusaka.</a:t>
            </a:r>
          </a:p>
        </p:txBody>
      </p:sp>
      <p:sp>
        <p:nvSpPr>
          <p:cNvPr id="13" name="TextBox 12"/>
          <p:cNvSpPr txBox="1"/>
          <p:nvPr/>
        </p:nvSpPr>
        <p:spPr>
          <a:xfrm>
            <a:off x="881362" y="4841224"/>
            <a:ext cx="2287202" cy="566928"/>
          </a:xfrm>
          <a:prstGeom prst="rect">
            <a:avLst/>
          </a:prstGeom>
          <a:noFill/>
        </p:spPr>
        <p:txBody>
          <a:bodyPr wrap="square">
            <a:spAutoFit/>
          </a:bodyPr>
          <a:lstStyle/>
          <a:p>
            <a:pPr algn="l"/>
            <a:r>
              <a:rPr sz="4200" b="0" i="0">
                <a:solidFill>
                  <a:srgbClr val="0A006E"/>
                </a:solidFill>
                <a:latin typeface="Georgia"/>
              </a:rPr>
              <a:t>4–8</a:t>
            </a:r>
          </a:p>
        </p:txBody>
      </p:sp>
      <p:sp>
        <p:nvSpPr>
          <p:cNvPr id="14" name="TextBox 13"/>
          <p:cNvSpPr txBox="1"/>
          <p:nvPr/>
        </p:nvSpPr>
        <p:spPr>
          <a:xfrm>
            <a:off x="881362" y="5417296"/>
            <a:ext cx="2287202" cy="256032"/>
          </a:xfrm>
          <a:prstGeom prst="rect">
            <a:avLst/>
          </a:prstGeom>
          <a:noFill/>
        </p:spPr>
        <p:txBody>
          <a:bodyPr wrap="square">
            <a:spAutoFit/>
          </a:bodyPr>
          <a:lstStyle/>
          <a:p>
            <a:pPr algn="l"/>
            <a:r>
              <a:rPr sz="700" b="0" i="0">
                <a:solidFill>
                  <a:srgbClr val="5B5B6E"/>
                </a:solidFill>
                <a:latin typeface="Courier New"/>
              </a:rPr>
              <a:t>LEADS / MO BY M6</a:t>
            </a:r>
          </a:p>
        </p:txBody>
      </p:sp>
      <p:sp>
        <p:nvSpPr>
          <p:cNvPr id="15" name="Rectangle 14"/>
          <p:cNvSpPr/>
          <p:nvPr/>
        </p:nvSpPr>
        <p:spPr>
          <a:xfrm>
            <a:off x="3424597" y="1713976"/>
            <a:ext cx="2607242" cy="416052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24597" y="1713976"/>
            <a:ext cx="2607242" cy="54864"/>
          </a:xfrm>
          <a:prstGeom prst="rect">
            <a:avLst/>
          </a:prstGeom>
          <a:solidFill>
            <a:srgbClr val="C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477" y="1878568"/>
            <a:ext cx="2287202" cy="228600"/>
          </a:xfrm>
          <a:prstGeom prst="rect">
            <a:avLst/>
          </a:prstGeom>
          <a:noFill/>
        </p:spPr>
        <p:txBody>
          <a:bodyPr wrap="square">
            <a:spAutoFit/>
          </a:bodyPr>
          <a:lstStyle/>
          <a:p>
            <a:pPr algn="l"/>
            <a:r>
              <a:rPr sz="750" b="0" i="0">
                <a:solidFill>
                  <a:srgbClr val="5B5B6E"/>
                </a:solidFill>
                <a:latin typeface="Courier New"/>
              </a:rPr>
              <a:t>RETAIL · SME · TRUST</a:t>
            </a:r>
          </a:p>
        </p:txBody>
      </p:sp>
      <p:sp>
        <p:nvSpPr>
          <p:cNvPr id="18" name="TextBox 17"/>
          <p:cNvSpPr txBox="1"/>
          <p:nvPr/>
        </p:nvSpPr>
        <p:spPr>
          <a:xfrm>
            <a:off x="3607477" y="2125456"/>
            <a:ext cx="2287202" cy="594360"/>
          </a:xfrm>
          <a:prstGeom prst="rect">
            <a:avLst/>
          </a:prstGeom>
          <a:noFill/>
        </p:spPr>
        <p:txBody>
          <a:bodyPr wrap="square">
            <a:spAutoFit/>
          </a:bodyPr>
          <a:lstStyle/>
          <a:p>
            <a:pPr algn="l"/>
            <a:r>
              <a:rPr sz="2800" b="0" i="1">
                <a:solidFill>
                  <a:srgbClr val="15152A"/>
                </a:solidFill>
                <a:latin typeface="Georgia"/>
              </a:rPr>
              <a:t>Facebook &amp; Instagram</a:t>
            </a:r>
          </a:p>
        </p:txBody>
      </p:sp>
      <p:sp>
        <p:nvSpPr>
          <p:cNvPr id="19" name="TextBox 18"/>
          <p:cNvSpPr txBox="1"/>
          <p:nvPr/>
        </p:nvSpPr>
        <p:spPr>
          <a:xfrm>
            <a:off x="3607477" y="2765536"/>
            <a:ext cx="2287202" cy="502920"/>
          </a:xfrm>
          <a:prstGeom prst="rect">
            <a:avLst/>
          </a:prstGeom>
          <a:noFill/>
        </p:spPr>
        <p:txBody>
          <a:bodyPr wrap="square">
            <a:spAutoFit/>
          </a:bodyPr>
          <a:lstStyle/>
          <a:p>
            <a:pPr algn="l"/>
            <a:r>
              <a:rPr sz="1150" b="1" i="0">
                <a:solidFill>
                  <a:srgbClr val="15152A"/>
                </a:solidFill>
                <a:latin typeface="Calibri"/>
              </a:rPr>
              <a:t>Builds the audience that warms before it buys.</a:t>
            </a:r>
          </a:p>
        </p:txBody>
      </p:sp>
      <p:sp>
        <p:nvSpPr>
          <p:cNvPr id="20" name="TextBox 19"/>
          <p:cNvSpPr txBox="1"/>
          <p:nvPr/>
        </p:nvSpPr>
        <p:spPr>
          <a:xfrm>
            <a:off x="3607477" y="3286744"/>
            <a:ext cx="2287202" cy="1417320"/>
          </a:xfrm>
          <a:prstGeom prst="rect">
            <a:avLst/>
          </a:prstGeom>
          <a:noFill/>
        </p:spPr>
        <p:txBody>
          <a:bodyPr wrap="square">
            <a:spAutoFit/>
          </a:bodyPr>
          <a:lstStyle/>
          <a:p>
            <a:pPr algn="l"/>
            <a:r>
              <a:rPr sz="1050" b="0" i="0">
                <a:solidFill>
                  <a:srgbClr val="5B5B6E"/>
                </a:solidFill>
                <a:latin typeface="Calibri"/>
              </a:rPr>
              <a:t>Reaches working Lusaka aged 25–50. Long-form trust on Facebook. Visual credibility on Instagram.</a:t>
            </a:r>
          </a:p>
        </p:txBody>
      </p:sp>
      <p:sp>
        <p:nvSpPr>
          <p:cNvPr id="21" name="TextBox 20"/>
          <p:cNvSpPr txBox="1"/>
          <p:nvPr/>
        </p:nvSpPr>
        <p:spPr>
          <a:xfrm>
            <a:off x="3607477" y="4841224"/>
            <a:ext cx="2287202" cy="566928"/>
          </a:xfrm>
          <a:prstGeom prst="rect">
            <a:avLst/>
          </a:prstGeom>
          <a:noFill/>
        </p:spPr>
        <p:txBody>
          <a:bodyPr wrap="square">
            <a:spAutoFit/>
          </a:bodyPr>
          <a:lstStyle/>
          <a:p>
            <a:pPr algn="l"/>
            <a:r>
              <a:rPr sz="4200" b="0" i="0">
                <a:solidFill>
                  <a:srgbClr val="C8121E"/>
                </a:solidFill>
                <a:latin typeface="Georgia"/>
              </a:rPr>
              <a:t>10–20</a:t>
            </a:r>
          </a:p>
        </p:txBody>
      </p:sp>
      <p:sp>
        <p:nvSpPr>
          <p:cNvPr id="22" name="TextBox 21"/>
          <p:cNvSpPr txBox="1"/>
          <p:nvPr/>
        </p:nvSpPr>
        <p:spPr>
          <a:xfrm>
            <a:off x="3607477" y="5417296"/>
            <a:ext cx="2287202" cy="256032"/>
          </a:xfrm>
          <a:prstGeom prst="rect">
            <a:avLst/>
          </a:prstGeom>
          <a:noFill/>
        </p:spPr>
        <p:txBody>
          <a:bodyPr wrap="square">
            <a:spAutoFit/>
          </a:bodyPr>
          <a:lstStyle/>
          <a:p>
            <a:pPr algn="l"/>
            <a:r>
              <a:rPr sz="700" b="0" i="0">
                <a:solidFill>
                  <a:srgbClr val="5B5B6E"/>
                </a:solidFill>
                <a:latin typeface="Courier New"/>
              </a:rPr>
              <a:t>LEADS / MO BY M6</a:t>
            </a:r>
          </a:p>
        </p:txBody>
      </p:sp>
      <p:sp>
        <p:nvSpPr>
          <p:cNvPr id="23" name="Rectangle 22"/>
          <p:cNvSpPr/>
          <p:nvPr/>
        </p:nvSpPr>
        <p:spPr>
          <a:xfrm>
            <a:off x="6150711" y="1713976"/>
            <a:ext cx="2607242" cy="416052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50711" y="1713976"/>
            <a:ext cx="2607242" cy="54864"/>
          </a:xfrm>
          <a:prstGeom prst="rect">
            <a:avLst/>
          </a:prstGeom>
          <a:solidFill>
            <a:srgbClr val="2750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33591" y="1878568"/>
            <a:ext cx="2287202" cy="228600"/>
          </a:xfrm>
          <a:prstGeom prst="rect">
            <a:avLst/>
          </a:prstGeom>
          <a:noFill/>
        </p:spPr>
        <p:txBody>
          <a:bodyPr wrap="square">
            <a:spAutoFit/>
          </a:bodyPr>
          <a:lstStyle/>
          <a:p>
            <a:pPr algn="l"/>
            <a:r>
              <a:rPr sz="750" b="0" i="0">
                <a:solidFill>
                  <a:srgbClr val="5B5B6E"/>
                </a:solidFill>
                <a:latin typeface="Courier New"/>
              </a:rPr>
              <a:t>INTENT · CAPTURE</a:t>
            </a:r>
          </a:p>
        </p:txBody>
      </p:sp>
      <p:sp>
        <p:nvSpPr>
          <p:cNvPr id="26" name="TextBox 25"/>
          <p:cNvSpPr txBox="1"/>
          <p:nvPr/>
        </p:nvSpPr>
        <p:spPr>
          <a:xfrm>
            <a:off x="6333591" y="2125456"/>
            <a:ext cx="2287202" cy="594360"/>
          </a:xfrm>
          <a:prstGeom prst="rect">
            <a:avLst/>
          </a:prstGeom>
          <a:noFill/>
        </p:spPr>
        <p:txBody>
          <a:bodyPr wrap="square">
            <a:spAutoFit/>
          </a:bodyPr>
          <a:lstStyle/>
          <a:p>
            <a:pPr algn="l"/>
            <a:r>
              <a:rPr sz="2800" b="0" i="1">
                <a:solidFill>
                  <a:srgbClr val="15152A"/>
                </a:solidFill>
                <a:latin typeface="Georgia"/>
              </a:rPr>
              <a:t>Google</a:t>
            </a:r>
          </a:p>
        </p:txBody>
      </p:sp>
      <p:sp>
        <p:nvSpPr>
          <p:cNvPr id="27" name="TextBox 26"/>
          <p:cNvSpPr txBox="1"/>
          <p:nvPr/>
        </p:nvSpPr>
        <p:spPr>
          <a:xfrm>
            <a:off x="6333591" y="2765536"/>
            <a:ext cx="2287202" cy="502920"/>
          </a:xfrm>
          <a:prstGeom prst="rect">
            <a:avLst/>
          </a:prstGeom>
          <a:noFill/>
        </p:spPr>
        <p:txBody>
          <a:bodyPr wrap="square">
            <a:spAutoFit/>
          </a:bodyPr>
          <a:lstStyle/>
          <a:p>
            <a:pPr algn="l"/>
            <a:r>
              <a:rPr sz="1150" b="1" i="0">
                <a:solidFill>
                  <a:srgbClr val="15152A"/>
                </a:solidFill>
                <a:latin typeface="Calibri"/>
              </a:rPr>
              <a:t>Catches the person who is already looking.</a:t>
            </a:r>
          </a:p>
        </p:txBody>
      </p:sp>
      <p:sp>
        <p:nvSpPr>
          <p:cNvPr id="28" name="TextBox 27"/>
          <p:cNvSpPr txBox="1"/>
          <p:nvPr/>
        </p:nvSpPr>
        <p:spPr>
          <a:xfrm>
            <a:off x="6333591" y="3286744"/>
            <a:ext cx="2287202" cy="1417320"/>
          </a:xfrm>
          <a:prstGeom prst="rect">
            <a:avLst/>
          </a:prstGeom>
          <a:noFill/>
        </p:spPr>
        <p:txBody>
          <a:bodyPr wrap="square">
            <a:spAutoFit/>
          </a:bodyPr>
          <a:lstStyle/>
          <a:p>
            <a:pPr algn="l"/>
            <a:r>
              <a:rPr sz="1050" b="0" i="0">
                <a:solidFill>
                  <a:srgbClr val="5B5B6E"/>
                </a:solidFill>
                <a:latin typeface="Calibri"/>
              </a:rPr>
              <a:t>Three campaigns: broker intent, product intent, problem-aware. Lowest volume, highest conversion.</a:t>
            </a:r>
          </a:p>
        </p:txBody>
      </p:sp>
      <p:sp>
        <p:nvSpPr>
          <p:cNvPr id="29" name="TextBox 28"/>
          <p:cNvSpPr txBox="1"/>
          <p:nvPr/>
        </p:nvSpPr>
        <p:spPr>
          <a:xfrm>
            <a:off x="6333591" y="4841224"/>
            <a:ext cx="2287202" cy="566928"/>
          </a:xfrm>
          <a:prstGeom prst="rect">
            <a:avLst/>
          </a:prstGeom>
          <a:noFill/>
        </p:spPr>
        <p:txBody>
          <a:bodyPr wrap="square">
            <a:spAutoFit/>
          </a:bodyPr>
          <a:lstStyle/>
          <a:p>
            <a:pPr algn="l"/>
            <a:r>
              <a:rPr sz="4200" b="0" i="0">
                <a:solidFill>
                  <a:srgbClr val="27500A"/>
                </a:solidFill>
                <a:latin typeface="Georgia"/>
              </a:rPr>
              <a:t>3–6</a:t>
            </a:r>
          </a:p>
        </p:txBody>
      </p:sp>
      <p:sp>
        <p:nvSpPr>
          <p:cNvPr id="30" name="TextBox 29"/>
          <p:cNvSpPr txBox="1"/>
          <p:nvPr/>
        </p:nvSpPr>
        <p:spPr>
          <a:xfrm>
            <a:off x="6333591" y="5417296"/>
            <a:ext cx="2287202" cy="256032"/>
          </a:xfrm>
          <a:prstGeom prst="rect">
            <a:avLst/>
          </a:prstGeom>
          <a:noFill/>
        </p:spPr>
        <p:txBody>
          <a:bodyPr wrap="square">
            <a:spAutoFit/>
          </a:bodyPr>
          <a:lstStyle/>
          <a:p>
            <a:pPr algn="l"/>
            <a:r>
              <a:rPr sz="700" b="0" i="0">
                <a:solidFill>
                  <a:srgbClr val="5B5B6E"/>
                </a:solidFill>
                <a:latin typeface="Courier New"/>
              </a:rPr>
              <a:t>ENQUIRIES / MO BY M6</a:t>
            </a:r>
          </a:p>
        </p:txBody>
      </p:sp>
      <p:sp>
        <p:nvSpPr>
          <p:cNvPr id="31" name="Rectangle 30"/>
          <p:cNvSpPr/>
          <p:nvPr/>
        </p:nvSpPr>
        <p:spPr>
          <a:xfrm>
            <a:off x="8876826" y="1713976"/>
            <a:ext cx="2607242" cy="416052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876826" y="1713976"/>
            <a:ext cx="2607242" cy="54864"/>
          </a:xfrm>
          <a:prstGeom prst="rect">
            <a:avLst/>
          </a:prstGeom>
          <a:solidFill>
            <a:srgbClr val="BA7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059706" y="1878568"/>
            <a:ext cx="2287202" cy="228600"/>
          </a:xfrm>
          <a:prstGeom prst="rect">
            <a:avLst/>
          </a:prstGeom>
          <a:noFill/>
        </p:spPr>
        <p:txBody>
          <a:bodyPr wrap="square">
            <a:spAutoFit/>
          </a:bodyPr>
          <a:lstStyle/>
          <a:p>
            <a:pPr algn="l"/>
            <a:r>
              <a:rPr sz="750" b="0" i="0">
                <a:solidFill>
                  <a:srgbClr val="5B5B6E"/>
                </a:solidFill>
                <a:latin typeface="Courier New"/>
              </a:rPr>
              <a:t>CONVERSION · THE CLOSE</a:t>
            </a:r>
          </a:p>
        </p:txBody>
      </p:sp>
      <p:sp>
        <p:nvSpPr>
          <p:cNvPr id="34" name="TextBox 33"/>
          <p:cNvSpPr txBox="1"/>
          <p:nvPr/>
        </p:nvSpPr>
        <p:spPr>
          <a:xfrm>
            <a:off x="9059706" y="2125456"/>
            <a:ext cx="2287202" cy="594360"/>
          </a:xfrm>
          <a:prstGeom prst="rect">
            <a:avLst/>
          </a:prstGeom>
          <a:noFill/>
        </p:spPr>
        <p:txBody>
          <a:bodyPr wrap="square">
            <a:spAutoFit/>
          </a:bodyPr>
          <a:lstStyle/>
          <a:p>
            <a:pPr algn="l"/>
            <a:r>
              <a:rPr sz="2800" b="0" i="1">
                <a:solidFill>
                  <a:srgbClr val="15152A"/>
                </a:solidFill>
                <a:latin typeface="Georgia"/>
              </a:rPr>
              <a:t>WhatsApp</a:t>
            </a:r>
          </a:p>
        </p:txBody>
      </p:sp>
      <p:sp>
        <p:nvSpPr>
          <p:cNvPr id="35" name="TextBox 34"/>
          <p:cNvSpPr txBox="1"/>
          <p:nvPr/>
        </p:nvSpPr>
        <p:spPr>
          <a:xfrm>
            <a:off x="9059706" y="2765536"/>
            <a:ext cx="2287202" cy="502920"/>
          </a:xfrm>
          <a:prstGeom prst="rect">
            <a:avLst/>
          </a:prstGeom>
          <a:noFill/>
        </p:spPr>
        <p:txBody>
          <a:bodyPr wrap="square">
            <a:spAutoFit/>
          </a:bodyPr>
          <a:lstStyle/>
          <a:p>
            <a:pPr algn="l"/>
            <a:r>
              <a:rPr sz="1150" b="1" i="0">
                <a:solidFill>
                  <a:srgbClr val="15152A"/>
                </a:solidFill>
                <a:latin typeface="Calibri"/>
              </a:rPr>
              <a:t>Where the quote becomes a policy.</a:t>
            </a:r>
          </a:p>
        </p:txBody>
      </p:sp>
      <p:sp>
        <p:nvSpPr>
          <p:cNvPr id="36" name="TextBox 35"/>
          <p:cNvSpPr txBox="1"/>
          <p:nvPr/>
        </p:nvSpPr>
        <p:spPr>
          <a:xfrm>
            <a:off x="9059706" y="3286744"/>
            <a:ext cx="2287202" cy="1417320"/>
          </a:xfrm>
          <a:prstGeom prst="rect">
            <a:avLst/>
          </a:prstGeom>
          <a:noFill/>
        </p:spPr>
        <p:txBody>
          <a:bodyPr wrap="square">
            <a:spAutoFit/>
          </a:bodyPr>
          <a:lstStyle/>
          <a:p>
            <a:pPr algn="l"/>
            <a:r>
              <a:rPr sz="1050" b="0" i="0">
                <a:solidFill>
                  <a:srgbClr val="5B5B6E"/>
                </a:solidFill>
                <a:latin typeface="Calibri"/>
              </a:rPr>
              <a:t>Every other channel exists to move someone here. 98% open rate. 22-day nurture sequence.</a:t>
            </a:r>
          </a:p>
        </p:txBody>
      </p:sp>
      <p:sp>
        <p:nvSpPr>
          <p:cNvPr id="37" name="TextBox 36"/>
          <p:cNvSpPr txBox="1"/>
          <p:nvPr/>
        </p:nvSpPr>
        <p:spPr>
          <a:xfrm>
            <a:off x="9059706" y="4841224"/>
            <a:ext cx="2287202" cy="566928"/>
          </a:xfrm>
          <a:prstGeom prst="rect">
            <a:avLst/>
          </a:prstGeom>
          <a:noFill/>
        </p:spPr>
        <p:txBody>
          <a:bodyPr wrap="square">
            <a:spAutoFit/>
          </a:bodyPr>
          <a:lstStyle/>
          <a:p>
            <a:pPr algn="l"/>
            <a:r>
              <a:rPr sz="4200" b="0" i="0">
                <a:solidFill>
                  <a:srgbClr val="BA7517"/>
                </a:solidFill>
                <a:latin typeface="Georgia"/>
              </a:rPr>
              <a:t>300+</a:t>
            </a:r>
          </a:p>
        </p:txBody>
      </p:sp>
      <p:sp>
        <p:nvSpPr>
          <p:cNvPr id="38" name="TextBox 37"/>
          <p:cNvSpPr txBox="1"/>
          <p:nvPr/>
        </p:nvSpPr>
        <p:spPr>
          <a:xfrm>
            <a:off x="9059706" y="5417296"/>
            <a:ext cx="2287202" cy="256032"/>
          </a:xfrm>
          <a:prstGeom prst="rect">
            <a:avLst/>
          </a:prstGeom>
          <a:noFill/>
        </p:spPr>
        <p:txBody>
          <a:bodyPr wrap="square">
            <a:spAutoFit/>
          </a:bodyPr>
          <a:lstStyle/>
          <a:p>
            <a:pPr algn="l"/>
            <a:r>
              <a:rPr sz="700" b="0" i="0">
                <a:solidFill>
                  <a:srgbClr val="5B5B6E"/>
                </a:solidFill>
                <a:latin typeface="Courier New"/>
              </a:rPr>
              <a:t>SUBSCRIBERS BY M6</a:t>
            </a:r>
          </a:p>
        </p:txBody>
      </p:sp>
      <p:cxnSp>
        <p:nvCxnSpPr>
          <p:cNvPr id="39" name="Connector 38"/>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41" name="TextBox 40"/>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14 / 24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CE7DC"/>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Plan · 03</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BEHAVIOURAL DESIGN, APPLIED AT EVERY INTERACTION</a:t>
            </a:r>
          </a:p>
        </p:txBody>
      </p:sp>
      <p:sp>
        <p:nvSpPr>
          <p:cNvPr id="6" name="TextBox 5"/>
          <p:cNvSpPr txBox="1"/>
          <p:nvPr/>
        </p:nvSpPr>
        <p:spPr>
          <a:xfrm>
            <a:off x="698482" y="982456"/>
            <a:ext cx="10794730" cy="822960"/>
          </a:xfrm>
          <a:prstGeom prst="rect">
            <a:avLst/>
          </a:prstGeom>
          <a:noFill/>
        </p:spPr>
        <p:txBody>
          <a:bodyPr wrap="square">
            <a:spAutoFit/>
          </a:bodyPr>
          <a:lstStyle/>
          <a:p>
            <a:pPr algn="l"/>
            <a:r>
              <a:rPr sz="3600" b="0" i="1">
                <a:solidFill>
                  <a:srgbClr val="15152A"/>
                </a:solidFill>
                <a:latin typeface="Georgia"/>
              </a:rPr>
              <a:t>Every touchpoint reduces resistance.
Every touchpoint increases action.</a:t>
            </a:r>
          </a:p>
        </p:txBody>
      </p:sp>
      <p:sp>
        <p:nvSpPr>
          <p:cNvPr id="7" name="Rectangle 6"/>
          <p:cNvSpPr/>
          <p:nvPr/>
        </p:nvSpPr>
        <p:spPr>
          <a:xfrm>
            <a:off x="698482" y="2024872"/>
            <a:ext cx="2067506" cy="3858768"/>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074" y="2189464"/>
            <a:ext cx="1793186" cy="594360"/>
          </a:xfrm>
          <a:prstGeom prst="rect">
            <a:avLst/>
          </a:prstGeom>
          <a:noFill/>
        </p:spPr>
        <p:txBody>
          <a:bodyPr wrap="square">
            <a:spAutoFit/>
          </a:bodyPr>
          <a:lstStyle/>
          <a:p>
            <a:pPr algn="l"/>
            <a:r>
              <a:rPr sz="4200" b="0" i="0">
                <a:solidFill>
                  <a:srgbClr val="C8121E"/>
                </a:solidFill>
                <a:latin typeface="Georgia"/>
              </a:rPr>
              <a:t>01</a:t>
            </a:r>
          </a:p>
        </p:txBody>
      </p:sp>
      <p:sp>
        <p:nvSpPr>
          <p:cNvPr id="9" name="TextBox 8"/>
          <p:cNvSpPr txBox="1"/>
          <p:nvPr/>
        </p:nvSpPr>
        <p:spPr>
          <a:xfrm>
            <a:off x="863074" y="2829544"/>
            <a:ext cx="1793186" cy="502920"/>
          </a:xfrm>
          <a:prstGeom prst="rect">
            <a:avLst/>
          </a:prstGeom>
          <a:noFill/>
        </p:spPr>
        <p:txBody>
          <a:bodyPr wrap="square">
            <a:spAutoFit/>
          </a:bodyPr>
          <a:lstStyle/>
          <a:p>
            <a:pPr algn="l"/>
            <a:r>
              <a:rPr sz="1800" b="0" i="0">
                <a:solidFill>
                  <a:srgbClr val="15152A"/>
                </a:solidFill>
                <a:latin typeface="Georgia"/>
              </a:rPr>
              <a:t>Loss Aversion</a:t>
            </a:r>
          </a:p>
        </p:txBody>
      </p:sp>
      <p:sp>
        <p:nvSpPr>
          <p:cNvPr id="10" name="TextBox 9"/>
          <p:cNvSpPr txBox="1"/>
          <p:nvPr/>
        </p:nvSpPr>
        <p:spPr>
          <a:xfrm>
            <a:off x="863074" y="3396472"/>
            <a:ext cx="1793186" cy="2286000"/>
          </a:xfrm>
          <a:prstGeom prst="rect">
            <a:avLst/>
          </a:prstGeom>
          <a:noFill/>
        </p:spPr>
        <p:txBody>
          <a:bodyPr wrap="square">
            <a:spAutoFit/>
          </a:bodyPr>
          <a:lstStyle/>
          <a:p>
            <a:pPr algn="l"/>
            <a:r>
              <a:rPr sz="1000" b="0" i="0">
                <a:solidFill>
                  <a:srgbClr val="5B5B6E"/>
                </a:solidFill>
                <a:latin typeface="Calibri"/>
              </a:rPr>
              <a:t>People are twice as motivated by avoiding a loss as gaining a benefit. Every headline leads with what is at stake — specific, local, vivid — before what is gained.</a:t>
            </a:r>
          </a:p>
        </p:txBody>
      </p:sp>
      <p:sp>
        <p:nvSpPr>
          <p:cNvPr id="11" name="Rectangle 10"/>
          <p:cNvSpPr/>
          <p:nvPr/>
        </p:nvSpPr>
        <p:spPr>
          <a:xfrm>
            <a:off x="2875716" y="2024872"/>
            <a:ext cx="2067506" cy="3858768"/>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40308" y="2189464"/>
            <a:ext cx="1793186" cy="594360"/>
          </a:xfrm>
          <a:prstGeom prst="rect">
            <a:avLst/>
          </a:prstGeom>
          <a:noFill/>
        </p:spPr>
        <p:txBody>
          <a:bodyPr wrap="square">
            <a:spAutoFit/>
          </a:bodyPr>
          <a:lstStyle/>
          <a:p>
            <a:pPr algn="l"/>
            <a:r>
              <a:rPr sz="4200" b="0" i="0">
                <a:solidFill>
                  <a:srgbClr val="C8121E"/>
                </a:solidFill>
                <a:latin typeface="Georgia"/>
              </a:rPr>
              <a:t>02</a:t>
            </a:r>
          </a:p>
        </p:txBody>
      </p:sp>
      <p:sp>
        <p:nvSpPr>
          <p:cNvPr id="13" name="TextBox 12"/>
          <p:cNvSpPr txBox="1"/>
          <p:nvPr/>
        </p:nvSpPr>
        <p:spPr>
          <a:xfrm>
            <a:off x="3040308" y="2829544"/>
            <a:ext cx="1793186" cy="502920"/>
          </a:xfrm>
          <a:prstGeom prst="rect">
            <a:avLst/>
          </a:prstGeom>
          <a:noFill/>
        </p:spPr>
        <p:txBody>
          <a:bodyPr wrap="square">
            <a:spAutoFit/>
          </a:bodyPr>
          <a:lstStyle/>
          <a:p>
            <a:pPr algn="l"/>
            <a:r>
              <a:rPr sz="1800" b="0" i="0">
                <a:solidFill>
                  <a:srgbClr val="15152A"/>
                </a:solidFill>
                <a:latin typeface="Georgia"/>
              </a:rPr>
              <a:t>Friction Reduction</a:t>
            </a:r>
          </a:p>
        </p:txBody>
      </p:sp>
      <p:sp>
        <p:nvSpPr>
          <p:cNvPr id="14" name="TextBox 13"/>
          <p:cNvSpPr txBox="1"/>
          <p:nvPr/>
        </p:nvSpPr>
        <p:spPr>
          <a:xfrm>
            <a:off x="3040308" y="3396472"/>
            <a:ext cx="1793186" cy="2286000"/>
          </a:xfrm>
          <a:prstGeom prst="rect">
            <a:avLst/>
          </a:prstGeom>
          <a:noFill/>
        </p:spPr>
        <p:txBody>
          <a:bodyPr wrap="square">
            <a:spAutoFit/>
          </a:bodyPr>
          <a:lstStyle/>
          <a:p>
            <a:pPr algn="l"/>
            <a:r>
              <a:rPr sz="1000" b="0" i="0">
                <a:solidFill>
                  <a:srgbClr val="5B5B6E"/>
                </a:solidFill>
                <a:latin typeface="Calibri"/>
              </a:rPr>
              <a:t>Four-field forms maximum. WhatsApp CTA on every page. LinkedIn Lead Gen pre-filled from profile. Every step reviewed: is anything here making the next move harder?</a:t>
            </a:r>
          </a:p>
        </p:txBody>
      </p:sp>
      <p:sp>
        <p:nvSpPr>
          <p:cNvPr id="15" name="Rectangle 14"/>
          <p:cNvSpPr/>
          <p:nvPr/>
        </p:nvSpPr>
        <p:spPr>
          <a:xfrm>
            <a:off x="5052950" y="2024872"/>
            <a:ext cx="2067506" cy="3858768"/>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7542" y="2189464"/>
            <a:ext cx="1793186" cy="594360"/>
          </a:xfrm>
          <a:prstGeom prst="rect">
            <a:avLst/>
          </a:prstGeom>
          <a:noFill/>
        </p:spPr>
        <p:txBody>
          <a:bodyPr wrap="square">
            <a:spAutoFit/>
          </a:bodyPr>
          <a:lstStyle/>
          <a:p>
            <a:pPr algn="l"/>
            <a:r>
              <a:rPr sz="4200" b="0" i="0">
                <a:solidFill>
                  <a:srgbClr val="C8121E"/>
                </a:solidFill>
                <a:latin typeface="Georgia"/>
              </a:rPr>
              <a:t>03</a:t>
            </a:r>
          </a:p>
        </p:txBody>
      </p:sp>
      <p:sp>
        <p:nvSpPr>
          <p:cNvPr id="17" name="TextBox 16"/>
          <p:cNvSpPr txBox="1"/>
          <p:nvPr/>
        </p:nvSpPr>
        <p:spPr>
          <a:xfrm>
            <a:off x="5217542" y="2829544"/>
            <a:ext cx="1793186" cy="502920"/>
          </a:xfrm>
          <a:prstGeom prst="rect">
            <a:avLst/>
          </a:prstGeom>
          <a:noFill/>
        </p:spPr>
        <p:txBody>
          <a:bodyPr wrap="square">
            <a:spAutoFit/>
          </a:bodyPr>
          <a:lstStyle/>
          <a:p>
            <a:pPr algn="l"/>
            <a:r>
              <a:rPr sz="1800" b="0" i="0">
                <a:solidFill>
                  <a:srgbClr val="15152A"/>
                </a:solidFill>
                <a:latin typeface="Georgia"/>
              </a:rPr>
              <a:t>Social Proof</a:t>
            </a:r>
          </a:p>
        </p:txBody>
      </p:sp>
      <p:sp>
        <p:nvSpPr>
          <p:cNvPr id="18" name="TextBox 17"/>
          <p:cNvSpPr txBox="1"/>
          <p:nvPr/>
        </p:nvSpPr>
        <p:spPr>
          <a:xfrm>
            <a:off x="5217542" y="3396472"/>
            <a:ext cx="1793186" cy="2286000"/>
          </a:xfrm>
          <a:prstGeom prst="rect">
            <a:avLst/>
          </a:prstGeom>
          <a:noFill/>
        </p:spPr>
        <p:txBody>
          <a:bodyPr wrap="square">
            <a:spAutoFit/>
          </a:bodyPr>
          <a:lstStyle/>
          <a:p>
            <a:pPr algn="l"/>
            <a:r>
              <a:rPr sz="1000" b="0" i="0">
                <a:solidFill>
                  <a:srgbClr val="5B5B6E"/>
                </a:solidFill>
                <a:latin typeface="Calibri"/>
              </a:rPr>
              <a:t>Every claims proof story has a name, a business type, a location, and a specific outcome. 'A Lusaka logistics company' beats 'a business in Zambia' every time.</a:t>
            </a:r>
          </a:p>
        </p:txBody>
      </p:sp>
      <p:sp>
        <p:nvSpPr>
          <p:cNvPr id="19" name="Rectangle 18"/>
          <p:cNvSpPr/>
          <p:nvPr/>
        </p:nvSpPr>
        <p:spPr>
          <a:xfrm>
            <a:off x="7230184" y="2024872"/>
            <a:ext cx="2067506" cy="3858768"/>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94776" y="2189464"/>
            <a:ext cx="1793186" cy="594360"/>
          </a:xfrm>
          <a:prstGeom prst="rect">
            <a:avLst/>
          </a:prstGeom>
          <a:noFill/>
        </p:spPr>
        <p:txBody>
          <a:bodyPr wrap="square">
            <a:spAutoFit/>
          </a:bodyPr>
          <a:lstStyle/>
          <a:p>
            <a:pPr algn="l"/>
            <a:r>
              <a:rPr sz="4200" b="0" i="0">
                <a:solidFill>
                  <a:srgbClr val="C8121E"/>
                </a:solidFill>
                <a:latin typeface="Georgia"/>
              </a:rPr>
              <a:t>04</a:t>
            </a:r>
          </a:p>
        </p:txBody>
      </p:sp>
      <p:sp>
        <p:nvSpPr>
          <p:cNvPr id="21" name="TextBox 20"/>
          <p:cNvSpPr txBox="1"/>
          <p:nvPr/>
        </p:nvSpPr>
        <p:spPr>
          <a:xfrm>
            <a:off x="7394776" y="2829544"/>
            <a:ext cx="1793186" cy="502920"/>
          </a:xfrm>
          <a:prstGeom prst="rect">
            <a:avLst/>
          </a:prstGeom>
          <a:noFill/>
        </p:spPr>
        <p:txBody>
          <a:bodyPr wrap="square">
            <a:spAutoFit/>
          </a:bodyPr>
          <a:lstStyle/>
          <a:p>
            <a:pPr algn="l"/>
            <a:r>
              <a:rPr sz="1800" b="0" i="0">
                <a:solidFill>
                  <a:srgbClr val="15152A"/>
                </a:solidFill>
                <a:latin typeface="Georgia"/>
              </a:rPr>
              <a:t>Trust Heuristics</a:t>
            </a:r>
          </a:p>
        </p:txBody>
      </p:sp>
      <p:sp>
        <p:nvSpPr>
          <p:cNvPr id="22" name="TextBox 21"/>
          <p:cNvSpPr txBox="1"/>
          <p:nvPr/>
        </p:nvSpPr>
        <p:spPr>
          <a:xfrm>
            <a:off x="7394776" y="3396472"/>
            <a:ext cx="1793186" cy="2286000"/>
          </a:xfrm>
          <a:prstGeom prst="rect">
            <a:avLst/>
          </a:prstGeom>
          <a:noFill/>
        </p:spPr>
        <p:txBody>
          <a:bodyPr wrap="square">
            <a:spAutoFit/>
          </a:bodyPr>
          <a:lstStyle/>
          <a:p>
            <a:pPr algn="l"/>
            <a:r>
              <a:rPr sz="1000" b="0" i="0">
                <a:solidFill>
                  <a:srgbClr val="5B5B6E"/>
                </a:solidFill>
                <a:latin typeface="Calibri"/>
              </a:rPr>
              <a:t>Named brokers, PIA licensing visible, consistent identity, SLA-fast response. People evaluate trust proxies because they cannot evaluate insurance quality before buying.</a:t>
            </a:r>
          </a:p>
        </p:txBody>
      </p:sp>
      <p:sp>
        <p:nvSpPr>
          <p:cNvPr id="23" name="Rectangle 22"/>
          <p:cNvSpPr/>
          <p:nvPr/>
        </p:nvSpPr>
        <p:spPr>
          <a:xfrm>
            <a:off x="9407418" y="2024872"/>
            <a:ext cx="2067506" cy="3858768"/>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72010" y="2189464"/>
            <a:ext cx="1793186" cy="594360"/>
          </a:xfrm>
          <a:prstGeom prst="rect">
            <a:avLst/>
          </a:prstGeom>
          <a:noFill/>
        </p:spPr>
        <p:txBody>
          <a:bodyPr wrap="square">
            <a:spAutoFit/>
          </a:bodyPr>
          <a:lstStyle/>
          <a:p>
            <a:pPr algn="l"/>
            <a:r>
              <a:rPr sz="4200" b="0" i="0">
                <a:solidFill>
                  <a:srgbClr val="C8121E"/>
                </a:solidFill>
                <a:latin typeface="Georgia"/>
              </a:rPr>
              <a:t>05</a:t>
            </a:r>
          </a:p>
        </p:txBody>
      </p:sp>
      <p:sp>
        <p:nvSpPr>
          <p:cNvPr id="25" name="TextBox 24"/>
          <p:cNvSpPr txBox="1"/>
          <p:nvPr/>
        </p:nvSpPr>
        <p:spPr>
          <a:xfrm>
            <a:off x="9572010" y="2829544"/>
            <a:ext cx="1793186" cy="502920"/>
          </a:xfrm>
          <a:prstGeom prst="rect">
            <a:avLst/>
          </a:prstGeom>
          <a:noFill/>
        </p:spPr>
        <p:txBody>
          <a:bodyPr wrap="square">
            <a:spAutoFit/>
          </a:bodyPr>
          <a:lstStyle/>
          <a:p>
            <a:pPr algn="l"/>
            <a:r>
              <a:rPr sz="1800" b="0" i="0">
                <a:solidFill>
                  <a:srgbClr val="15152A"/>
                </a:solidFill>
                <a:latin typeface="Georgia"/>
              </a:rPr>
              <a:t>Optimism Bias Fix</a:t>
            </a:r>
          </a:p>
        </p:txBody>
      </p:sp>
      <p:sp>
        <p:nvSpPr>
          <p:cNvPr id="26" name="TextBox 25"/>
          <p:cNvSpPr txBox="1"/>
          <p:nvPr/>
        </p:nvSpPr>
        <p:spPr>
          <a:xfrm>
            <a:off x="9572010" y="3396472"/>
            <a:ext cx="1793186" cy="2286000"/>
          </a:xfrm>
          <a:prstGeom prst="rect">
            <a:avLst/>
          </a:prstGeom>
          <a:noFill/>
        </p:spPr>
        <p:txBody>
          <a:bodyPr wrap="square">
            <a:spAutoFit/>
          </a:bodyPr>
          <a:lstStyle/>
          <a:p>
            <a:pPr algn="l"/>
            <a:r>
              <a:rPr sz="1000" b="0" i="0">
                <a:solidFill>
                  <a:srgbClr val="5B5B6E"/>
                </a:solidFill>
                <a:latin typeface="Calibri"/>
              </a:rPr>
              <a:t>SME owners assume the bad thing happens to other people. We make the worst case specific and real, then make the next step ridiculously easy to take.</a:t>
            </a:r>
          </a:p>
        </p:txBody>
      </p:sp>
      <p:cxnSp>
        <p:nvCxnSpPr>
          <p:cNvPr id="27" name="Connector 26"/>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29" name="TextBox 28"/>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15 / 24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06E"/>
        </a:solidFill>
        <a:effectLst/>
      </p:bgPr>
    </p:bg>
    <p:spTree>
      <p:nvGrpSpPr>
        <p:cNvPr id="1" name=""/>
        <p:cNvGrpSpPr/>
        <p:nvPr/>
      </p:nvGrpSpPr>
      <p:grpSpPr/>
      <p:sp>
        <p:nvSpPr>
          <p:cNvPr id="2" name="TextBox 1"/>
          <p:cNvSpPr txBox="1"/>
          <p:nvPr/>
        </p:nvSpPr>
        <p:spPr>
          <a:xfrm>
            <a:off x="424162" y="1097280"/>
            <a:ext cx="3657600" cy="3200400"/>
          </a:xfrm>
          <a:prstGeom prst="rect">
            <a:avLst/>
          </a:prstGeom>
          <a:noFill/>
        </p:spPr>
        <p:txBody>
          <a:bodyPr wrap="square">
            <a:spAutoFit/>
          </a:bodyPr>
          <a:lstStyle/>
          <a:p>
            <a:pPr algn="l"/>
            <a:r>
              <a:rPr sz="20000" b="0" i="1">
                <a:solidFill>
                  <a:srgbClr val="28209A"/>
                </a:solidFill>
                <a:latin typeface="Georgia"/>
              </a:rPr>
              <a:t>04</a:t>
            </a:r>
          </a:p>
        </p:txBody>
      </p:sp>
      <p:sp>
        <p:nvSpPr>
          <p:cNvPr id="3" name="TextBox 2"/>
          <p:cNvSpPr txBox="1"/>
          <p:nvPr/>
        </p:nvSpPr>
        <p:spPr>
          <a:xfrm>
            <a:off x="3624562" y="2286000"/>
            <a:ext cx="10794730" cy="256032"/>
          </a:xfrm>
          <a:prstGeom prst="rect">
            <a:avLst/>
          </a:prstGeom>
          <a:noFill/>
        </p:spPr>
        <p:txBody>
          <a:bodyPr wrap="square">
            <a:spAutoFit/>
          </a:bodyPr>
          <a:lstStyle/>
          <a:p>
            <a:pPr algn="l"/>
            <a:r>
              <a:rPr sz="900" b="0" i="0">
                <a:solidFill>
                  <a:srgbClr val="A0A0C0"/>
                </a:solidFill>
                <a:latin typeface="Courier New"/>
              </a:rPr>
              <a:t>• PART 04</a:t>
            </a:r>
          </a:p>
        </p:txBody>
      </p:sp>
      <p:sp>
        <p:nvSpPr>
          <p:cNvPr id="4" name="TextBox 3"/>
          <p:cNvSpPr txBox="1"/>
          <p:nvPr/>
        </p:nvSpPr>
        <p:spPr>
          <a:xfrm>
            <a:off x="3624562" y="2606040"/>
            <a:ext cx="7315200" cy="1371600"/>
          </a:xfrm>
          <a:prstGeom prst="rect">
            <a:avLst/>
          </a:prstGeom>
          <a:noFill/>
        </p:spPr>
        <p:txBody>
          <a:bodyPr wrap="square">
            <a:spAutoFit/>
          </a:bodyPr>
          <a:lstStyle/>
          <a:p>
            <a:pPr algn="l"/>
            <a:r>
              <a:rPr sz="8000" b="0" i="1">
                <a:solidFill>
                  <a:srgbClr val="FFFFFF"/>
                </a:solidFill>
                <a:latin typeface="Georgia"/>
              </a:rPr>
              <a:t>The Journey</a:t>
            </a:r>
          </a:p>
        </p:txBody>
      </p:sp>
      <p:sp>
        <p:nvSpPr>
          <p:cNvPr id="5" name="TextBox 4"/>
          <p:cNvSpPr txBox="1"/>
          <p:nvPr/>
        </p:nvSpPr>
        <p:spPr>
          <a:xfrm>
            <a:off x="3624562" y="3657600"/>
            <a:ext cx="6858000" cy="822960"/>
          </a:xfrm>
          <a:prstGeom prst="rect">
            <a:avLst/>
          </a:prstGeom>
          <a:noFill/>
        </p:spPr>
        <p:txBody>
          <a:bodyPr wrap="square">
            <a:spAutoFit/>
          </a:bodyPr>
          <a:lstStyle/>
          <a:p>
            <a:pPr algn="l"/>
            <a:r>
              <a:rPr sz="2000" b="0" i="0">
                <a:solidFill>
                  <a:srgbClr val="C0C0E0"/>
                </a:solidFill>
                <a:latin typeface="Calibri"/>
              </a:rPr>
              <a:t>From invisible to compounding. Eighteen months. Four stages. One direction.</a:t>
            </a:r>
          </a:p>
        </p:txBody>
      </p:sp>
      <p:sp>
        <p:nvSpPr>
          <p:cNvPr id="6" name="TextBox 5"/>
          <p:cNvSpPr txBox="1"/>
          <p:nvPr/>
        </p:nvSpPr>
        <p:spPr>
          <a:xfrm>
            <a:off x="698482" y="320040"/>
            <a:ext cx="3200400" cy="320040"/>
          </a:xfrm>
          <a:prstGeom prst="rect">
            <a:avLst/>
          </a:prstGeom>
          <a:noFill/>
        </p:spPr>
        <p:txBody>
          <a:bodyPr wrap="square">
            <a:spAutoFit/>
          </a:bodyPr>
          <a:lstStyle/>
          <a:p>
            <a:pPr algn="l"/>
            <a:r>
              <a:rPr sz="1000" b="1" i="0">
                <a:solidFill>
                  <a:srgbClr val="FFFFFF"/>
                </a:solidFill>
                <a:latin typeface="Calibri"/>
              </a:rPr>
              <a:t>BridgeCom Narratives</a:t>
            </a:r>
          </a:p>
        </p:txBody>
      </p:sp>
      <p:sp>
        <p:nvSpPr>
          <p:cNvPr id="7" name="TextBox 6"/>
          <p:cNvSpPr txBox="1"/>
          <p:nvPr/>
        </p:nvSpPr>
        <p:spPr>
          <a:xfrm>
            <a:off x="698482" y="594360"/>
            <a:ext cx="3200400" cy="201168"/>
          </a:xfrm>
          <a:prstGeom prst="rect">
            <a:avLst/>
          </a:prstGeom>
          <a:noFill/>
        </p:spPr>
        <p:txBody>
          <a:bodyPr wrap="square">
            <a:spAutoFit/>
          </a:bodyPr>
          <a:lstStyle/>
          <a:p>
            <a:pPr algn="l"/>
            <a:r>
              <a:rPr sz="750" b="0" i="0">
                <a:solidFill>
                  <a:srgbClr val="FFFFFF"/>
                </a:solidFill>
                <a:latin typeface="Courier New"/>
              </a:rPr>
              <a:t>FOR LONGHORN INSURANCE</a:t>
            </a:r>
          </a:p>
        </p:txBody>
      </p:sp>
      <p:sp>
        <p:nvSpPr>
          <p:cNvPr id="8" name="TextBox 7"/>
          <p:cNvSpPr txBox="1"/>
          <p:nvPr/>
        </p:nvSpPr>
        <p:spPr>
          <a:xfrm>
            <a:off x="9207212" y="320040"/>
            <a:ext cx="2286000" cy="320040"/>
          </a:xfrm>
          <a:prstGeom prst="rect">
            <a:avLst/>
          </a:prstGeom>
          <a:noFill/>
        </p:spPr>
        <p:txBody>
          <a:bodyPr wrap="square">
            <a:spAutoFit/>
          </a:bodyPr>
          <a:lstStyle/>
          <a:p>
            <a:pPr algn="r"/>
            <a:r>
              <a:rPr sz="900" b="0" i="0">
                <a:solidFill>
                  <a:srgbClr val="FFFFFF"/>
                </a:solidFill>
                <a:latin typeface="Courier New"/>
              </a:rPr>
              <a:t>Part 04</a:t>
            </a:r>
          </a:p>
        </p:txBody>
      </p:sp>
      <p:cxnSp>
        <p:nvCxnSpPr>
          <p:cNvPr id="9" name="Connector 8"/>
          <p:cNvCxnSpPr/>
          <p:nvPr/>
        </p:nvCxnSpPr>
        <p:spPr>
          <a:xfrm>
            <a:off x="698482" y="6213362"/>
            <a:ext cx="10794730" cy="0"/>
          </a:xfrm>
          <a:prstGeom prst="line">
            <a:avLst/>
          </a:prstGeom>
          <a:ln w="6350">
            <a:solidFill>
              <a:srgbClr val="80809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8482" y="6085346"/>
            <a:ext cx="3657600" cy="228600"/>
          </a:xfrm>
          <a:prstGeom prst="rect">
            <a:avLst/>
          </a:prstGeom>
          <a:noFill/>
        </p:spPr>
        <p:txBody>
          <a:bodyPr wrap="square">
            <a:spAutoFit/>
          </a:bodyPr>
          <a:lstStyle/>
          <a:p>
            <a:pPr algn="l"/>
            <a:r>
              <a:rPr sz="800" b="0" i="0">
                <a:solidFill>
                  <a:srgbClr val="9090A8"/>
                </a:solidFill>
                <a:latin typeface="Courier New"/>
              </a:rPr>
              <a:t>BridgeCom Narratives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Journey · 01</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EIGHTEEN MONTHS, END TO END</a:t>
            </a:r>
          </a:p>
        </p:txBody>
      </p:sp>
      <p:sp>
        <p:nvSpPr>
          <p:cNvPr id="6" name="TextBox 5"/>
          <p:cNvSpPr txBox="1"/>
          <p:nvPr/>
        </p:nvSpPr>
        <p:spPr>
          <a:xfrm>
            <a:off x="698482" y="982456"/>
            <a:ext cx="10794730" cy="548640"/>
          </a:xfrm>
          <a:prstGeom prst="rect">
            <a:avLst/>
          </a:prstGeom>
          <a:noFill/>
        </p:spPr>
        <p:txBody>
          <a:bodyPr wrap="square">
            <a:spAutoFit/>
          </a:bodyPr>
          <a:lstStyle/>
          <a:p>
            <a:pPr algn="l"/>
            <a:r>
              <a:rPr sz="3800" b="0" i="1">
                <a:solidFill>
                  <a:srgbClr val="15152A"/>
                </a:solidFill>
                <a:latin typeface="Georgia"/>
              </a:rPr>
              <a:t>From invisible to compounding. One stage at a time.</a:t>
            </a:r>
          </a:p>
        </p:txBody>
      </p:sp>
      <p:sp>
        <p:nvSpPr>
          <p:cNvPr id="7" name="Rectangle 6"/>
          <p:cNvSpPr/>
          <p:nvPr/>
        </p:nvSpPr>
        <p:spPr>
          <a:xfrm>
            <a:off x="698482" y="1732264"/>
            <a:ext cx="2607242" cy="429768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8482" y="1732264"/>
            <a:ext cx="2607242" cy="64008"/>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81362" y="1896856"/>
            <a:ext cx="2287202" cy="201168"/>
          </a:xfrm>
          <a:prstGeom prst="rect">
            <a:avLst/>
          </a:prstGeom>
          <a:noFill/>
        </p:spPr>
        <p:txBody>
          <a:bodyPr wrap="square">
            <a:spAutoFit/>
          </a:bodyPr>
          <a:lstStyle/>
          <a:p>
            <a:pPr algn="l"/>
            <a:r>
              <a:rPr sz="800" b="0" i="0">
                <a:solidFill>
                  <a:srgbClr val="5B5B6E"/>
                </a:solidFill>
                <a:latin typeface="Courier New"/>
              </a:rPr>
              <a:t>STAGE 01</a:t>
            </a:r>
          </a:p>
        </p:txBody>
      </p:sp>
      <p:sp>
        <p:nvSpPr>
          <p:cNvPr id="10" name="TextBox 9"/>
          <p:cNvSpPr txBox="1"/>
          <p:nvPr/>
        </p:nvSpPr>
        <p:spPr>
          <a:xfrm>
            <a:off x="881362" y="2116312"/>
            <a:ext cx="2287202" cy="201168"/>
          </a:xfrm>
          <a:prstGeom prst="rect">
            <a:avLst/>
          </a:prstGeom>
          <a:noFill/>
        </p:spPr>
        <p:txBody>
          <a:bodyPr wrap="square">
            <a:spAutoFit/>
          </a:bodyPr>
          <a:lstStyle/>
          <a:p>
            <a:pPr algn="l"/>
            <a:r>
              <a:rPr sz="800" b="0" i="0">
                <a:solidFill>
                  <a:srgbClr val="5B5B6E"/>
                </a:solidFill>
                <a:latin typeface="Courier New"/>
              </a:rPr>
              <a:t>MONTHS 1–3</a:t>
            </a:r>
          </a:p>
        </p:txBody>
      </p:sp>
      <p:sp>
        <p:nvSpPr>
          <p:cNvPr id="11" name="TextBox 10"/>
          <p:cNvSpPr txBox="1"/>
          <p:nvPr/>
        </p:nvSpPr>
        <p:spPr>
          <a:xfrm>
            <a:off x="881362" y="2390632"/>
            <a:ext cx="2287202" cy="475488"/>
          </a:xfrm>
          <a:prstGeom prst="rect">
            <a:avLst/>
          </a:prstGeom>
          <a:noFill/>
        </p:spPr>
        <p:txBody>
          <a:bodyPr wrap="square">
            <a:spAutoFit/>
          </a:bodyPr>
          <a:lstStyle/>
          <a:p>
            <a:pPr algn="l"/>
            <a:r>
              <a:rPr sz="3000" b="0" i="0">
                <a:solidFill>
                  <a:srgbClr val="15152A"/>
                </a:solidFill>
                <a:latin typeface="Georgia"/>
              </a:rPr>
              <a:t>Foundation</a:t>
            </a:r>
          </a:p>
        </p:txBody>
      </p:sp>
      <p:sp>
        <p:nvSpPr>
          <p:cNvPr id="12" name="TextBox 11"/>
          <p:cNvSpPr txBox="1"/>
          <p:nvPr/>
        </p:nvSpPr>
        <p:spPr>
          <a:xfrm>
            <a:off x="881362" y="2920984"/>
            <a:ext cx="2287202" cy="1828800"/>
          </a:xfrm>
          <a:prstGeom prst="rect">
            <a:avLst/>
          </a:prstGeom>
          <a:noFill/>
        </p:spPr>
        <p:txBody>
          <a:bodyPr wrap="square">
            <a:spAutoFit/>
          </a:bodyPr>
          <a:lstStyle/>
          <a:p>
            <a:pPr algn="l"/>
            <a:r>
              <a:rPr sz="1100" b="0" i="0">
                <a:solidFill>
                  <a:srgbClr val="5B5B6E"/>
                </a:solidFill>
                <a:latin typeface="Calibri"/>
              </a:rPr>
              <a:t>Build the infrastructure. Website, CRM, WhatsApp automation, social profiles, brand voice, analytics. No paid spend yet — there is nowhere for it to land.</a:t>
            </a:r>
          </a:p>
        </p:txBody>
      </p:sp>
      <p:cxnSp>
        <p:nvCxnSpPr>
          <p:cNvPr id="13" name="Connector 12"/>
          <p:cNvCxnSpPr/>
          <p:nvPr/>
        </p:nvCxnSpPr>
        <p:spPr>
          <a:xfrm>
            <a:off x="881362" y="4886944"/>
            <a:ext cx="2287203"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81362" y="5024104"/>
            <a:ext cx="2287202" cy="201168"/>
          </a:xfrm>
          <a:prstGeom prst="rect">
            <a:avLst/>
          </a:prstGeom>
          <a:noFill/>
        </p:spPr>
        <p:txBody>
          <a:bodyPr wrap="square">
            <a:spAutoFit/>
          </a:bodyPr>
          <a:lstStyle/>
          <a:p>
            <a:pPr algn="l"/>
            <a:r>
              <a:rPr sz="750" b="0" i="0">
                <a:solidFill>
                  <a:srgbClr val="5B5B6E"/>
                </a:solidFill>
                <a:latin typeface="Courier New"/>
              </a:rPr>
              <a:t>OUTPUT</a:t>
            </a:r>
          </a:p>
        </p:txBody>
      </p:sp>
      <p:sp>
        <p:nvSpPr>
          <p:cNvPr id="15" name="TextBox 14"/>
          <p:cNvSpPr txBox="1"/>
          <p:nvPr/>
        </p:nvSpPr>
        <p:spPr>
          <a:xfrm>
            <a:off x="881362" y="5261848"/>
            <a:ext cx="2287202" cy="658368"/>
          </a:xfrm>
          <a:prstGeom prst="rect">
            <a:avLst/>
          </a:prstGeom>
          <a:noFill/>
        </p:spPr>
        <p:txBody>
          <a:bodyPr wrap="square">
            <a:spAutoFit/>
          </a:bodyPr>
          <a:lstStyle/>
          <a:p>
            <a:pPr algn="l"/>
            <a:r>
              <a:rPr sz="1300" b="0" i="1">
                <a:solidFill>
                  <a:srgbClr val="15152A"/>
                </a:solidFill>
                <a:latin typeface="Georgia"/>
              </a:rPr>
              <a:t>A credible brand online and a system to capture every enquiry.</a:t>
            </a:r>
          </a:p>
        </p:txBody>
      </p:sp>
      <p:sp>
        <p:nvSpPr>
          <p:cNvPr id="16" name="Rectangle 15"/>
          <p:cNvSpPr/>
          <p:nvPr/>
        </p:nvSpPr>
        <p:spPr>
          <a:xfrm>
            <a:off x="3424597" y="1732264"/>
            <a:ext cx="2607242" cy="429768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24597" y="1732264"/>
            <a:ext cx="2607242" cy="64008"/>
          </a:xfrm>
          <a:prstGeom prst="rect">
            <a:avLst/>
          </a:prstGeom>
          <a:solidFill>
            <a:srgbClr val="C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7477" y="1896856"/>
            <a:ext cx="2287202" cy="201168"/>
          </a:xfrm>
          <a:prstGeom prst="rect">
            <a:avLst/>
          </a:prstGeom>
          <a:noFill/>
        </p:spPr>
        <p:txBody>
          <a:bodyPr wrap="square">
            <a:spAutoFit/>
          </a:bodyPr>
          <a:lstStyle/>
          <a:p>
            <a:pPr algn="l"/>
            <a:r>
              <a:rPr sz="800" b="0" i="0">
                <a:solidFill>
                  <a:srgbClr val="5B5B6E"/>
                </a:solidFill>
                <a:latin typeface="Courier New"/>
              </a:rPr>
              <a:t>STAGE 02</a:t>
            </a:r>
          </a:p>
        </p:txBody>
      </p:sp>
      <p:sp>
        <p:nvSpPr>
          <p:cNvPr id="19" name="TextBox 18"/>
          <p:cNvSpPr txBox="1"/>
          <p:nvPr/>
        </p:nvSpPr>
        <p:spPr>
          <a:xfrm>
            <a:off x="3607477" y="2116312"/>
            <a:ext cx="2287202" cy="201168"/>
          </a:xfrm>
          <a:prstGeom prst="rect">
            <a:avLst/>
          </a:prstGeom>
          <a:noFill/>
        </p:spPr>
        <p:txBody>
          <a:bodyPr wrap="square">
            <a:spAutoFit/>
          </a:bodyPr>
          <a:lstStyle/>
          <a:p>
            <a:pPr algn="l"/>
            <a:r>
              <a:rPr sz="800" b="0" i="0">
                <a:solidFill>
                  <a:srgbClr val="5B5B6E"/>
                </a:solidFill>
                <a:latin typeface="Courier New"/>
              </a:rPr>
              <a:t>MONTHS 4–7</a:t>
            </a:r>
          </a:p>
        </p:txBody>
      </p:sp>
      <p:sp>
        <p:nvSpPr>
          <p:cNvPr id="20" name="TextBox 19"/>
          <p:cNvSpPr txBox="1"/>
          <p:nvPr/>
        </p:nvSpPr>
        <p:spPr>
          <a:xfrm>
            <a:off x="3607477" y="2390632"/>
            <a:ext cx="2287202" cy="475488"/>
          </a:xfrm>
          <a:prstGeom prst="rect">
            <a:avLst/>
          </a:prstGeom>
          <a:noFill/>
        </p:spPr>
        <p:txBody>
          <a:bodyPr wrap="square">
            <a:spAutoFit/>
          </a:bodyPr>
          <a:lstStyle/>
          <a:p>
            <a:pPr algn="l"/>
            <a:r>
              <a:rPr sz="3000" b="0" i="0">
                <a:solidFill>
                  <a:srgbClr val="15152A"/>
                </a:solidFill>
                <a:latin typeface="Georgia"/>
              </a:rPr>
              <a:t>Activation</a:t>
            </a:r>
          </a:p>
        </p:txBody>
      </p:sp>
      <p:sp>
        <p:nvSpPr>
          <p:cNvPr id="21" name="TextBox 20"/>
          <p:cNvSpPr txBox="1"/>
          <p:nvPr/>
        </p:nvSpPr>
        <p:spPr>
          <a:xfrm>
            <a:off x="3607477" y="2920984"/>
            <a:ext cx="2287202" cy="1828800"/>
          </a:xfrm>
          <a:prstGeom prst="rect">
            <a:avLst/>
          </a:prstGeom>
          <a:noFill/>
        </p:spPr>
        <p:txBody>
          <a:bodyPr wrap="square">
            <a:spAutoFit/>
          </a:bodyPr>
          <a:lstStyle/>
          <a:p>
            <a:pPr algn="l"/>
            <a:r>
              <a:rPr sz="1100" b="0" i="0">
                <a:solidFill>
                  <a:srgbClr val="5B5B6E"/>
                </a:solidFill>
                <a:latin typeface="Calibri"/>
              </a:rPr>
              <a:t>First paid campaigns. First Cover Check roadshow. First corporate risk briefings. SME workshop series. First two referral partners. Revenue begins here.</a:t>
            </a:r>
          </a:p>
        </p:txBody>
      </p:sp>
      <p:cxnSp>
        <p:nvCxnSpPr>
          <p:cNvPr id="22" name="Connector 21"/>
          <p:cNvCxnSpPr/>
          <p:nvPr/>
        </p:nvCxnSpPr>
        <p:spPr>
          <a:xfrm>
            <a:off x="3607477" y="4886944"/>
            <a:ext cx="2287202"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607477" y="5024104"/>
            <a:ext cx="2287202" cy="201168"/>
          </a:xfrm>
          <a:prstGeom prst="rect">
            <a:avLst/>
          </a:prstGeom>
          <a:noFill/>
        </p:spPr>
        <p:txBody>
          <a:bodyPr wrap="square">
            <a:spAutoFit/>
          </a:bodyPr>
          <a:lstStyle/>
          <a:p>
            <a:pPr algn="l"/>
            <a:r>
              <a:rPr sz="750" b="0" i="0">
                <a:solidFill>
                  <a:srgbClr val="5B5B6E"/>
                </a:solidFill>
                <a:latin typeface="Courier New"/>
              </a:rPr>
              <a:t>OUTPUT</a:t>
            </a:r>
          </a:p>
        </p:txBody>
      </p:sp>
      <p:sp>
        <p:nvSpPr>
          <p:cNvPr id="24" name="TextBox 23"/>
          <p:cNvSpPr txBox="1"/>
          <p:nvPr/>
        </p:nvSpPr>
        <p:spPr>
          <a:xfrm>
            <a:off x="3607477" y="5261848"/>
            <a:ext cx="2287202" cy="658368"/>
          </a:xfrm>
          <a:prstGeom prst="rect">
            <a:avLst/>
          </a:prstGeom>
          <a:noFill/>
        </p:spPr>
        <p:txBody>
          <a:bodyPr wrap="square">
            <a:spAutoFit/>
          </a:bodyPr>
          <a:lstStyle/>
          <a:p>
            <a:pPr algn="l"/>
            <a:r>
              <a:rPr sz="1300" b="0" i="1">
                <a:solidFill>
                  <a:srgbClr val="15152A"/>
                </a:solidFill>
                <a:latin typeface="Georgia"/>
              </a:rPr>
              <a:t>10–25 enquiries per month. First policies signed from digital.</a:t>
            </a:r>
          </a:p>
        </p:txBody>
      </p:sp>
      <p:sp>
        <p:nvSpPr>
          <p:cNvPr id="25" name="Rectangle 24"/>
          <p:cNvSpPr/>
          <p:nvPr/>
        </p:nvSpPr>
        <p:spPr>
          <a:xfrm>
            <a:off x="6150711" y="1732264"/>
            <a:ext cx="2607242" cy="429768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0711" y="1732264"/>
            <a:ext cx="2607242" cy="64008"/>
          </a:xfrm>
          <a:prstGeom prst="rect">
            <a:avLst/>
          </a:prstGeom>
          <a:solidFill>
            <a:srgbClr val="BA7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33591" y="1896856"/>
            <a:ext cx="2287202" cy="201168"/>
          </a:xfrm>
          <a:prstGeom prst="rect">
            <a:avLst/>
          </a:prstGeom>
          <a:noFill/>
        </p:spPr>
        <p:txBody>
          <a:bodyPr wrap="square">
            <a:spAutoFit/>
          </a:bodyPr>
          <a:lstStyle/>
          <a:p>
            <a:pPr algn="l"/>
            <a:r>
              <a:rPr sz="800" b="0" i="0">
                <a:solidFill>
                  <a:srgbClr val="5B5B6E"/>
                </a:solidFill>
                <a:latin typeface="Courier New"/>
              </a:rPr>
              <a:t>STAGE 03</a:t>
            </a:r>
          </a:p>
        </p:txBody>
      </p:sp>
      <p:sp>
        <p:nvSpPr>
          <p:cNvPr id="28" name="TextBox 27"/>
          <p:cNvSpPr txBox="1"/>
          <p:nvPr/>
        </p:nvSpPr>
        <p:spPr>
          <a:xfrm>
            <a:off x="6333591" y="2116312"/>
            <a:ext cx="2287202" cy="201168"/>
          </a:xfrm>
          <a:prstGeom prst="rect">
            <a:avLst/>
          </a:prstGeom>
          <a:noFill/>
        </p:spPr>
        <p:txBody>
          <a:bodyPr wrap="square">
            <a:spAutoFit/>
          </a:bodyPr>
          <a:lstStyle/>
          <a:p>
            <a:pPr algn="l"/>
            <a:r>
              <a:rPr sz="800" b="0" i="0">
                <a:solidFill>
                  <a:srgbClr val="5B5B6E"/>
                </a:solidFill>
                <a:latin typeface="Courier New"/>
              </a:rPr>
              <a:t>MONTHS 8–12</a:t>
            </a:r>
          </a:p>
        </p:txBody>
      </p:sp>
      <p:sp>
        <p:nvSpPr>
          <p:cNvPr id="29" name="TextBox 28"/>
          <p:cNvSpPr txBox="1"/>
          <p:nvPr/>
        </p:nvSpPr>
        <p:spPr>
          <a:xfrm>
            <a:off x="6333591" y="2390632"/>
            <a:ext cx="2287202" cy="475488"/>
          </a:xfrm>
          <a:prstGeom prst="rect">
            <a:avLst/>
          </a:prstGeom>
          <a:noFill/>
        </p:spPr>
        <p:txBody>
          <a:bodyPr wrap="square">
            <a:spAutoFit/>
          </a:bodyPr>
          <a:lstStyle/>
          <a:p>
            <a:pPr algn="l"/>
            <a:r>
              <a:rPr sz="3000" b="0" i="0">
                <a:solidFill>
                  <a:srgbClr val="15152A"/>
                </a:solidFill>
                <a:latin typeface="Georgia"/>
              </a:rPr>
              <a:t>Optimisation</a:t>
            </a:r>
          </a:p>
        </p:txBody>
      </p:sp>
      <p:sp>
        <p:nvSpPr>
          <p:cNvPr id="30" name="TextBox 29"/>
          <p:cNvSpPr txBox="1"/>
          <p:nvPr/>
        </p:nvSpPr>
        <p:spPr>
          <a:xfrm>
            <a:off x="6333591" y="2920984"/>
            <a:ext cx="2287202" cy="1828800"/>
          </a:xfrm>
          <a:prstGeom prst="rect">
            <a:avLst/>
          </a:prstGeom>
          <a:noFill/>
        </p:spPr>
        <p:txBody>
          <a:bodyPr wrap="square">
            <a:spAutoFit/>
          </a:bodyPr>
          <a:lstStyle/>
          <a:p>
            <a:pPr algn="l"/>
            <a:r>
              <a:rPr sz="1100" b="0" i="0">
                <a:solidFill>
                  <a:srgbClr val="5B5B6E"/>
                </a:solidFill>
                <a:latin typeface="Calibri"/>
              </a:rPr>
              <a:t>Data drives every decision. Pause what fails, scale what works. CPL falls month over month. Pipeline reviewed weekly by leadership. SEO begins to land.</a:t>
            </a:r>
          </a:p>
        </p:txBody>
      </p:sp>
      <p:cxnSp>
        <p:nvCxnSpPr>
          <p:cNvPr id="31" name="Connector 30"/>
          <p:cNvCxnSpPr/>
          <p:nvPr/>
        </p:nvCxnSpPr>
        <p:spPr>
          <a:xfrm>
            <a:off x="6333591" y="4886944"/>
            <a:ext cx="2287203"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333591" y="5024104"/>
            <a:ext cx="2287202" cy="201168"/>
          </a:xfrm>
          <a:prstGeom prst="rect">
            <a:avLst/>
          </a:prstGeom>
          <a:noFill/>
        </p:spPr>
        <p:txBody>
          <a:bodyPr wrap="square">
            <a:spAutoFit/>
          </a:bodyPr>
          <a:lstStyle/>
          <a:p>
            <a:pPr algn="l"/>
            <a:r>
              <a:rPr sz="750" b="0" i="0">
                <a:solidFill>
                  <a:srgbClr val="5B5B6E"/>
                </a:solidFill>
                <a:latin typeface="Courier New"/>
              </a:rPr>
              <a:t>OUTPUT</a:t>
            </a:r>
          </a:p>
        </p:txBody>
      </p:sp>
      <p:sp>
        <p:nvSpPr>
          <p:cNvPr id="33" name="TextBox 32"/>
          <p:cNvSpPr txBox="1"/>
          <p:nvPr/>
        </p:nvSpPr>
        <p:spPr>
          <a:xfrm>
            <a:off x="6333591" y="5261848"/>
            <a:ext cx="2287202" cy="658368"/>
          </a:xfrm>
          <a:prstGeom prst="rect">
            <a:avLst/>
          </a:prstGeom>
          <a:noFill/>
        </p:spPr>
        <p:txBody>
          <a:bodyPr wrap="square">
            <a:spAutoFit/>
          </a:bodyPr>
          <a:lstStyle/>
          <a:p>
            <a:pPr algn="l"/>
            <a:r>
              <a:rPr sz="1300" b="0" i="1">
                <a:solidFill>
                  <a:srgbClr val="15152A"/>
                </a:solidFill>
                <a:latin typeface="Georgia"/>
              </a:rPr>
              <a:t>30–50 enquiries per month. First full year-one KPI review.</a:t>
            </a:r>
          </a:p>
        </p:txBody>
      </p:sp>
      <p:sp>
        <p:nvSpPr>
          <p:cNvPr id="34" name="Rectangle 33"/>
          <p:cNvSpPr/>
          <p:nvPr/>
        </p:nvSpPr>
        <p:spPr>
          <a:xfrm>
            <a:off x="8876826" y="1732264"/>
            <a:ext cx="2607242" cy="4297680"/>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876826" y="1732264"/>
            <a:ext cx="2607242" cy="64008"/>
          </a:xfrm>
          <a:prstGeom prst="rect">
            <a:avLst/>
          </a:prstGeom>
          <a:solidFill>
            <a:srgbClr val="2750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059706" y="1896856"/>
            <a:ext cx="2287202" cy="201168"/>
          </a:xfrm>
          <a:prstGeom prst="rect">
            <a:avLst/>
          </a:prstGeom>
          <a:noFill/>
        </p:spPr>
        <p:txBody>
          <a:bodyPr wrap="square">
            <a:spAutoFit/>
          </a:bodyPr>
          <a:lstStyle/>
          <a:p>
            <a:pPr algn="l"/>
            <a:r>
              <a:rPr sz="800" b="0" i="0">
                <a:solidFill>
                  <a:srgbClr val="5B5B6E"/>
                </a:solidFill>
                <a:latin typeface="Courier New"/>
              </a:rPr>
              <a:t>STAGE 04</a:t>
            </a:r>
          </a:p>
        </p:txBody>
      </p:sp>
      <p:sp>
        <p:nvSpPr>
          <p:cNvPr id="37" name="TextBox 36"/>
          <p:cNvSpPr txBox="1"/>
          <p:nvPr/>
        </p:nvSpPr>
        <p:spPr>
          <a:xfrm>
            <a:off x="9059706" y="2116312"/>
            <a:ext cx="2287202" cy="201168"/>
          </a:xfrm>
          <a:prstGeom prst="rect">
            <a:avLst/>
          </a:prstGeom>
          <a:noFill/>
        </p:spPr>
        <p:txBody>
          <a:bodyPr wrap="square">
            <a:spAutoFit/>
          </a:bodyPr>
          <a:lstStyle/>
          <a:p>
            <a:pPr algn="l"/>
            <a:r>
              <a:rPr sz="800" b="0" i="0">
                <a:solidFill>
                  <a:srgbClr val="5B5B6E"/>
                </a:solidFill>
                <a:latin typeface="Courier New"/>
              </a:rPr>
              <a:t>MONTHS 13–18</a:t>
            </a:r>
          </a:p>
        </p:txBody>
      </p:sp>
      <p:sp>
        <p:nvSpPr>
          <p:cNvPr id="38" name="TextBox 37"/>
          <p:cNvSpPr txBox="1"/>
          <p:nvPr/>
        </p:nvSpPr>
        <p:spPr>
          <a:xfrm>
            <a:off x="9059706" y="2390632"/>
            <a:ext cx="2287202" cy="475488"/>
          </a:xfrm>
          <a:prstGeom prst="rect">
            <a:avLst/>
          </a:prstGeom>
          <a:noFill/>
        </p:spPr>
        <p:txBody>
          <a:bodyPr wrap="square">
            <a:spAutoFit/>
          </a:bodyPr>
          <a:lstStyle/>
          <a:p>
            <a:pPr algn="l"/>
            <a:r>
              <a:rPr sz="3000" b="0" i="0">
                <a:solidFill>
                  <a:srgbClr val="15152A"/>
                </a:solidFill>
                <a:latin typeface="Georgia"/>
              </a:rPr>
              <a:t>Compounding</a:t>
            </a:r>
          </a:p>
        </p:txBody>
      </p:sp>
      <p:sp>
        <p:nvSpPr>
          <p:cNvPr id="39" name="TextBox 38"/>
          <p:cNvSpPr txBox="1"/>
          <p:nvPr/>
        </p:nvSpPr>
        <p:spPr>
          <a:xfrm>
            <a:off x="9059706" y="2920984"/>
            <a:ext cx="2287202" cy="1828800"/>
          </a:xfrm>
          <a:prstGeom prst="rect">
            <a:avLst/>
          </a:prstGeom>
          <a:noFill/>
        </p:spPr>
        <p:txBody>
          <a:bodyPr wrap="square">
            <a:spAutoFit/>
          </a:bodyPr>
          <a:lstStyle/>
          <a:p>
            <a:pPr algn="l"/>
            <a:r>
              <a:rPr sz="1100" b="0" i="0">
                <a:solidFill>
                  <a:srgbClr val="5B5B6E"/>
                </a:solidFill>
                <a:latin typeface="Calibri"/>
              </a:rPr>
              <a:t>The system reinforces itself. Organic reach grows without proportional spend. Referrals multiply. Brand awareness reduces friction at every stage of the funnel.</a:t>
            </a:r>
          </a:p>
        </p:txBody>
      </p:sp>
      <p:cxnSp>
        <p:nvCxnSpPr>
          <p:cNvPr id="40" name="Connector 39"/>
          <p:cNvCxnSpPr/>
          <p:nvPr/>
        </p:nvCxnSpPr>
        <p:spPr>
          <a:xfrm>
            <a:off x="9059706" y="4886944"/>
            <a:ext cx="2287202"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059706" y="5024104"/>
            <a:ext cx="2287202" cy="201168"/>
          </a:xfrm>
          <a:prstGeom prst="rect">
            <a:avLst/>
          </a:prstGeom>
          <a:noFill/>
        </p:spPr>
        <p:txBody>
          <a:bodyPr wrap="square">
            <a:spAutoFit/>
          </a:bodyPr>
          <a:lstStyle/>
          <a:p>
            <a:pPr algn="l"/>
            <a:r>
              <a:rPr sz="750" b="0" i="0">
                <a:solidFill>
                  <a:srgbClr val="5B5B6E"/>
                </a:solidFill>
                <a:latin typeface="Courier New"/>
              </a:rPr>
              <a:t>OUTPUT</a:t>
            </a:r>
          </a:p>
        </p:txBody>
      </p:sp>
      <p:sp>
        <p:nvSpPr>
          <p:cNvPr id="42" name="TextBox 41"/>
          <p:cNvSpPr txBox="1"/>
          <p:nvPr/>
        </p:nvSpPr>
        <p:spPr>
          <a:xfrm>
            <a:off x="9059706" y="5261848"/>
            <a:ext cx="2287202" cy="658368"/>
          </a:xfrm>
          <a:prstGeom prst="rect">
            <a:avLst/>
          </a:prstGeom>
          <a:noFill/>
        </p:spPr>
        <p:txBody>
          <a:bodyPr wrap="square">
            <a:spAutoFit/>
          </a:bodyPr>
          <a:lstStyle/>
          <a:p>
            <a:pPr algn="l"/>
            <a:r>
              <a:rPr sz="1300" b="0" i="1">
                <a:solidFill>
                  <a:srgbClr val="15152A"/>
                </a:solidFill>
                <a:latin typeface="Georgia"/>
              </a:rPr>
              <a:t>50+ enquiries per month. CPL down 30%+ vs Stage 2.</a:t>
            </a:r>
          </a:p>
        </p:txBody>
      </p:sp>
      <p:cxnSp>
        <p:nvCxnSpPr>
          <p:cNvPr id="43" name="Connector 42"/>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45" name="TextBox 44"/>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17 / 24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06E"/>
        </a:solidFill>
        <a:effectLst/>
      </p:bgPr>
    </p:bg>
    <p:spTree>
      <p:nvGrpSpPr>
        <p:cNvPr id="1" name=""/>
        <p:cNvGrpSpPr/>
        <p:nvPr/>
      </p:nvGrpSpPr>
      <p:grpSpPr/>
      <p:sp>
        <p:nvSpPr>
          <p:cNvPr id="2" name="TextBox 1"/>
          <p:cNvSpPr txBox="1"/>
          <p:nvPr/>
        </p:nvSpPr>
        <p:spPr>
          <a:xfrm>
            <a:off x="424162" y="1097280"/>
            <a:ext cx="3657600" cy="3200400"/>
          </a:xfrm>
          <a:prstGeom prst="rect">
            <a:avLst/>
          </a:prstGeom>
          <a:noFill/>
        </p:spPr>
        <p:txBody>
          <a:bodyPr wrap="square">
            <a:spAutoFit/>
          </a:bodyPr>
          <a:lstStyle/>
          <a:p>
            <a:pPr algn="l"/>
            <a:r>
              <a:rPr sz="20000" b="0" i="1">
                <a:solidFill>
                  <a:srgbClr val="28209A"/>
                </a:solidFill>
                <a:latin typeface="Georgia"/>
              </a:rPr>
              <a:t>05</a:t>
            </a:r>
          </a:p>
        </p:txBody>
      </p:sp>
      <p:sp>
        <p:nvSpPr>
          <p:cNvPr id="3" name="TextBox 2"/>
          <p:cNvSpPr txBox="1"/>
          <p:nvPr/>
        </p:nvSpPr>
        <p:spPr>
          <a:xfrm>
            <a:off x="3624562" y="2286000"/>
            <a:ext cx="10794730" cy="256032"/>
          </a:xfrm>
          <a:prstGeom prst="rect">
            <a:avLst/>
          </a:prstGeom>
          <a:noFill/>
        </p:spPr>
        <p:txBody>
          <a:bodyPr wrap="square">
            <a:spAutoFit/>
          </a:bodyPr>
          <a:lstStyle/>
          <a:p>
            <a:pPr algn="l"/>
            <a:r>
              <a:rPr sz="900" b="0" i="0">
                <a:solidFill>
                  <a:srgbClr val="A0A0C0"/>
                </a:solidFill>
                <a:latin typeface="Courier New"/>
              </a:rPr>
              <a:t>• PART 05</a:t>
            </a:r>
          </a:p>
        </p:txBody>
      </p:sp>
      <p:sp>
        <p:nvSpPr>
          <p:cNvPr id="4" name="TextBox 3"/>
          <p:cNvSpPr txBox="1"/>
          <p:nvPr/>
        </p:nvSpPr>
        <p:spPr>
          <a:xfrm>
            <a:off x="3624562" y="2606040"/>
            <a:ext cx="7315200" cy="1371600"/>
          </a:xfrm>
          <a:prstGeom prst="rect">
            <a:avLst/>
          </a:prstGeom>
          <a:noFill/>
        </p:spPr>
        <p:txBody>
          <a:bodyPr wrap="square">
            <a:spAutoFit/>
          </a:bodyPr>
          <a:lstStyle/>
          <a:p>
            <a:pPr algn="l"/>
            <a:r>
              <a:rPr sz="8000" b="0" i="1">
                <a:solidFill>
                  <a:srgbClr val="FFFFFF"/>
                </a:solidFill>
                <a:latin typeface="Georgia"/>
              </a:rPr>
              <a:t>The Promise</a:t>
            </a:r>
          </a:p>
        </p:txBody>
      </p:sp>
      <p:sp>
        <p:nvSpPr>
          <p:cNvPr id="5" name="TextBox 4"/>
          <p:cNvSpPr txBox="1"/>
          <p:nvPr/>
        </p:nvSpPr>
        <p:spPr>
          <a:xfrm>
            <a:off x="3624562" y="3657600"/>
            <a:ext cx="6858000" cy="822960"/>
          </a:xfrm>
          <a:prstGeom prst="rect">
            <a:avLst/>
          </a:prstGeom>
          <a:noFill/>
        </p:spPr>
        <p:txBody>
          <a:bodyPr wrap="square">
            <a:spAutoFit/>
          </a:bodyPr>
          <a:lstStyle/>
          <a:p>
            <a:pPr algn="l"/>
            <a:r>
              <a:rPr sz="2000" b="0" i="0">
                <a:solidFill>
                  <a:srgbClr val="C0C0E0"/>
                </a:solidFill>
                <a:latin typeface="Calibri"/>
              </a:rPr>
              <a:t>What BridgeCom will commit to in writing, and what we hold ourselves to internally.</a:t>
            </a:r>
          </a:p>
        </p:txBody>
      </p:sp>
      <p:sp>
        <p:nvSpPr>
          <p:cNvPr id="6" name="TextBox 5"/>
          <p:cNvSpPr txBox="1"/>
          <p:nvPr/>
        </p:nvSpPr>
        <p:spPr>
          <a:xfrm>
            <a:off x="698482" y="320040"/>
            <a:ext cx="3200400" cy="320040"/>
          </a:xfrm>
          <a:prstGeom prst="rect">
            <a:avLst/>
          </a:prstGeom>
          <a:noFill/>
        </p:spPr>
        <p:txBody>
          <a:bodyPr wrap="square">
            <a:spAutoFit/>
          </a:bodyPr>
          <a:lstStyle/>
          <a:p>
            <a:pPr algn="l"/>
            <a:r>
              <a:rPr sz="1000" b="1" i="0">
                <a:solidFill>
                  <a:srgbClr val="FFFFFF"/>
                </a:solidFill>
                <a:latin typeface="Calibri"/>
              </a:rPr>
              <a:t>BridgeCom Narratives</a:t>
            </a:r>
          </a:p>
        </p:txBody>
      </p:sp>
      <p:sp>
        <p:nvSpPr>
          <p:cNvPr id="7" name="TextBox 6"/>
          <p:cNvSpPr txBox="1"/>
          <p:nvPr/>
        </p:nvSpPr>
        <p:spPr>
          <a:xfrm>
            <a:off x="698482" y="594360"/>
            <a:ext cx="3200400" cy="201168"/>
          </a:xfrm>
          <a:prstGeom prst="rect">
            <a:avLst/>
          </a:prstGeom>
          <a:noFill/>
        </p:spPr>
        <p:txBody>
          <a:bodyPr wrap="square">
            <a:spAutoFit/>
          </a:bodyPr>
          <a:lstStyle/>
          <a:p>
            <a:pPr algn="l"/>
            <a:r>
              <a:rPr sz="750" b="0" i="0">
                <a:solidFill>
                  <a:srgbClr val="FFFFFF"/>
                </a:solidFill>
                <a:latin typeface="Courier New"/>
              </a:rPr>
              <a:t>FOR LONGHORN INSURANCE</a:t>
            </a:r>
          </a:p>
        </p:txBody>
      </p:sp>
      <p:sp>
        <p:nvSpPr>
          <p:cNvPr id="8" name="TextBox 7"/>
          <p:cNvSpPr txBox="1"/>
          <p:nvPr/>
        </p:nvSpPr>
        <p:spPr>
          <a:xfrm>
            <a:off x="9207212" y="320040"/>
            <a:ext cx="2286000" cy="320040"/>
          </a:xfrm>
          <a:prstGeom prst="rect">
            <a:avLst/>
          </a:prstGeom>
          <a:noFill/>
        </p:spPr>
        <p:txBody>
          <a:bodyPr wrap="square">
            <a:spAutoFit/>
          </a:bodyPr>
          <a:lstStyle/>
          <a:p>
            <a:pPr algn="r"/>
            <a:r>
              <a:rPr sz="900" b="0" i="0">
                <a:solidFill>
                  <a:srgbClr val="FFFFFF"/>
                </a:solidFill>
                <a:latin typeface="Courier New"/>
              </a:rPr>
              <a:t>Part 05</a:t>
            </a:r>
          </a:p>
        </p:txBody>
      </p:sp>
      <p:cxnSp>
        <p:nvCxnSpPr>
          <p:cNvPr id="9" name="Connector 8"/>
          <p:cNvCxnSpPr/>
          <p:nvPr/>
        </p:nvCxnSpPr>
        <p:spPr>
          <a:xfrm>
            <a:off x="698482" y="6213362"/>
            <a:ext cx="10794730" cy="0"/>
          </a:xfrm>
          <a:prstGeom prst="line">
            <a:avLst/>
          </a:prstGeom>
          <a:ln w="6350">
            <a:solidFill>
              <a:srgbClr val="80809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8482" y="6085346"/>
            <a:ext cx="3657600" cy="228600"/>
          </a:xfrm>
          <a:prstGeom prst="rect">
            <a:avLst/>
          </a:prstGeom>
          <a:noFill/>
        </p:spPr>
        <p:txBody>
          <a:bodyPr wrap="square">
            <a:spAutoFit/>
          </a:bodyPr>
          <a:lstStyle/>
          <a:p>
            <a:pPr algn="l"/>
            <a:r>
              <a:rPr sz="800" b="0" i="0">
                <a:solidFill>
                  <a:srgbClr val="9090A8"/>
                </a:solidFill>
                <a:latin typeface="Courier New"/>
              </a:rPr>
              <a:t>BridgeCom Narratives · 2026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Promise · 01</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KPI PHILOSOPHY</a:t>
            </a:r>
          </a:p>
        </p:txBody>
      </p:sp>
      <p:sp>
        <p:nvSpPr>
          <p:cNvPr id="6" name="TextBox 5"/>
          <p:cNvSpPr txBox="1"/>
          <p:nvPr/>
        </p:nvSpPr>
        <p:spPr>
          <a:xfrm>
            <a:off x="698482" y="982456"/>
            <a:ext cx="10794730" cy="1005840"/>
          </a:xfrm>
          <a:prstGeom prst="rect">
            <a:avLst/>
          </a:prstGeom>
          <a:noFill/>
        </p:spPr>
        <p:txBody>
          <a:bodyPr wrap="square">
            <a:spAutoFit/>
          </a:bodyPr>
          <a:lstStyle/>
          <a:p>
            <a:pPr algn="l"/>
            <a:r>
              <a:rPr sz="4000" b="0" i="1">
                <a:solidFill>
                  <a:srgbClr val="15152A"/>
                </a:solidFill>
                <a:latin typeface="Georgia"/>
              </a:rPr>
              <a:t>We promise what the industry average delivers.
We plan to significantly exceed it.</a:t>
            </a:r>
          </a:p>
        </p:txBody>
      </p:sp>
      <p:sp>
        <p:nvSpPr>
          <p:cNvPr id="7" name="TextBox 6"/>
          <p:cNvSpPr txBox="1"/>
          <p:nvPr/>
        </p:nvSpPr>
        <p:spPr>
          <a:xfrm>
            <a:off x="698482" y="2235184"/>
            <a:ext cx="5303520" cy="3200400"/>
          </a:xfrm>
          <a:prstGeom prst="rect">
            <a:avLst/>
          </a:prstGeom>
          <a:noFill/>
        </p:spPr>
        <p:txBody>
          <a:bodyPr wrap="square">
            <a:spAutoFit/>
          </a:bodyPr>
          <a:lstStyle/>
          <a:p>
            <a:pPr algn="l"/>
            <a:r>
              <a:rPr sz="1400" b="0" i="0">
                <a:solidFill>
                  <a:srgbClr val="5B5B6E"/>
                </a:solidFill>
                <a:latin typeface="Calibri"/>
              </a:rPr>
              <a:t>Every KPI presented to Longhorn is set at or below global industry average benchmarks for financial services in emerging markets. This is deliberate. The targets we commit to in the contract are the floor we will not miss.
An agency that over-promises and under-delivers loses the client at month three. An agency that under-promises and over-delivers earns trust, renewals, and referrals. The latter is the only commercially sustainable model.</a:t>
            </a:r>
          </a:p>
        </p:txBody>
      </p:sp>
      <p:sp>
        <p:nvSpPr>
          <p:cNvPr id="8" name="Rectangle 7"/>
          <p:cNvSpPr/>
          <p:nvPr/>
        </p:nvSpPr>
        <p:spPr>
          <a:xfrm>
            <a:off x="6367762" y="2143744"/>
            <a:ext cx="5125450" cy="1234440"/>
          </a:xfrm>
          <a:prstGeom prst="rect">
            <a:avLst/>
          </a:prstGeom>
          <a:solidFill>
            <a:srgbClr val="FFFFFF"/>
          </a:solidFill>
          <a:ln w="1524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23794" y="2290048"/>
            <a:ext cx="4759690" cy="219456"/>
          </a:xfrm>
          <a:prstGeom prst="rect">
            <a:avLst/>
          </a:prstGeom>
          <a:noFill/>
        </p:spPr>
        <p:txBody>
          <a:bodyPr wrap="square">
            <a:spAutoFit/>
          </a:bodyPr>
          <a:lstStyle/>
          <a:p>
            <a:pPr algn="l"/>
            <a:r>
              <a:rPr sz="800" b="0" i="0">
                <a:solidFill>
                  <a:srgbClr val="5B5B6E"/>
                </a:solidFill>
                <a:latin typeface="Courier New"/>
              </a:rPr>
              <a:t>THE FLOOR, IN THE CONTRACT</a:t>
            </a:r>
          </a:p>
        </p:txBody>
      </p:sp>
      <p:sp>
        <p:nvSpPr>
          <p:cNvPr id="10" name="TextBox 9"/>
          <p:cNvSpPr txBox="1"/>
          <p:nvPr/>
        </p:nvSpPr>
        <p:spPr>
          <a:xfrm>
            <a:off x="6623794" y="2546080"/>
            <a:ext cx="4759690" cy="694944"/>
          </a:xfrm>
          <a:prstGeom prst="rect">
            <a:avLst/>
          </a:prstGeom>
          <a:noFill/>
        </p:spPr>
        <p:txBody>
          <a:bodyPr wrap="square">
            <a:spAutoFit/>
          </a:bodyPr>
          <a:lstStyle/>
          <a:p>
            <a:pPr algn="l"/>
            <a:r>
              <a:rPr sz="1200" b="0" i="0">
                <a:solidFill>
                  <a:srgbClr val="5B5B6E"/>
                </a:solidFill>
                <a:latin typeface="Calibri"/>
              </a:rPr>
              <a:t>What we put in writing and report against monthly. Calibrated to emerging-market averages. Credible. Conservative.</a:t>
            </a:r>
          </a:p>
        </p:txBody>
      </p:sp>
      <p:sp>
        <p:nvSpPr>
          <p:cNvPr id="11" name="Rectangle 10"/>
          <p:cNvSpPr/>
          <p:nvPr/>
        </p:nvSpPr>
        <p:spPr>
          <a:xfrm>
            <a:off x="6367762" y="3515344"/>
            <a:ext cx="5125450" cy="1234440"/>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3794" y="3661648"/>
            <a:ext cx="4759690" cy="219456"/>
          </a:xfrm>
          <a:prstGeom prst="rect">
            <a:avLst/>
          </a:prstGeom>
          <a:noFill/>
        </p:spPr>
        <p:txBody>
          <a:bodyPr wrap="square">
            <a:spAutoFit/>
          </a:bodyPr>
          <a:lstStyle/>
          <a:p>
            <a:pPr algn="l"/>
            <a:r>
              <a:rPr sz="800" b="0" i="0">
                <a:solidFill>
                  <a:srgbClr val="FFFFFF"/>
                </a:solidFill>
                <a:latin typeface="Courier New"/>
              </a:rPr>
              <a:t>THE CEILING, INSIDE THE TEAM</a:t>
            </a:r>
          </a:p>
        </p:txBody>
      </p:sp>
      <p:sp>
        <p:nvSpPr>
          <p:cNvPr id="13" name="TextBox 12"/>
          <p:cNvSpPr txBox="1"/>
          <p:nvPr/>
        </p:nvSpPr>
        <p:spPr>
          <a:xfrm>
            <a:off x="6623794" y="3917680"/>
            <a:ext cx="4759690" cy="694944"/>
          </a:xfrm>
          <a:prstGeom prst="rect">
            <a:avLst/>
          </a:prstGeom>
          <a:noFill/>
        </p:spPr>
        <p:txBody>
          <a:bodyPr wrap="square">
            <a:spAutoFit/>
          </a:bodyPr>
          <a:lstStyle/>
          <a:p>
            <a:pPr algn="l"/>
            <a:r>
              <a:rPr sz="1200" b="0" i="0">
                <a:solidFill>
                  <a:srgbClr val="FFFFFF"/>
                </a:solidFill>
                <a:latin typeface="Calibri"/>
              </a:rPr>
              <a:t>What BridgeCom's team works to hit. Roughly 2x the floor on most metrics. Tracked weekly, never shared as a target.</a:t>
            </a:r>
          </a:p>
        </p:txBody>
      </p:sp>
      <p:sp>
        <p:nvSpPr>
          <p:cNvPr id="14" name="Rectangle 13"/>
          <p:cNvSpPr/>
          <p:nvPr/>
        </p:nvSpPr>
        <p:spPr>
          <a:xfrm>
            <a:off x="6367762" y="4886944"/>
            <a:ext cx="5125450" cy="1234440"/>
          </a:xfrm>
          <a:prstGeom prst="rect">
            <a:avLst/>
          </a:prstGeom>
          <a:solidFill>
            <a:srgbClr val="FFFFFF"/>
          </a:solidFill>
          <a:ln w="15240">
            <a:solidFill>
              <a:srgbClr val="C8121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23794" y="5033248"/>
            <a:ext cx="4759690" cy="219456"/>
          </a:xfrm>
          <a:prstGeom prst="rect">
            <a:avLst/>
          </a:prstGeom>
          <a:noFill/>
        </p:spPr>
        <p:txBody>
          <a:bodyPr wrap="square">
            <a:spAutoFit/>
          </a:bodyPr>
          <a:lstStyle/>
          <a:p>
            <a:pPr algn="l"/>
            <a:r>
              <a:rPr sz="800" b="0" i="0">
                <a:solidFill>
                  <a:srgbClr val="C8121E"/>
                </a:solidFill>
                <a:latin typeface="Courier New"/>
              </a:rPr>
              <a:t>IF WE MISS THE FLOOR</a:t>
            </a:r>
          </a:p>
        </p:txBody>
      </p:sp>
      <p:sp>
        <p:nvSpPr>
          <p:cNvPr id="16" name="TextBox 15"/>
          <p:cNvSpPr txBox="1"/>
          <p:nvPr/>
        </p:nvSpPr>
        <p:spPr>
          <a:xfrm>
            <a:off x="6623794" y="5289280"/>
            <a:ext cx="4759690" cy="694944"/>
          </a:xfrm>
          <a:prstGeom prst="rect">
            <a:avLst/>
          </a:prstGeom>
          <a:noFill/>
        </p:spPr>
        <p:txBody>
          <a:bodyPr wrap="square">
            <a:spAutoFit/>
          </a:bodyPr>
          <a:lstStyle/>
          <a:p>
            <a:pPr algn="l"/>
            <a:r>
              <a:rPr sz="1200" b="0" i="0">
                <a:solidFill>
                  <a:srgbClr val="5B5B6E"/>
                </a:solidFill>
                <a:latin typeface="Calibri"/>
              </a:rPr>
              <a:t>After two consecutive misses, a written recovery plan presented before the third month begins. No hiding. A plan.</a:t>
            </a:r>
          </a:p>
        </p:txBody>
      </p:sp>
      <p:cxnSp>
        <p:nvCxnSpPr>
          <p:cNvPr id="17" name="Connector 16"/>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19" name="TextBox 18"/>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19 / 24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Promise · 02</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WHAT MONTH 12 LOOKS LIKE — COMMITTED NUMBERS</a:t>
            </a:r>
          </a:p>
        </p:txBody>
      </p:sp>
      <p:sp>
        <p:nvSpPr>
          <p:cNvPr id="6" name="TextBox 5"/>
          <p:cNvSpPr txBox="1"/>
          <p:nvPr/>
        </p:nvSpPr>
        <p:spPr>
          <a:xfrm>
            <a:off x="698482" y="982456"/>
            <a:ext cx="10794730" cy="548640"/>
          </a:xfrm>
          <a:prstGeom prst="rect">
            <a:avLst/>
          </a:prstGeom>
          <a:noFill/>
        </p:spPr>
        <p:txBody>
          <a:bodyPr wrap="square">
            <a:spAutoFit/>
          </a:bodyPr>
          <a:lstStyle/>
          <a:p>
            <a:pPr algn="l"/>
            <a:r>
              <a:rPr sz="3800" b="0" i="1">
                <a:solidFill>
                  <a:srgbClr val="15152A"/>
                </a:solidFill>
                <a:latin typeface="Georgia"/>
              </a:rPr>
              <a:t>A year from signing, this is what we owe you.</a:t>
            </a:r>
          </a:p>
        </p:txBody>
      </p:sp>
      <p:sp>
        <p:nvSpPr>
          <p:cNvPr id="7" name="Rectangle 6"/>
          <p:cNvSpPr/>
          <p:nvPr/>
        </p:nvSpPr>
        <p:spPr>
          <a:xfrm>
            <a:off x="698482" y="1732264"/>
            <a:ext cx="2607242" cy="2176272"/>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98482" y="1732264"/>
            <a:ext cx="2607242" cy="45720"/>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3074" y="1896856"/>
            <a:ext cx="2332922" cy="320040"/>
          </a:xfrm>
          <a:prstGeom prst="rect">
            <a:avLst/>
          </a:prstGeom>
          <a:noFill/>
        </p:spPr>
        <p:txBody>
          <a:bodyPr wrap="square">
            <a:spAutoFit/>
          </a:bodyPr>
          <a:lstStyle/>
          <a:p>
            <a:pPr algn="l"/>
            <a:r>
              <a:rPr sz="750" b="0" i="0">
                <a:solidFill>
                  <a:srgbClr val="5B5B6E"/>
                </a:solidFill>
                <a:latin typeface="Courier New"/>
              </a:rPr>
              <a:t>TOTAL ENQUIRIES / MONTH</a:t>
            </a:r>
          </a:p>
        </p:txBody>
      </p:sp>
      <p:sp>
        <p:nvSpPr>
          <p:cNvPr id="10" name="TextBox 9"/>
          <p:cNvSpPr txBox="1"/>
          <p:nvPr/>
        </p:nvSpPr>
        <p:spPr>
          <a:xfrm>
            <a:off x="863074" y="2235184"/>
            <a:ext cx="2332922" cy="777240"/>
          </a:xfrm>
          <a:prstGeom prst="rect">
            <a:avLst/>
          </a:prstGeom>
          <a:noFill/>
        </p:spPr>
        <p:txBody>
          <a:bodyPr wrap="square">
            <a:spAutoFit/>
          </a:bodyPr>
          <a:lstStyle/>
          <a:p>
            <a:pPr algn="l"/>
            <a:r>
              <a:rPr sz="4400" b="0" i="0">
                <a:solidFill>
                  <a:srgbClr val="0A006E"/>
                </a:solidFill>
                <a:latin typeface="Georgia"/>
              </a:rPr>
              <a:t>35 floor</a:t>
            </a:r>
          </a:p>
        </p:txBody>
      </p:sp>
      <p:sp>
        <p:nvSpPr>
          <p:cNvPr id="11" name="TextBox 10"/>
          <p:cNvSpPr txBox="1"/>
          <p:nvPr/>
        </p:nvSpPr>
        <p:spPr>
          <a:xfrm>
            <a:off x="863074" y="3030712"/>
            <a:ext cx="2332922" cy="749808"/>
          </a:xfrm>
          <a:prstGeom prst="rect">
            <a:avLst/>
          </a:prstGeom>
          <a:noFill/>
        </p:spPr>
        <p:txBody>
          <a:bodyPr wrap="square">
            <a:spAutoFit/>
          </a:bodyPr>
          <a:lstStyle/>
          <a:p>
            <a:pPr algn="l"/>
            <a:r>
              <a:rPr sz="1000" b="0" i="0">
                <a:solidFill>
                  <a:srgbClr val="5B5B6E"/>
                </a:solidFill>
                <a:latin typeface="Calibri"/>
              </a:rPr>
              <a:t>Across all five channels. Stretch: 65. Source-attributed in CRM.</a:t>
            </a:r>
          </a:p>
        </p:txBody>
      </p:sp>
      <p:sp>
        <p:nvSpPr>
          <p:cNvPr id="12" name="Rectangle 11"/>
          <p:cNvSpPr/>
          <p:nvPr/>
        </p:nvSpPr>
        <p:spPr>
          <a:xfrm>
            <a:off x="3424597" y="1732264"/>
            <a:ext cx="2607242" cy="2176272"/>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424597" y="1732264"/>
            <a:ext cx="2607242" cy="45720"/>
          </a:xfrm>
          <a:prstGeom prst="rect">
            <a:avLst/>
          </a:prstGeom>
          <a:solidFill>
            <a:srgbClr val="C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89189" y="1896856"/>
            <a:ext cx="2332922" cy="320040"/>
          </a:xfrm>
          <a:prstGeom prst="rect">
            <a:avLst/>
          </a:prstGeom>
          <a:noFill/>
        </p:spPr>
        <p:txBody>
          <a:bodyPr wrap="square">
            <a:spAutoFit/>
          </a:bodyPr>
          <a:lstStyle/>
          <a:p>
            <a:pPr algn="l"/>
            <a:r>
              <a:rPr sz="750" b="0" i="0">
                <a:solidFill>
                  <a:srgbClr val="5B5B6E"/>
                </a:solidFill>
                <a:latin typeface="Courier New"/>
              </a:rPr>
              <a:t>POLICIES / MONTH, DIGITAL</a:t>
            </a:r>
          </a:p>
        </p:txBody>
      </p:sp>
      <p:sp>
        <p:nvSpPr>
          <p:cNvPr id="15" name="TextBox 14"/>
          <p:cNvSpPr txBox="1"/>
          <p:nvPr/>
        </p:nvSpPr>
        <p:spPr>
          <a:xfrm>
            <a:off x="3589189" y="2235184"/>
            <a:ext cx="2332922" cy="777240"/>
          </a:xfrm>
          <a:prstGeom prst="rect">
            <a:avLst/>
          </a:prstGeom>
          <a:noFill/>
        </p:spPr>
        <p:txBody>
          <a:bodyPr wrap="square">
            <a:spAutoFit/>
          </a:bodyPr>
          <a:lstStyle/>
          <a:p>
            <a:pPr algn="l"/>
            <a:r>
              <a:rPr sz="4400" b="0" i="0">
                <a:solidFill>
                  <a:srgbClr val="C8121E"/>
                </a:solidFill>
                <a:latin typeface="Georgia"/>
              </a:rPr>
              <a:t>5–10</a:t>
            </a:r>
          </a:p>
        </p:txBody>
      </p:sp>
      <p:sp>
        <p:nvSpPr>
          <p:cNvPr id="16" name="TextBox 15"/>
          <p:cNvSpPr txBox="1"/>
          <p:nvPr/>
        </p:nvSpPr>
        <p:spPr>
          <a:xfrm>
            <a:off x="3589189" y="3030712"/>
            <a:ext cx="2332922" cy="749808"/>
          </a:xfrm>
          <a:prstGeom prst="rect">
            <a:avLst/>
          </a:prstGeom>
          <a:noFill/>
        </p:spPr>
        <p:txBody>
          <a:bodyPr wrap="square">
            <a:spAutoFit/>
          </a:bodyPr>
          <a:lstStyle/>
          <a:p>
            <a:pPr algn="l"/>
            <a:r>
              <a:rPr sz="1000" b="0" i="0">
                <a:solidFill>
                  <a:srgbClr val="5B5B6E"/>
                </a:solidFill>
                <a:latin typeface="Calibri"/>
              </a:rPr>
              <a:t>Signed and bound. Stretch: 12–20. Attributed to channel and campaign.</a:t>
            </a:r>
          </a:p>
        </p:txBody>
      </p:sp>
      <p:sp>
        <p:nvSpPr>
          <p:cNvPr id="17" name="Rectangle 16"/>
          <p:cNvSpPr/>
          <p:nvPr/>
        </p:nvSpPr>
        <p:spPr>
          <a:xfrm>
            <a:off x="6150711" y="1732264"/>
            <a:ext cx="2607242" cy="2176272"/>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50711" y="1732264"/>
            <a:ext cx="2607242" cy="45720"/>
          </a:xfrm>
          <a:prstGeom prst="rect">
            <a:avLst/>
          </a:prstGeom>
          <a:solidFill>
            <a:srgbClr val="BA7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15303" y="1896856"/>
            <a:ext cx="2332922" cy="320040"/>
          </a:xfrm>
          <a:prstGeom prst="rect">
            <a:avLst/>
          </a:prstGeom>
          <a:noFill/>
        </p:spPr>
        <p:txBody>
          <a:bodyPr wrap="square">
            <a:spAutoFit/>
          </a:bodyPr>
          <a:lstStyle/>
          <a:p>
            <a:pPr algn="l"/>
            <a:r>
              <a:rPr sz="750" b="0" i="0">
                <a:solidFill>
                  <a:srgbClr val="5B5B6E"/>
                </a:solidFill>
                <a:latin typeface="Courier New"/>
              </a:rPr>
              <a:t>MONTHLY PREMIUM REVENUE</a:t>
            </a:r>
          </a:p>
        </p:txBody>
      </p:sp>
      <p:sp>
        <p:nvSpPr>
          <p:cNvPr id="20" name="TextBox 19"/>
          <p:cNvSpPr txBox="1"/>
          <p:nvPr/>
        </p:nvSpPr>
        <p:spPr>
          <a:xfrm>
            <a:off x="6315303" y="2235184"/>
            <a:ext cx="2332922" cy="777240"/>
          </a:xfrm>
          <a:prstGeom prst="rect">
            <a:avLst/>
          </a:prstGeom>
          <a:noFill/>
        </p:spPr>
        <p:txBody>
          <a:bodyPr wrap="square">
            <a:spAutoFit/>
          </a:bodyPr>
          <a:lstStyle/>
          <a:p>
            <a:pPr algn="l"/>
            <a:r>
              <a:rPr sz="4400" b="0" i="0">
                <a:solidFill>
                  <a:srgbClr val="BA7517"/>
                </a:solidFill>
                <a:latin typeface="Georgia"/>
              </a:rPr>
              <a:t>K 80k+</a:t>
            </a:r>
          </a:p>
        </p:txBody>
      </p:sp>
      <p:sp>
        <p:nvSpPr>
          <p:cNvPr id="21" name="TextBox 20"/>
          <p:cNvSpPr txBox="1"/>
          <p:nvPr/>
        </p:nvSpPr>
        <p:spPr>
          <a:xfrm>
            <a:off x="6315303" y="3030712"/>
            <a:ext cx="2332922" cy="749808"/>
          </a:xfrm>
          <a:prstGeom prst="rect">
            <a:avLst/>
          </a:prstGeom>
          <a:noFill/>
        </p:spPr>
        <p:txBody>
          <a:bodyPr wrap="square">
            <a:spAutoFit/>
          </a:bodyPr>
          <a:lstStyle/>
          <a:p>
            <a:pPr algn="l"/>
            <a:r>
              <a:rPr sz="1000" b="0" i="0">
                <a:solidFill>
                  <a:srgbClr val="5B5B6E"/>
                </a:solidFill>
                <a:latin typeface="Calibri"/>
              </a:rPr>
              <a:t>From digital-sourced clients. Stretch: K 200k+.</a:t>
            </a:r>
          </a:p>
        </p:txBody>
      </p:sp>
      <p:sp>
        <p:nvSpPr>
          <p:cNvPr id="22" name="Rectangle 21"/>
          <p:cNvSpPr/>
          <p:nvPr/>
        </p:nvSpPr>
        <p:spPr>
          <a:xfrm>
            <a:off x="8876826" y="1732264"/>
            <a:ext cx="2607242" cy="2176272"/>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876826" y="1732264"/>
            <a:ext cx="2607242" cy="45720"/>
          </a:xfrm>
          <a:prstGeom prst="rect">
            <a:avLst/>
          </a:prstGeom>
          <a:solidFill>
            <a:srgbClr val="2750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41418" y="1896856"/>
            <a:ext cx="2332922" cy="320040"/>
          </a:xfrm>
          <a:prstGeom prst="rect">
            <a:avLst/>
          </a:prstGeom>
          <a:noFill/>
        </p:spPr>
        <p:txBody>
          <a:bodyPr wrap="square">
            <a:spAutoFit/>
          </a:bodyPr>
          <a:lstStyle/>
          <a:p>
            <a:pPr algn="l"/>
            <a:r>
              <a:rPr sz="750" b="0" i="0">
                <a:solidFill>
                  <a:srgbClr val="5B5B6E"/>
                </a:solidFill>
                <a:latin typeface="Courier New"/>
              </a:rPr>
              <a:t>WHATSAPP SUBSCRIBERS</a:t>
            </a:r>
          </a:p>
        </p:txBody>
      </p:sp>
      <p:sp>
        <p:nvSpPr>
          <p:cNvPr id="25" name="TextBox 24"/>
          <p:cNvSpPr txBox="1"/>
          <p:nvPr/>
        </p:nvSpPr>
        <p:spPr>
          <a:xfrm>
            <a:off x="9041418" y="2235184"/>
            <a:ext cx="2332922" cy="777240"/>
          </a:xfrm>
          <a:prstGeom prst="rect">
            <a:avLst/>
          </a:prstGeom>
          <a:noFill/>
        </p:spPr>
        <p:txBody>
          <a:bodyPr wrap="square">
            <a:spAutoFit/>
          </a:bodyPr>
          <a:lstStyle/>
          <a:p>
            <a:pPr algn="l"/>
            <a:r>
              <a:rPr sz="4400" b="0" i="0">
                <a:solidFill>
                  <a:srgbClr val="27500A"/>
                </a:solidFill>
                <a:latin typeface="Georgia"/>
              </a:rPr>
              <a:t>700+</a:t>
            </a:r>
          </a:p>
        </p:txBody>
      </p:sp>
      <p:sp>
        <p:nvSpPr>
          <p:cNvPr id="26" name="TextBox 25"/>
          <p:cNvSpPr txBox="1"/>
          <p:nvPr/>
        </p:nvSpPr>
        <p:spPr>
          <a:xfrm>
            <a:off x="9041418" y="3030712"/>
            <a:ext cx="2332922" cy="749808"/>
          </a:xfrm>
          <a:prstGeom prst="rect">
            <a:avLst/>
          </a:prstGeom>
          <a:noFill/>
        </p:spPr>
        <p:txBody>
          <a:bodyPr wrap="square">
            <a:spAutoFit/>
          </a:bodyPr>
          <a:lstStyle/>
          <a:p>
            <a:pPr algn="l"/>
            <a:r>
              <a:rPr sz="1000" b="0" i="0">
                <a:solidFill>
                  <a:srgbClr val="5B5B6E"/>
                </a:solidFill>
                <a:latin typeface="Calibri"/>
              </a:rPr>
              <a:t>Opt-in list. 40% open rate floor. Highest-converting audience you own.</a:t>
            </a:r>
          </a:p>
        </p:txBody>
      </p:sp>
      <p:sp>
        <p:nvSpPr>
          <p:cNvPr id="27" name="Rectangle 26"/>
          <p:cNvSpPr/>
          <p:nvPr/>
        </p:nvSpPr>
        <p:spPr>
          <a:xfrm>
            <a:off x="698482" y="4018264"/>
            <a:ext cx="2607242" cy="2176272"/>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98482" y="4018264"/>
            <a:ext cx="2607242" cy="45720"/>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3074" y="4182856"/>
            <a:ext cx="2332922" cy="320040"/>
          </a:xfrm>
          <a:prstGeom prst="rect">
            <a:avLst/>
          </a:prstGeom>
          <a:noFill/>
        </p:spPr>
        <p:txBody>
          <a:bodyPr wrap="square">
            <a:spAutoFit/>
          </a:bodyPr>
          <a:lstStyle/>
          <a:p>
            <a:pPr algn="l"/>
            <a:r>
              <a:rPr sz="750" b="0" i="0">
                <a:solidFill>
                  <a:srgbClr val="5B5B6E"/>
                </a:solidFill>
                <a:latin typeface="Courier New"/>
              </a:rPr>
              <a:t>SOCIAL FOLLOWERS, COMBINED</a:t>
            </a:r>
          </a:p>
        </p:txBody>
      </p:sp>
      <p:sp>
        <p:nvSpPr>
          <p:cNvPr id="30" name="TextBox 29"/>
          <p:cNvSpPr txBox="1"/>
          <p:nvPr/>
        </p:nvSpPr>
        <p:spPr>
          <a:xfrm>
            <a:off x="863074" y="4521184"/>
            <a:ext cx="2332922" cy="777240"/>
          </a:xfrm>
          <a:prstGeom prst="rect">
            <a:avLst/>
          </a:prstGeom>
          <a:noFill/>
        </p:spPr>
        <p:txBody>
          <a:bodyPr wrap="square">
            <a:spAutoFit/>
          </a:bodyPr>
          <a:lstStyle/>
          <a:p>
            <a:pPr algn="l"/>
            <a:r>
              <a:rPr sz="4400" b="0" i="0">
                <a:solidFill>
                  <a:srgbClr val="0A006E"/>
                </a:solidFill>
                <a:latin typeface="Georgia"/>
              </a:rPr>
              <a:t>4.3k+</a:t>
            </a:r>
          </a:p>
        </p:txBody>
      </p:sp>
      <p:sp>
        <p:nvSpPr>
          <p:cNvPr id="31" name="TextBox 30"/>
          <p:cNvSpPr txBox="1"/>
          <p:nvPr/>
        </p:nvSpPr>
        <p:spPr>
          <a:xfrm>
            <a:off x="863074" y="5316712"/>
            <a:ext cx="2332922" cy="749808"/>
          </a:xfrm>
          <a:prstGeom prst="rect">
            <a:avLst/>
          </a:prstGeom>
          <a:noFill/>
        </p:spPr>
        <p:txBody>
          <a:bodyPr wrap="square">
            <a:spAutoFit/>
          </a:bodyPr>
          <a:lstStyle/>
          <a:p>
            <a:pPr algn="l"/>
            <a:r>
              <a:rPr sz="1000" b="0" i="0">
                <a:solidFill>
                  <a:srgbClr val="5B5B6E"/>
                </a:solidFill>
                <a:latin typeface="Calibri"/>
              </a:rPr>
              <a:t>FB 2.5k · IG 1.2k · LinkedIn 600. Stretch: ~8k. Real, Lusaka-led.</a:t>
            </a:r>
          </a:p>
        </p:txBody>
      </p:sp>
      <p:sp>
        <p:nvSpPr>
          <p:cNvPr id="32" name="Rectangle 31"/>
          <p:cNvSpPr/>
          <p:nvPr/>
        </p:nvSpPr>
        <p:spPr>
          <a:xfrm>
            <a:off x="3424597" y="4018264"/>
            <a:ext cx="2607242" cy="2176272"/>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3424597" y="4018264"/>
            <a:ext cx="2607242" cy="45720"/>
          </a:xfrm>
          <a:prstGeom prst="rect">
            <a:avLst/>
          </a:prstGeom>
          <a:solidFill>
            <a:srgbClr val="C812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89189" y="4182856"/>
            <a:ext cx="2332922" cy="320040"/>
          </a:xfrm>
          <a:prstGeom prst="rect">
            <a:avLst/>
          </a:prstGeom>
          <a:noFill/>
        </p:spPr>
        <p:txBody>
          <a:bodyPr wrap="square">
            <a:spAutoFit/>
          </a:bodyPr>
          <a:lstStyle/>
          <a:p>
            <a:pPr algn="l"/>
            <a:r>
              <a:rPr sz="750" b="0" i="0">
                <a:solidFill>
                  <a:srgbClr val="5B5B6E"/>
                </a:solidFill>
                <a:latin typeface="Courier New"/>
              </a:rPr>
              <a:t>ACTIVE REFERRAL PARTNERS</a:t>
            </a:r>
          </a:p>
        </p:txBody>
      </p:sp>
      <p:sp>
        <p:nvSpPr>
          <p:cNvPr id="35" name="TextBox 34"/>
          <p:cNvSpPr txBox="1"/>
          <p:nvPr/>
        </p:nvSpPr>
        <p:spPr>
          <a:xfrm>
            <a:off x="3589189" y="4521184"/>
            <a:ext cx="2332922" cy="777240"/>
          </a:xfrm>
          <a:prstGeom prst="rect">
            <a:avLst/>
          </a:prstGeom>
          <a:noFill/>
        </p:spPr>
        <p:txBody>
          <a:bodyPr wrap="square">
            <a:spAutoFit/>
          </a:bodyPr>
          <a:lstStyle/>
          <a:p>
            <a:pPr algn="l"/>
            <a:r>
              <a:rPr sz="4400" b="0" i="0">
                <a:solidFill>
                  <a:srgbClr val="C8121E"/>
                </a:solidFill>
                <a:latin typeface="Georgia"/>
              </a:rPr>
              <a:t>4</a:t>
            </a:r>
          </a:p>
        </p:txBody>
      </p:sp>
      <p:sp>
        <p:nvSpPr>
          <p:cNvPr id="36" name="TextBox 35"/>
          <p:cNvSpPr txBox="1"/>
          <p:nvPr/>
        </p:nvSpPr>
        <p:spPr>
          <a:xfrm>
            <a:off x="3589189" y="5316712"/>
            <a:ext cx="2332922" cy="749808"/>
          </a:xfrm>
          <a:prstGeom prst="rect">
            <a:avLst/>
          </a:prstGeom>
          <a:noFill/>
        </p:spPr>
        <p:txBody>
          <a:bodyPr wrap="square">
            <a:spAutoFit/>
          </a:bodyPr>
          <a:lstStyle/>
          <a:p>
            <a:pPr algn="l"/>
            <a:r>
              <a:rPr sz="1000" b="0" i="0">
                <a:solidFill>
                  <a:srgbClr val="5B5B6E"/>
                </a:solidFill>
                <a:latin typeface="Calibri"/>
              </a:rPr>
              <a:t>Signed agreements, monthly check-in. Referrals convert 2–3x cold leads.</a:t>
            </a:r>
          </a:p>
        </p:txBody>
      </p:sp>
      <p:sp>
        <p:nvSpPr>
          <p:cNvPr id="37" name="Rectangle 36"/>
          <p:cNvSpPr/>
          <p:nvPr/>
        </p:nvSpPr>
        <p:spPr>
          <a:xfrm>
            <a:off x="6150711" y="4018264"/>
            <a:ext cx="2607242" cy="2176272"/>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150711" y="4018264"/>
            <a:ext cx="2607242" cy="45720"/>
          </a:xfrm>
          <a:prstGeom prst="rect">
            <a:avLst/>
          </a:prstGeom>
          <a:solidFill>
            <a:srgbClr val="BA75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315303" y="4182856"/>
            <a:ext cx="2332922" cy="320040"/>
          </a:xfrm>
          <a:prstGeom prst="rect">
            <a:avLst/>
          </a:prstGeom>
          <a:noFill/>
        </p:spPr>
        <p:txBody>
          <a:bodyPr wrap="square">
            <a:spAutoFit/>
          </a:bodyPr>
          <a:lstStyle/>
          <a:p>
            <a:pPr algn="l"/>
            <a:r>
              <a:rPr sz="750" b="0" i="0">
                <a:solidFill>
                  <a:srgbClr val="5B5B6E"/>
                </a:solidFill>
                <a:latin typeface="Courier New"/>
              </a:rPr>
              <a:t>KEYWORDS RANKING PAGE 1</a:t>
            </a:r>
          </a:p>
        </p:txBody>
      </p:sp>
      <p:sp>
        <p:nvSpPr>
          <p:cNvPr id="40" name="TextBox 39"/>
          <p:cNvSpPr txBox="1"/>
          <p:nvPr/>
        </p:nvSpPr>
        <p:spPr>
          <a:xfrm>
            <a:off x="6315303" y="4521184"/>
            <a:ext cx="2332922" cy="777240"/>
          </a:xfrm>
          <a:prstGeom prst="rect">
            <a:avLst/>
          </a:prstGeom>
          <a:noFill/>
        </p:spPr>
        <p:txBody>
          <a:bodyPr wrap="square">
            <a:spAutoFit/>
          </a:bodyPr>
          <a:lstStyle/>
          <a:p>
            <a:pPr algn="l"/>
            <a:r>
              <a:rPr sz="4400" b="0" i="0">
                <a:solidFill>
                  <a:srgbClr val="BA7517"/>
                </a:solidFill>
                <a:latin typeface="Georgia"/>
              </a:rPr>
              <a:t>3+</a:t>
            </a:r>
          </a:p>
        </p:txBody>
      </p:sp>
      <p:sp>
        <p:nvSpPr>
          <p:cNvPr id="41" name="TextBox 40"/>
          <p:cNvSpPr txBox="1"/>
          <p:nvPr/>
        </p:nvSpPr>
        <p:spPr>
          <a:xfrm>
            <a:off x="6315303" y="5316712"/>
            <a:ext cx="2332922" cy="749808"/>
          </a:xfrm>
          <a:prstGeom prst="rect">
            <a:avLst/>
          </a:prstGeom>
          <a:noFill/>
        </p:spPr>
        <p:txBody>
          <a:bodyPr wrap="square">
            <a:spAutoFit/>
          </a:bodyPr>
          <a:lstStyle/>
          <a:p>
            <a:pPr algn="l"/>
            <a:r>
              <a:rPr sz="1000" b="0" i="0">
                <a:solidFill>
                  <a:srgbClr val="5B5B6E"/>
                </a:solidFill>
                <a:latin typeface="Calibri"/>
              </a:rPr>
              <a:t>Organic search on broker- and product-intent terms. SEO compounds.</a:t>
            </a:r>
          </a:p>
        </p:txBody>
      </p:sp>
      <p:sp>
        <p:nvSpPr>
          <p:cNvPr id="42" name="Rectangle 41"/>
          <p:cNvSpPr/>
          <p:nvPr/>
        </p:nvSpPr>
        <p:spPr>
          <a:xfrm>
            <a:off x="8876826" y="4018264"/>
            <a:ext cx="2607242" cy="2176272"/>
          </a:xfrm>
          <a:prstGeom prst="rect">
            <a:avLst/>
          </a:prstGeom>
          <a:solidFill>
            <a:srgbClr val="FFFFFF"/>
          </a:solidFill>
          <a:ln w="635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876826" y="4018264"/>
            <a:ext cx="2607242" cy="45720"/>
          </a:xfrm>
          <a:prstGeom prst="rect">
            <a:avLst/>
          </a:prstGeom>
          <a:solidFill>
            <a:srgbClr val="2750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41418" y="4182856"/>
            <a:ext cx="2332922" cy="320040"/>
          </a:xfrm>
          <a:prstGeom prst="rect">
            <a:avLst/>
          </a:prstGeom>
          <a:noFill/>
        </p:spPr>
        <p:txBody>
          <a:bodyPr wrap="square">
            <a:spAutoFit/>
          </a:bodyPr>
          <a:lstStyle/>
          <a:p>
            <a:pPr algn="l"/>
            <a:r>
              <a:rPr sz="750" b="0" i="0">
                <a:solidFill>
                  <a:srgbClr val="5B5B6E"/>
                </a:solidFill>
                <a:latin typeface="Courier New"/>
              </a:rPr>
              <a:t>ENQUIRY RESPONSE SLA</a:t>
            </a:r>
          </a:p>
        </p:txBody>
      </p:sp>
      <p:sp>
        <p:nvSpPr>
          <p:cNvPr id="45" name="TextBox 44"/>
          <p:cNvSpPr txBox="1"/>
          <p:nvPr/>
        </p:nvSpPr>
        <p:spPr>
          <a:xfrm>
            <a:off x="9041418" y="4521184"/>
            <a:ext cx="2332922" cy="777240"/>
          </a:xfrm>
          <a:prstGeom prst="rect">
            <a:avLst/>
          </a:prstGeom>
          <a:noFill/>
        </p:spPr>
        <p:txBody>
          <a:bodyPr wrap="square">
            <a:spAutoFit/>
          </a:bodyPr>
          <a:lstStyle/>
          <a:p>
            <a:pPr algn="l"/>
            <a:r>
              <a:rPr sz="4400" b="0" i="0">
                <a:solidFill>
                  <a:srgbClr val="27500A"/>
                </a:solidFill>
                <a:latin typeface="Georgia"/>
              </a:rPr>
              <a:t>&lt;90s auto</a:t>
            </a:r>
          </a:p>
        </p:txBody>
      </p:sp>
      <p:sp>
        <p:nvSpPr>
          <p:cNvPr id="46" name="TextBox 45"/>
          <p:cNvSpPr txBox="1"/>
          <p:nvPr/>
        </p:nvSpPr>
        <p:spPr>
          <a:xfrm>
            <a:off x="9041418" y="5316712"/>
            <a:ext cx="2332922" cy="749808"/>
          </a:xfrm>
          <a:prstGeom prst="rect">
            <a:avLst/>
          </a:prstGeom>
          <a:noFill/>
        </p:spPr>
        <p:txBody>
          <a:bodyPr wrap="square">
            <a:spAutoFit/>
          </a:bodyPr>
          <a:lstStyle/>
          <a:p>
            <a:pPr algn="l"/>
            <a:r>
              <a:rPr sz="1000" b="0" i="0">
                <a:solidFill>
                  <a:srgbClr val="5B5B6E"/>
                </a:solidFill>
                <a:latin typeface="Calibri"/>
              </a:rPr>
              <a:t>Automated WhatsApp reply. Human contact under 3h on A-leads. Day one.</a:t>
            </a:r>
          </a:p>
        </p:txBody>
      </p:sp>
      <p:cxnSp>
        <p:nvCxnSpPr>
          <p:cNvPr id="47" name="Connector 46"/>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49" name="TextBox 48"/>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20 / 24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06E"/>
        </a:solidFill>
        <a:effectLst/>
      </p:bgPr>
    </p:bg>
    <p:spTree>
      <p:nvGrpSpPr>
        <p:cNvPr id="1" name=""/>
        <p:cNvGrpSpPr/>
        <p:nvPr/>
      </p:nvGrpSpPr>
      <p:grpSpPr/>
      <p:sp>
        <p:nvSpPr>
          <p:cNvPr id="2" name="TextBox 1"/>
          <p:cNvSpPr txBox="1"/>
          <p:nvPr/>
        </p:nvSpPr>
        <p:spPr>
          <a:xfrm>
            <a:off x="424162" y="1097280"/>
            <a:ext cx="3657600" cy="3200400"/>
          </a:xfrm>
          <a:prstGeom prst="rect">
            <a:avLst/>
          </a:prstGeom>
          <a:noFill/>
        </p:spPr>
        <p:txBody>
          <a:bodyPr wrap="square">
            <a:spAutoFit/>
          </a:bodyPr>
          <a:lstStyle/>
          <a:p>
            <a:pPr algn="l"/>
            <a:r>
              <a:rPr sz="20000" b="0" i="1">
                <a:solidFill>
                  <a:srgbClr val="28209A"/>
                </a:solidFill>
                <a:latin typeface="Georgia"/>
              </a:rPr>
              <a:t>06</a:t>
            </a:r>
          </a:p>
        </p:txBody>
      </p:sp>
      <p:sp>
        <p:nvSpPr>
          <p:cNvPr id="3" name="TextBox 2"/>
          <p:cNvSpPr txBox="1"/>
          <p:nvPr/>
        </p:nvSpPr>
        <p:spPr>
          <a:xfrm>
            <a:off x="3624562" y="2286000"/>
            <a:ext cx="10794730" cy="256032"/>
          </a:xfrm>
          <a:prstGeom prst="rect">
            <a:avLst/>
          </a:prstGeom>
          <a:noFill/>
        </p:spPr>
        <p:txBody>
          <a:bodyPr wrap="square">
            <a:spAutoFit/>
          </a:bodyPr>
          <a:lstStyle/>
          <a:p>
            <a:pPr algn="l"/>
            <a:r>
              <a:rPr sz="900" b="0" i="0">
                <a:solidFill>
                  <a:srgbClr val="A0A0C0"/>
                </a:solidFill>
                <a:latin typeface="Courier New"/>
              </a:rPr>
              <a:t>• PART 06</a:t>
            </a:r>
          </a:p>
        </p:txBody>
      </p:sp>
      <p:sp>
        <p:nvSpPr>
          <p:cNvPr id="4" name="TextBox 3"/>
          <p:cNvSpPr txBox="1"/>
          <p:nvPr/>
        </p:nvSpPr>
        <p:spPr>
          <a:xfrm>
            <a:off x="3624562" y="2606040"/>
            <a:ext cx="7315200" cy="1371600"/>
          </a:xfrm>
          <a:prstGeom prst="rect">
            <a:avLst/>
          </a:prstGeom>
          <a:noFill/>
        </p:spPr>
        <p:txBody>
          <a:bodyPr wrap="square">
            <a:spAutoFit/>
          </a:bodyPr>
          <a:lstStyle/>
          <a:p>
            <a:pPr algn="l"/>
            <a:r>
              <a:rPr sz="8000" b="0" i="1">
                <a:solidFill>
                  <a:srgbClr val="FFFFFF"/>
                </a:solidFill>
                <a:latin typeface="Georgia"/>
              </a:rPr>
              <a:t>The Investment</a:t>
            </a:r>
          </a:p>
        </p:txBody>
      </p:sp>
      <p:sp>
        <p:nvSpPr>
          <p:cNvPr id="5" name="TextBox 4"/>
          <p:cNvSpPr txBox="1"/>
          <p:nvPr/>
        </p:nvSpPr>
        <p:spPr>
          <a:xfrm>
            <a:off x="3624562" y="3657600"/>
            <a:ext cx="6858000" cy="822960"/>
          </a:xfrm>
          <a:prstGeom prst="rect">
            <a:avLst/>
          </a:prstGeom>
          <a:noFill/>
        </p:spPr>
        <p:txBody>
          <a:bodyPr wrap="square">
            <a:spAutoFit/>
          </a:bodyPr>
          <a:lstStyle/>
          <a:p>
            <a:pPr algn="l"/>
            <a:r>
              <a:rPr sz="2000" b="0" i="0">
                <a:solidFill>
                  <a:srgbClr val="C0C0E0"/>
                </a:solidFill>
                <a:latin typeface="Calibri"/>
              </a:rPr>
              <a:t>Every cost. Transparent. Justified. Nothing hidden.</a:t>
            </a:r>
          </a:p>
        </p:txBody>
      </p:sp>
      <p:sp>
        <p:nvSpPr>
          <p:cNvPr id="6" name="TextBox 5"/>
          <p:cNvSpPr txBox="1"/>
          <p:nvPr/>
        </p:nvSpPr>
        <p:spPr>
          <a:xfrm>
            <a:off x="698482" y="320040"/>
            <a:ext cx="3200400" cy="320040"/>
          </a:xfrm>
          <a:prstGeom prst="rect">
            <a:avLst/>
          </a:prstGeom>
          <a:noFill/>
        </p:spPr>
        <p:txBody>
          <a:bodyPr wrap="square">
            <a:spAutoFit/>
          </a:bodyPr>
          <a:lstStyle/>
          <a:p>
            <a:pPr algn="l"/>
            <a:r>
              <a:rPr sz="1000" b="1" i="0">
                <a:solidFill>
                  <a:srgbClr val="FFFFFF"/>
                </a:solidFill>
                <a:latin typeface="Calibri"/>
              </a:rPr>
              <a:t>BridgeCom Narratives</a:t>
            </a:r>
          </a:p>
        </p:txBody>
      </p:sp>
      <p:sp>
        <p:nvSpPr>
          <p:cNvPr id="7" name="TextBox 6"/>
          <p:cNvSpPr txBox="1"/>
          <p:nvPr/>
        </p:nvSpPr>
        <p:spPr>
          <a:xfrm>
            <a:off x="698482" y="594360"/>
            <a:ext cx="3200400" cy="201168"/>
          </a:xfrm>
          <a:prstGeom prst="rect">
            <a:avLst/>
          </a:prstGeom>
          <a:noFill/>
        </p:spPr>
        <p:txBody>
          <a:bodyPr wrap="square">
            <a:spAutoFit/>
          </a:bodyPr>
          <a:lstStyle/>
          <a:p>
            <a:pPr algn="l"/>
            <a:r>
              <a:rPr sz="750" b="0" i="0">
                <a:solidFill>
                  <a:srgbClr val="FFFFFF"/>
                </a:solidFill>
                <a:latin typeface="Courier New"/>
              </a:rPr>
              <a:t>FOR LONGHORN INSURANCE</a:t>
            </a:r>
          </a:p>
        </p:txBody>
      </p:sp>
      <p:sp>
        <p:nvSpPr>
          <p:cNvPr id="8" name="TextBox 7"/>
          <p:cNvSpPr txBox="1"/>
          <p:nvPr/>
        </p:nvSpPr>
        <p:spPr>
          <a:xfrm>
            <a:off x="9207212" y="320040"/>
            <a:ext cx="2286000" cy="320040"/>
          </a:xfrm>
          <a:prstGeom prst="rect">
            <a:avLst/>
          </a:prstGeom>
          <a:noFill/>
        </p:spPr>
        <p:txBody>
          <a:bodyPr wrap="square">
            <a:spAutoFit/>
          </a:bodyPr>
          <a:lstStyle/>
          <a:p>
            <a:pPr algn="r"/>
            <a:r>
              <a:rPr sz="900" b="0" i="0">
                <a:solidFill>
                  <a:srgbClr val="FFFFFF"/>
                </a:solidFill>
                <a:latin typeface="Courier New"/>
              </a:rPr>
              <a:t>Part 06</a:t>
            </a:r>
          </a:p>
        </p:txBody>
      </p:sp>
      <p:cxnSp>
        <p:nvCxnSpPr>
          <p:cNvPr id="9" name="Connector 8"/>
          <p:cNvCxnSpPr/>
          <p:nvPr/>
        </p:nvCxnSpPr>
        <p:spPr>
          <a:xfrm>
            <a:off x="698482" y="6213362"/>
            <a:ext cx="10794730" cy="0"/>
          </a:xfrm>
          <a:prstGeom prst="line">
            <a:avLst/>
          </a:prstGeom>
          <a:ln w="6350">
            <a:solidFill>
              <a:srgbClr val="80809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98482" y="6085346"/>
            <a:ext cx="3657600" cy="228600"/>
          </a:xfrm>
          <a:prstGeom prst="rect">
            <a:avLst/>
          </a:prstGeom>
          <a:noFill/>
        </p:spPr>
        <p:txBody>
          <a:bodyPr wrap="square">
            <a:spAutoFit/>
          </a:bodyPr>
          <a:lstStyle/>
          <a:p>
            <a:pPr algn="l"/>
            <a:r>
              <a:rPr sz="800" b="0" i="0">
                <a:solidFill>
                  <a:srgbClr val="9090A8"/>
                </a:solidFill>
                <a:latin typeface="Courier New"/>
              </a:rPr>
              <a:t>BridgeCom Narratives · 2026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6F4EF"/>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Investment · 01</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YEAR-ONE INVESTMENT, ALL CATEGORIES</a:t>
            </a:r>
          </a:p>
        </p:txBody>
      </p:sp>
      <p:sp>
        <p:nvSpPr>
          <p:cNvPr id="6" name="TextBox 5"/>
          <p:cNvSpPr txBox="1"/>
          <p:nvPr/>
        </p:nvSpPr>
        <p:spPr>
          <a:xfrm>
            <a:off x="698482" y="982456"/>
            <a:ext cx="10794730" cy="502920"/>
          </a:xfrm>
          <a:prstGeom prst="rect">
            <a:avLst/>
          </a:prstGeom>
          <a:noFill/>
        </p:spPr>
        <p:txBody>
          <a:bodyPr wrap="square">
            <a:spAutoFit/>
          </a:bodyPr>
          <a:lstStyle/>
          <a:p>
            <a:pPr algn="l"/>
            <a:r>
              <a:rPr sz="4200" b="0" i="1">
                <a:solidFill>
                  <a:srgbClr val="15152A"/>
                </a:solidFill>
                <a:latin typeface="Georgia"/>
              </a:rPr>
              <a:t>Every kwacha, accounted for.</a:t>
            </a:r>
          </a:p>
        </p:txBody>
      </p:sp>
      <p:cxnSp>
        <p:nvCxnSpPr>
          <p:cNvPr id="7" name="Connector 6"/>
          <p:cNvCxnSpPr/>
          <p:nvPr/>
        </p:nvCxnSpPr>
        <p:spPr>
          <a:xfrm>
            <a:off x="698482" y="1686544"/>
            <a:ext cx="10794730" cy="0"/>
          </a:xfrm>
          <a:prstGeom prst="line">
            <a:avLst/>
          </a:prstGeom>
          <a:ln w="15240">
            <a:solidFill>
              <a:srgbClr val="15152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744202" y="1741408"/>
            <a:ext cx="4041648" cy="228600"/>
          </a:xfrm>
          <a:prstGeom prst="rect">
            <a:avLst/>
          </a:prstGeom>
          <a:noFill/>
        </p:spPr>
        <p:txBody>
          <a:bodyPr wrap="square">
            <a:spAutoFit/>
          </a:bodyPr>
          <a:lstStyle/>
          <a:p>
            <a:pPr algn="l"/>
            <a:r>
              <a:rPr sz="750" b="0" i="0">
                <a:solidFill>
                  <a:srgbClr val="5B5B6E"/>
                </a:solidFill>
                <a:latin typeface="Courier New"/>
              </a:rPr>
              <a:t>CATEGORY</a:t>
            </a:r>
          </a:p>
        </p:txBody>
      </p:sp>
      <p:sp>
        <p:nvSpPr>
          <p:cNvPr id="9" name="TextBox 8"/>
          <p:cNvSpPr txBox="1"/>
          <p:nvPr/>
        </p:nvSpPr>
        <p:spPr>
          <a:xfrm>
            <a:off x="4913866" y="1741408"/>
            <a:ext cx="1847088" cy="228600"/>
          </a:xfrm>
          <a:prstGeom prst="rect">
            <a:avLst/>
          </a:prstGeom>
          <a:noFill/>
        </p:spPr>
        <p:txBody>
          <a:bodyPr wrap="square">
            <a:spAutoFit/>
          </a:bodyPr>
          <a:lstStyle/>
          <a:p>
            <a:pPr algn="r"/>
            <a:r>
              <a:rPr sz="750" b="0" i="0">
                <a:solidFill>
                  <a:srgbClr val="5B5B6E"/>
                </a:solidFill>
                <a:latin typeface="Courier New"/>
              </a:rPr>
              <a:t>ANNUAL LOW (ZMW)</a:t>
            </a:r>
          </a:p>
        </p:txBody>
      </p:sp>
      <p:sp>
        <p:nvSpPr>
          <p:cNvPr id="10" name="TextBox 9"/>
          <p:cNvSpPr txBox="1"/>
          <p:nvPr/>
        </p:nvSpPr>
        <p:spPr>
          <a:xfrm>
            <a:off x="6888970" y="1741408"/>
            <a:ext cx="1847088" cy="228600"/>
          </a:xfrm>
          <a:prstGeom prst="rect">
            <a:avLst/>
          </a:prstGeom>
          <a:noFill/>
        </p:spPr>
        <p:txBody>
          <a:bodyPr wrap="square">
            <a:spAutoFit/>
          </a:bodyPr>
          <a:lstStyle/>
          <a:p>
            <a:pPr algn="r"/>
            <a:r>
              <a:rPr sz="750" b="0" i="0">
                <a:solidFill>
                  <a:srgbClr val="5B5B6E"/>
                </a:solidFill>
                <a:latin typeface="Courier New"/>
              </a:rPr>
              <a:t>ANNUAL HIGH (ZMW)</a:t>
            </a:r>
          </a:p>
        </p:txBody>
      </p:sp>
      <p:sp>
        <p:nvSpPr>
          <p:cNvPr id="11" name="TextBox 10"/>
          <p:cNvSpPr txBox="1"/>
          <p:nvPr/>
        </p:nvSpPr>
        <p:spPr>
          <a:xfrm>
            <a:off x="8864074" y="1741408"/>
            <a:ext cx="2670048" cy="228600"/>
          </a:xfrm>
          <a:prstGeom prst="rect">
            <a:avLst/>
          </a:prstGeom>
          <a:noFill/>
        </p:spPr>
        <p:txBody>
          <a:bodyPr wrap="square">
            <a:spAutoFit/>
          </a:bodyPr>
          <a:lstStyle/>
          <a:p>
            <a:pPr algn="l"/>
            <a:r>
              <a:rPr sz="750" b="0" i="0">
                <a:solidFill>
                  <a:srgbClr val="5B5B6E"/>
                </a:solidFill>
                <a:latin typeface="Courier New"/>
              </a:rPr>
              <a:t>PAID TO</a:t>
            </a:r>
          </a:p>
        </p:txBody>
      </p:sp>
      <p:cxnSp>
        <p:nvCxnSpPr>
          <p:cNvPr id="12" name="Connector 11"/>
          <p:cNvCxnSpPr/>
          <p:nvPr/>
        </p:nvCxnSpPr>
        <p:spPr>
          <a:xfrm>
            <a:off x="698482" y="2006584"/>
            <a:ext cx="10794730" cy="0"/>
          </a:xfrm>
          <a:prstGeom prst="line">
            <a:avLst/>
          </a:prstGeom>
          <a:ln w="10160">
            <a:solidFill>
              <a:srgbClr val="15152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44202" y="2116312"/>
            <a:ext cx="4041648" cy="402336"/>
          </a:xfrm>
          <a:prstGeom prst="rect">
            <a:avLst/>
          </a:prstGeom>
          <a:noFill/>
        </p:spPr>
        <p:txBody>
          <a:bodyPr wrap="square">
            <a:spAutoFit/>
          </a:bodyPr>
          <a:lstStyle/>
          <a:p>
            <a:pPr algn="l"/>
            <a:r>
              <a:rPr sz="1200" b="0" i="0">
                <a:solidFill>
                  <a:srgbClr val="15152A"/>
                </a:solidFill>
                <a:latin typeface="Calibri"/>
              </a:rPr>
              <a:t>One-off setup (months 1–2)</a:t>
            </a:r>
          </a:p>
        </p:txBody>
      </p:sp>
      <p:sp>
        <p:nvSpPr>
          <p:cNvPr id="14" name="TextBox 13"/>
          <p:cNvSpPr txBox="1"/>
          <p:nvPr/>
        </p:nvSpPr>
        <p:spPr>
          <a:xfrm>
            <a:off x="4913866" y="2116312"/>
            <a:ext cx="1847088" cy="402336"/>
          </a:xfrm>
          <a:prstGeom prst="rect">
            <a:avLst/>
          </a:prstGeom>
          <a:noFill/>
        </p:spPr>
        <p:txBody>
          <a:bodyPr wrap="square">
            <a:spAutoFit/>
          </a:bodyPr>
          <a:lstStyle/>
          <a:p>
            <a:pPr algn="r"/>
            <a:r>
              <a:rPr sz="1200" b="0" i="0">
                <a:solidFill>
                  <a:srgbClr val="15152A"/>
                </a:solidFill>
                <a:latin typeface="Calibri"/>
              </a:rPr>
              <a:t>K 50,500</a:t>
            </a:r>
          </a:p>
        </p:txBody>
      </p:sp>
      <p:sp>
        <p:nvSpPr>
          <p:cNvPr id="15" name="TextBox 14"/>
          <p:cNvSpPr txBox="1"/>
          <p:nvPr/>
        </p:nvSpPr>
        <p:spPr>
          <a:xfrm>
            <a:off x="6888970" y="2116312"/>
            <a:ext cx="1847088" cy="402336"/>
          </a:xfrm>
          <a:prstGeom prst="rect">
            <a:avLst/>
          </a:prstGeom>
          <a:noFill/>
        </p:spPr>
        <p:txBody>
          <a:bodyPr wrap="square">
            <a:spAutoFit/>
          </a:bodyPr>
          <a:lstStyle/>
          <a:p>
            <a:pPr algn="r"/>
            <a:r>
              <a:rPr sz="1200" b="0" i="0">
                <a:solidFill>
                  <a:srgbClr val="15152A"/>
                </a:solidFill>
                <a:latin typeface="Calibri"/>
              </a:rPr>
              <a:t>K 78,200</a:t>
            </a:r>
          </a:p>
        </p:txBody>
      </p:sp>
      <p:sp>
        <p:nvSpPr>
          <p:cNvPr id="16" name="TextBox 15"/>
          <p:cNvSpPr txBox="1"/>
          <p:nvPr/>
        </p:nvSpPr>
        <p:spPr>
          <a:xfrm>
            <a:off x="8864074" y="2116312"/>
            <a:ext cx="2670048" cy="402336"/>
          </a:xfrm>
          <a:prstGeom prst="rect">
            <a:avLst/>
          </a:prstGeom>
          <a:noFill/>
        </p:spPr>
        <p:txBody>
          <a:bodyPr wrap="square">
            <a:spAutoFit/>
          </a:bodyPr>
          <a:lstStyle/>
          <a:p>
            <a:pPr algn="l"/>
            <a:r>
              <a:rPr sz="1200" b="0" i="0">
                <a:solidFill>
                  <a:srgbClr val="5B5B6E"/>
                </a:solidFill>
                <a:latin typeface="Calibri"/>
              </a:rPr>
              <a:t>BridgeCom Narratives Ltd</a:t>
            </a:r>
          </a:p>
        </p:txBody>
      </p:sp>
      <p:cxnSp>
        <p:nvCxnSpPr>
          <p:cNvPr id="17" name="Connector 16"/>
          <p:cNvCxnSpPr/>
          <p:nvPr/>
        </p:nvCxnSpPr>
        <p:spPr>
          <a:xfrm>
            <a:off x="698482" y="2555224"/>
            <a:ext cx="10794730" cy="0"/>
          </a:xfrm>
          <a:prstGeom prst="line">
            <a:avLst/>
          </a:prstGeom>
          <a:ln w="5080">
            <a:solidFill>
              <a:srgbClr val="D8D7E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44202" y="2738104"/>
            <a:ext cx="4041648" cy="402336"/>
          </a:xfrm>
          <a:prstGeom prst="rect">
            <a:avLst/>
          </a:prstGeom>
          <a:noFill/>
        </p:spPr>
        <p:txBody>
          <a:bodyPr wrap="square">
            <a:spAutoFit/>
          </a:bodyPr>
          <a:lstStyle/>
          <a:p>
            <a:pPr algn="l"/>
            <a:r>
              <a:rPr sz="1200" b="0" i="0">
                <a:solidFill>
                  <a:srgbClr val="15152A"/>
                </a:solidFill>
                <a:latin typeface="Calibri"/>
              </a:rPr>
              <a:t>Monthly retainer × 11 months (M2–M12)</a:t>
            </a:r>
          </a:p>
        </p:txBody>
      </p:sp>
      <p:sp>
        <p:nvSpPr>
          <p:cNvPr id="19" name="TextBox 18"/>
          <p:cNvSpPr txBox="1"/>
          <p:nvPr/>
        </p:nvSpPr>
        <p:spPr>
          <a:xfrm>
            <a:off x="4913866" y="2738104"/>
            <a:ext cx="1847088" cy="402336"/>
          </a:xfrm>
          <a:prstGeom prst="rect">
            <a:avLst/>
          </a:prstGeom>
          <a:noFill/>
        </p:spPr>
        <p:txBody>
          <a:bodyPr wrap="square">
            <a:spAutoFit/>
          </a:bodyPr>
          <a:lstStyle/>
          <a:p>
            <a:pPr algn="r"/>
            <a:r>
              <a:rPr sz="1200" b="0" i="0">
                <a:solidFill>
                  <a:srgbClr val="15152A"/>
                </a:solidFill>
                <a:latin typeface="Calibri"/>
              </a:rPr>
              <a:t>K 390,500</a:t>
            </a:r>
          </a:p>
        </p:txBody>
      </p:sp>
      <p:sp>
        <p:nvSpPr>
          <p:cNvPr id="20" name="TextBox 19"/>
          <p:cNvSpPr txBox="1"/>
          <p:nvPr/>
        </p:nvSpPr>
        <p:spPr>
          <a:xfrm>
            <a:off x="6888970" y="2738104"/>
            <a:ext cx="1847088" cy="402336"/>
          </a:xfrm>
          <a:prstGeom prst="rect">
            <a:avLst/>
          </a:prstGeom>
          <a:noFill/>
        </p:spPr>
        <p:txBody>
          <a:bodyPr wrap="square">
            <a:spAutoFit/>
          </a:bodyPr>
          <a:lstStyle/>
          <a:p>
            <a:pPr algn="r"/>
            <a:r>
              <a:rPr sz="1200" b="0" i="0">
                <a:solidFill>
                  <a:srgbClr val="15152A"/>
                </a:solidFill>
                <a:latin typeface="Calibri"/>
              </a:rPr>
              <a:t>K 594,000</a:t>
            </a:r>
          </a:p>
        </p:txBody>
      </p:sp>
      <p:sp>
        <p:nvSpPr>
          <p:cNvPr id="21" name="TextBox 20"/>
          <p:cNvSpPr txBox="1"/>
          <p:nvPr/>
        </p:nvSpPr>
        <p:spPr>
          <a:xfrm>
            <a:off x="8864074" y="2738104"/>
            <a:ext cx="2670048" cy="402336"/>
          </a:xfrm>
          <a:prstGeom prst="rect">
            <a:avLst/>
          </a:prstGeom>
          <a:noFill/>
        </p:spPr>
        <p:txBody>
          <a:bodyPr wrap="square">
            <a:spAutoFit/>
          </a:bodyPr>
          <a:lstStyle/>
          <a:p>
            <a:pPr algn="l"/>
            <a:r>
              <a:rPr sz="1200" b="0" i="0">
                <a:solidFill>
                  <a:srgbClr val="5B5B6E"/>
                </a:solidFill>
                <a:latin typeface="Calibri"/>
              </a:rPr>
              <a:t>BridgeCom Narratives Ltd</a:t>
            </a:r>
          </a:p>
        </p:txBody>
      </p:sp>
      <p:cxnSp>
        <p:nvCxnSpPr>
          <p:cNvPr id="22" name="Connector 21"/>
          <p:cNvCxnSpPr/>
          <p:nvPr/>
        </p:nvCxnSpPr>
        <p:spPr>
          <a:xfrm>
            <a:off x="698482" y="3177016"/>
            <a:ext cx="10794730" cy="0"/>
          </a:xfrm>
          <a:prstGeom prst="line">
            <a:avLst/>
          </a:prstGeom>
          <a:ln w="5080">
            <a:solidFill>
              <a:srgbClr val="D8D7E0"/>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44202" y="3359896"/>
            <a:ext cx="4041648" cy="402336"/>
          </a:xfrm>
          <a:prstGeom prst="rect">
            <a:avLst/>
          </a:prstGeom>
          <a:noFill/>
        </p:spPr>
        <p:txBody>
          <a:bodyPr wrap="square">
            <a:spAutoFit/>
          </a:bodyPr>
          <a:lstStyle/>
          <a:p>
            <a:pPr algn="l"/>
            <a:r>
              <a:rPr sz="1200" b="0" i="0">
                <a:solidFill>
                  <a:srgbClr val="15152A"/>
                </a:solidFill>
                <a:latin typeface="Calibri"/>
              </a:rPr>
              <a:t>Technology &amp; tools (annual)</a:t>
            </a:r>
          </a:p>
        </p:txBody>
      </p:sp>
      <p:sp>
        <p:nvSpPr>
          <p:cNvPr id="24" name="TextBox 23"/>
          <p:cNvSpPr txBox="1"/>
          <p:nvPr/>
        </p:nvSpPr>
        <p:spPr>
          <a:xfrm>
            <a:off x="4913866" y="3359896"/>
            <a:ext cx="1847088" cy="402336"/>
          </a:xfrm>
          <a:prstGeom prst="rect">
            <a:avLst/>
          </a:prstGeom>
          <a:noFill/>
        </p:spPr>
        <p:txBody>
          <a:bodyPr wrap="square">
            <a:spAutoFit/>
          </a:bodyPr>
          <a:lstStyle/>
          <a:p>
            <a:pPr algn="r"/>
            <a:r>
              <a:rPr sz="1200" b="0" i="0">
                <a:solidFill>
                  <a:srgbClr val="15152A"/>
                </a:solidFill>
                <a:latin typeface="Calibri"/>
              </a:rPr>
              <a:t>K 15,624</a:t>
            </a:r>
          </a:p>
        </p:txBody>
      </p:sp>
      <p:sp>
        <p:nvSpPr>
          <p:cNvPr id="25" name="TextBox 24"/>
          <p:cNvSpPr txBox="1"/>
          <p:nvPr/>
        </p:nvSpPr>
        <p:spPr>
          <a:xfrm>
            <a:off x="6888970" y="3359896"/>
            <a:ext cx="1847088" cy="402336"/>
          </a:xfrm>
          <a:prstGeom prst="rect">
            <a:avLst/>
          </a:prstGeom>
          <a:noFill/>
        </p:spPr>
        <p:txBody>
          <a:bodyPr wrap="square">
            <a:spAutoFit/>
          </a:bodyPr>
          <a:lstStyle/>
          <a:p>
            <a:pPr algn="r"/>
            <a:r>
              <a:rPr sz="1200" b="0" i="0">
                <a:solidFill>
                  <a:srgbClr val="15152A"/>
                </a:solidFill>
                <a:latin typeface="Calibri"/>
              </a:rPr>
              <a:t>K 31,260</a:t>
            </a:r>
          </a:p>
        </p:txBody>
      </p:sp>
      <p:sp>
        <p:nvSpPr>
          <p:cNvPr id="26" name="TextBox 25"/>
          <p:cNvSpPr txBox="1"/>
          <p:nvPr/>
        </p:nvSpPr>
        <p:spPr>
          <a:xfrm>
            <a:off x="8864074" y="3359896"/>
            <a:ext cx="2670048" cy="402336"/>
          </a:xfrm>
          <a:prstGeom prst="rect">
            <a:avLst/>
          </a:prstGeom>
          <a:noFill/>
        </p:spPr>
        <p:txBody>
          <a:bodyPr wrap="square">
            <a:spAutoFit/>
          </a:bodyPr>
          <a:lstStyle/>
          <a:p>
            <a:pPr algn="l"/>
            <a:r>
              <a:rPr sz="1200" b="0" i="0">
                <a:solidFill>
                  <a:srgbClr val="5B5B6E"/>
                </a:solidFill>
                <a:latin typeface="Calibri"/>
              </a:rPr>
              <a:t>Direct to platforms</a:t>
            </a:r>
          </a:p>
        </p:txBody>
      </p:sp>
      <p:cxnSp>
        <p:nvCxnSpPr>
          <p:cNvPr id="27" name="Connector 26"/>
          <p:cNvCxnSpPr/>
          <p:nvPr/>
        </p:nvCxnSpPr>
        <p:spPr>
          <a:xfrm>
            <a:off x="698482" y="3798808"/>
            <a:ext cx="10794730" cy="0"/>
          </a:xfrm>
          <a:prstGeom prst="line">
            <a:avLst/>
          </a:prstGeom>
          <a:ln w="5080">
            <a:solidFill>
              <a:srgbClr val="D8D7E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44202" y="3981688"/>
            <a:ext cx="4041648" cy="402336"/>
          </a:xfrm>
          <a:prstGeom prst="rect">
            <a:avLst/>
          </a:prstGeom>
          <a:noFill/>
        </p:spPr>
        <p:txBody>
          <a:bodyPr wrap="square">
            <a:spAutoFit/>
          </a:bodyPr>
          <a:lstStyle/>
          <a:p>
            <a:pPr algn="l"/>
            <a:r>
              <a:rPr sz="1200" b="0" i="0">
                <a:solidFill>
                  <a:srgbClr val="15152A"/>
                </a:solidFill>
                <a:latin typeface="Calibri"/>
              </a:rPr>
              <a:t>Advertising spend × 10 months (M3–M12)</a:t>
            </a:r>
          </a:p>
        </p:txBody>
      </p:sp>
      <p:sp>
        <p:nvSpPr>
          <p:cNvPr id="29" name="TextBox 28"/>
          <p:cNvSpPr txBox="1"/>
          <p:nvPr/>
        </p:nvSpPr>
        <p:spPr>
          <a:xfrm>
            <a:off x="4913866" y="3981688"/>
            <a:ext cx="1847088" cy="402336"/>
          </a:xfrm>
          <a:prstGeom prst="rect">
            <a:avLst/>
          </a:prstGeom>
          <a:noFill/>
        </p:spPr>
        <p:txBody>
          <a:bodyPr wrap="square">
            <a:spAutoFit/>
          </a:bodyPr>
          <a:lstStyle/>
          <a:p>
            <a:pPr algn="r"/>
            <a:r>
              <a:rPr sz="1200" b="0" i="0">
                <a:solidFill>
                  <a:srgbClr val="15152A"/>
                </a:solidFill>
                <a:latin typeface="Calibri"/>
              </a:rPr>
              <a:t>K 117,600</a:t>
            </a:r>
          </a:p>
        </p:txBody>
      </p:sp>
      <p:sp>
        <p:nvSpPr>
          <p:cNvPr id="30" name="TextBox 29"/>
          <p:cNvSpPr txBox="1"/>
          <p:nvPr/>
        </p:nvSpPr>
        <p:spPr>
          <a:xfrm>
            <a:off x="6888970" y="3981688"/>
            <a:ext cx="1847088" cy="402336"/>
          </a:xfrm>
          <a:prstGeom prst="rect">
            <a:avLst/>
          </a:prstGeom>
          <a:noFill/>
        </p:spPr>
        <p:txBody>
          <a:bodyPr wrap="square">
            <a:spAutoFit/>
          </a:bodyPr>
          <a:lstStyle/>
          <a:p>
            <a:pPr algn="r"/>
            <a:r>
              <a:rPr sz="1200" b="0" i="0">
                <a:solidFill>
                  <a:srgbClr val="15152A"/>
                </a:solidFill>
                <a:latin typeface="Calibri"/>
              </a:rPr>
              <a:t>K 243,600</a:t>
            </a:r>
          </a:p>
        </p:txBody>
      </p:sp>
      <p:sp>
        <p:nvSpPr>
          <p:cNvPr id="31" name="TextBox 30"/>
          <p:cNvSpPr txBox="1"/>
          <p:nvPr/>
        </p:nvSpPr>
        <p:spPr>
          <a:xfrm>
            <a:off x="8864074" y="3981688"/>
            <a:ext cx="2670048" cy="402336"/>
          </a:xfrm>
          <a:prstGeom prst="rect">
            <a:avLst/>
          </a:prstGeom>
          <a:noFill/>
        </p:spPr>
        <p:txBody>
          <a:bodyPr wrap="square">
            <a:spAutoFit/>
          </a:bodyPr>
          <a:lstStyle/>
          <a:p>
            <a:pPr algn="l"/>
            <a:r>
              <a:rPr sz="1200" b="0" i="0">
                <a:solidFill>
                  <a:srgbClr val="5B5B6E"/>
                </a:solidFill>
                <a:latin typeface="Calibri"/>
              </a:rPr>
              <a:t>Direct to LinkedIn, Meta, Google</a:t>
            </a:r>
          </a:p>
        </p:txBody>
      </p:sp>
      <p:cxnSp>
        <p:nvCxnSpPr>
          <p:cNvPr id="32" name="Connector 31"/>
          <p:cNvCxnSpPr/>
          <p:nvPr/>
        </p:nvCxnSpPr>
        <p:spPr>
          <a:xfrm>
            <a:off x="698482" y="4420600"/>
            <a:ext cx="10794730" cy="0"/>
          </a:xfrm>
          <a:prstGeom prst="line">
            <a:avLst/>
          </a:prstGeom>
          <a:ln w="5080">
            <a:solidFill>
              <a:srgbClr val="D8D7E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44202" y="4603480"/>
            <a:ext cx="4041648" cy="402336"/>
          </a:xfrm>
          <a:prstGeom prst="rect">
            <a:avLst/>
          </a:prstGeom>
          <a:noFill/>
        </p:spPr>
        <p:txBody>
          <a:bodyPr wrap="square">
            <a:spAutoFit/>
          </a:bodyPr>
          <a:lstStyle/>
          <a:p>
            <a:pPr algn="l"/>
            <a:r>
              <a:rPr sz="1200" b="0" i="0">
                <a:solidFill>
                  <a:srgbClr val="15152A"/>
                </a:solidFill>
                <a:latin typeface="Calibri"/>
              </a:rPr>
              <a:t>Video &amp; production (as commissioned)</a:t>
            </a:r>
          </a:p>
        </p:txBody>
      </p:sp>
      <p:sp>
        <p:nvSpPr>
          <p:cNvPr id="34" name="TextBox 33"/>
          <p:cNvSpPr txBox="1"/>
          <p:nvPr/>
        </p:nvSpPr>
        <p:spPr>
          <a:xfrm>
            <a:off x="4913866" y="4603480"/>
            <a:ext cx="1847088" cy="402336"/>
          </a:xfrm>
          <a:prstGeom prst="rect">
            <a:avLst/>
          </a:prstGeom>
          <a:noFill/>
        </p:spPr>
        <p:txBody>
          <a:bodyPr wrap="square">
            <a:spAutoFit/>
          </a:bodyPr>
          <a:lstStyle/>
          <a:p>
            <a:pPr algn="r"/>
            <a:r>
              <a:rPr sz="1200" b="0" i="0">
                <a:solidFill>
                  <a:srgbClr val="15152A"/>
                </a:solidFill>
                <a:latin typeface="Calibri"/>
              </a:rPr>
              <a:t>K 45,600</a:t>
            </a:r>
          </a:p>
        </p:txBody>
      </p:sp>
      <p:sp>
        <p:nvSpPr>
          <p:cNvPr id="35" name="TextBox 34"/>
          <p:cNvSpPr txBox="1"/>
          <p:nvPr/>
        </p:nvSpPr>
        <p:spPr>
          <a:xfrm>
            <a:off x="6888970" y="4603480"/>
            <a:ext cx="1847088" cy="402336"/>
          </a:xfrm>
          <a:prstGeom prst="rect">
            <a:avLst/>
          </a:prstGeom>
          <a:noFill/>
        </p:spPr>
        <p:txBody>
          <a:bodyPr wrap="square">
            <a:spAutoFit/>
          </a:bodyPr>
          <a:lstStyle/>
          <a:p>
            <a:pPr algn="r"/>
            <a:r>
              <a:rPr sz="1200" b="0" i="0">
                <a:solidFill>
                  <a:srgbClr val="15152A"/>
                </a:solidFill>
                <a:latin typeface="Calibri"/>
              </a:rPr>
              <a:t>K 90,000</a:t>
            </a:r>
          </a:p>
        </p:txBody>
      </p:sp>
      <p:sp>
        <p:nvSpPr>
          <p:cNvPr id="36" name="TextBox 35"/>
          <p:cNvSpPr txBox="1"/>
          <p:nvPr/>
        </p:nvSpPr>
        <p:spPr>
          <a:xfrm>
            <a:off x="8864074" y="4603480"/>
            <a:ext cx="2670048" cy="402336"/>
          </a:xfrm>
          <a:prstGeom prst="rect">
            <a:avLst/>
          </a:prstGeom>
          <a:noFill/>
        </p:spPr>
        <p:txBody>
          <a:bodyPr wrap="square">
            <a:spAutoFit/>
          </a:bodyPr>
          <a:lstStyle/>
          <a:p>
            <a:pPr algn="l"/>
            <a:r>
              <a:rPr sz="1200" b="0" i="0">
                <a:solidFill>
                  <a:srgbClr val="5B5B6E"/>
                </a:solidFill>
                <a:latin typeface="Calibri"/>
              </a:rPr>
              <a:t>Local production partners</a:t>
            </a:r>
          </a:p>
        </p:txBody>
      </p:sp>
      <p:cxnSp>
        <p:nvCxnSpPr>
          <p:cNvPr id="37" name="Connector 36"/>
          <p:cNvCxnSpPr/>
          <p:nvPr/>
        </p:nvCxnSpPr>
        <p:spPr>
          <a:xfrm>
            <a:off x="698482" y="5042392"/>
            <a:ext cx="10794730" cy="0"/>
          </a:xfrm>
          <a:prstGeom prst="line">
            <a:avLst/>
          </a:prstGeom>
          <a:ln w="5080">
            <a:solidFill>
              <a:srgbClr val="D8D7E0"/>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698482" y="5115544"/>
            <a:ext cx="10794730" cy="594360"/>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08210" y="5225272"/>
            <a:ext cx="4005072" cy="384048"/>
          </a:xfrm>
          <a:prstGeom prst="rect">
            <a:avLst/>
          </a:prstGeom>
          <a:noFill/>
        </p:spPr>
        <p:txBody>
          <a:bodyPr wrap="square">
            <a:spAutoFit/>
          </a:bodyPr>
          <a:lstStyle/>
          <a:p>
            <a:pPr algn="l"/>
            <a:r>
              <a:rPr sz="1800" b="0" i="0">
                <a:solidFill>
                  <a:srgbClr val="FFFFFF"/>
                </a:solidFill>
                <a:latin typeface="Georgia"/>
              </a:rPr>
              <a:t>Year-one total range</a:t>
            </a:r>
          </a:p>
        </p:txBody>
      </p:sp>
      <p:sp>
        <p:nvSpPr>
          <p:cNvPr id="40" name="TextBox 39"/>
          <p:cNvSpPr txBox="1"/>
          <p:nvPr/>
        </p:nvSpPr>
        <p:spPr>
          <a:xfrm>
            <a:off x="4977874" y="5225272"/>
            <a:ext cx="1810512" cy="384048"/>
          </a:xfrm>
          <a:prstGeom prst="rect">
            <a:avLst/>
          </a:prstGeom>
          <a:noFill/>
        </p:spPr>
        <p:txBody>
          <a:bodyPr wrap="square">
            <a:spAutoFit/>
          </a:bodyPr>
          <a:lstStyle/>
          <a:p>
            <a:pPr algn="r"/>
            <a:r>
              <a:rPr sz="1800" b="0" i="0">
                <a:solidFill>
                  <a:srgbClr val="FFFFFF"/>
                </a:solidFill>
                <a:latin typeface="Georgia"/>
              </a:rPr>
              <a:t>K 619,824</a:t>
            </a:r>
          </a:p>
        </p:txBody>
      </p:sp>
      <p:sp>
        <p:nvSpPr>
          <p:cNvPr id="41" name="TextBox 40"/>
          <p:cNvSpPr txBox="1"/>
          <p:nvPr/>
        </p:nvSpPr>
        <p:spPr>
          <a:xfrm>
            <a:off x="6952978" y="5225272"/>
            <a:ext cx="1810512" cy="384048"/>
          </a:xfrm>
          <a:prstGeom prst="rect">
            <a:avLst/>
          </a:prstGeom>
          <a:noFill/>
        </p:spPr>
        <p:txBody>
          <a:bodyPr wrap="square">
            <a:spAutoFit/>
          </a:bodyPr>
          <a:lstStyle/>
          <a:p>
            <a:pPr algn="r"/>
            <a:r>
              <a:rPr sz="1800" b="0" i="0">
                <a:solidFill>
                  <a:srgbClr val="FFFFFF"/>
                </a:solidFill>
                <a:latin typeface="Georgia"/>
              </a:rPr>
              <a:t>K 1,037,060</a:t>
            </a:r>
          </a:p>
        </p:txBody>
      </p:sp>
      <p:sp>
        <p:nvSpPr>
          <p:cNvPr id="42" name="TextBox 41"/>
          <p:cNvSpPr txBox="1"/>
          <p:nvPr/>
        </p:nvSpPr>
        <p:spPr>
          <a:xfrm>
            <a:off x="8928082" y="5225272"/>
            <a:ext cx="2633472" cy="384048"/>
          </a:xfrm>
          <a:prstGeom prst="rect">
            <a:avLst/>
          </a:prstGeom>
          <a:noFill/>
        </p:spPr>
        <p:txBody>
          <a:bodyPr wrap="square">
            <a:spAutoFit/>
          </a:bodyPr>
          <a:lstStyle/>
          <a:p>
            <a:pPr algn="l"/>
            <a:r>
              <a:rPr sz="1800" b="0" i="0">
                <a:solidFill>
                  <a:srgbClr val="FFFFFF"/>
                </a:solidFill>
                <a:latin typeface="Georgia"/>
              </a:rPr>
              <a:t>Full programme</a:t>
            </a:r>
          </a:p>
        </p:txBody>
      </p:sp>
      <p:sp>
        <p:nvSpPr>
          <p:cNvPr id="43" name="TextBox 42"/>
          <p:cNvSpPr txBox="1"/>
          <p:nvPr/>
        </p:nvSpPr>
        <p:spPr>
          <a:xfrm>
            <a:off x="698482" y="5865352"/>
            <a:ext cx="10794730" cy="384048"/>
          </a:xfrm>
          <a:prstGeom prst="rect">
            <a:avLst/>
          </a:prstGeom>
          <a:noFill/>
        </p:spPr>
        <p:txBody>
          <a:bodyPr wrap="square">
            <a:spAutoFit/>
          </a:bodyPr>
          <a:lstStyle/>
          <a:p>
            <a:pPr algn="l"/>
            <a:r>
              <a:rPr sz="1100" b="0" i="0">
                <a:solidFill>
                  <a:srgbClr val="5B5B6E"/>
                </a:solidFill>
                <a:latin typeface="Calibri"/>
              </a:rPr>
              <a:t>Retainer minimum: six months. Monthly invoicing, 15-day terms. Ad spend invoiced separately and paid directly to platforms for full transparency. Longhorn owns every account, every contact, every asset, at all times.</a:t>
            </a:r>
          </a:p>
        </p:txBody>
      </p:sp>
      <p:cxnSp>
        <p:nvCxnSpPr>
          <p:cNvPr id="44" name="Connector 43"/>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46" name="TextBox 45"/>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22 / 24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ECE7DC"/>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15152A"/>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5B5B6E"/>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5B5B6E"/>
                </a:solidFill>
                <a:latin typeface="Courier New"/>
              </a:rPr>
              <a:t>The Investment · 02</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5B5B6E"/>
                </a:solidFill>
                <a:latin typeface="Courier New"/>
              </a:rPr>
              <a:t>• THE RETURN, IN PLAIN NUMBERS</a:t>
            </a:r>
          </a:p>
        </p:txBody>
      </p:sp>
      <p:sp>
        <p:nvSpPr>
          <p:cNvPr id="6" name="TextBox 5"/>
          <p:cNvSpPr txBox="1"/>
          <p:nvPr/>
        </p:nvSpPr>
        <p:spPr>
          <a:xfrm>
            <a:off x="698482" y="982456"/>
            <a:ext cx="10794730" cy="914400"/>
          </a:xfrm>
          <a:prstGeom prst="rect">
            <a:avLst/>
          </a:prstGeom>
          <a:noFill/>
        </p:spPr>
        <p:txBody>
          <a:bodyPr wrap="square">
            <a:spAutoFit/>
          </a:bodyPr>
          <a:lstStyle/>
          <a:p>
            <a:pPr algn="l"/>
            <a:r>
              <a:rPr sz="4000" b="0" i="1">
                <a:solidFill>
                  <a:srgbClr val="15152A"/>
                </a:solidFill>
                <a:latin typeface="Georgia"/>
              </a:rPr>
              <a:t>The programme is designed to pay for itself
out of its own monthly output.</a:t>
            </a:r>
          </a:p>
        </p:txBody>
      </p:sp>
      <p:sp>
        <p:nvSpPr>
          <p:cNvPr id="7" name="Rectangle 6"/>
          <p:cNvSpPr/>
          <p:nvPr/>
        </p:nvSpPr>
        <p:spPr>
          <a:xfrm>
            <a:off x="698482" y="2143744"/>
            <a:ext cx="3488515" cy="2926080"/>
          </a:xfrm>
          <a:prstGeom prst="rect">
            <a:avLst/>
          </a:prstGeom>
          <a:solidFill>
            <a:srgbClr val="FFFFFF"/>
          </a:solidFill>
          <a:ln w="1270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6226" y="2344912"/>
            <a:ext cx="3077035" cy="256032"/>
          </a:xfrm>
          <a:prstGeom prst="rect">
            <a:avLst/>
          </a:prstGeom>
          <a:noFill/>
        </p:spPr>
        <p:txBody>
          <a:bodyPr wrap="square">
            <a:spAutoFit/>
          </a:bodyPr>
          <a:lstStyle/>
          <a:p>
            <a:pPr algn="l"/>
            <a:r>
              <a:rPr sz="800" b="0" i="0">
                <a:solidFill>
                  <a:srgbClr val="5B5B6E"/>
                </a:solidFill>
                <a:latin typeface="Courier New"/>
              </a:rPr>
              <a:t>ALL-IN MONTHLY COST (AVG)</a:t>
            </a:r>
          </a:p>
        </p:txBody>
      </p:sp>
      <p:sp>
        <p:nvSpPr>
          <p:cNvPr id="9" name="TextBox 8"/>
          <p:cNvSpPr txBox="1"/>
          <p:nvPr/>
        </p:nvSpPr>
        <p:spPr>
          <a:xfrm>
            <a:off x="936226" y="2692384"/>
            <a:ext cx="3077035" cy="1005840"/>
          </a:xfrm>
          <a:prstGeom prst="rect">
            <a:avLst/>
          </a:prstGeom>
          <a:noFill/>
        </p:spPr>
        <p:txBody>
          <a:bodyPr wrap="square">
            <a:spAutoFit/>
          </a:bodyPr>
          <a:lstStyle/>
          <a:p>
            <a:pPr algn="l"/>
            <a:r>
              <a:rPr sz="4800" b="0" i="0">
                <a:solidFill>
                  <a:srgbClr val="15152A"/>
                </a:solidFill>
                <a:latin typeface="Georgia"/>
              </a:rPr>
              <a:t>K 51k – 86k</a:t>
            </a:r>
          </a:p>
        </p:txBody>
      </p:sp>
      <p:sp>
        <p:nvSpPr>
          <p:cNvPr id="10" name="TextBox 9"/>
          <p:cNvSpPr txBox="1"/>
          <p:nvPr/>
        </p:nvSpPr>
        <p:spPr>
          <a:xfrm>
            <a:off x="936226" y="3835384"/>
            <a:ext cx="3077035" cy="1051560"/>
          </a:xfrm>
          <a:prstGeom prst="rect">
            <a:avLst/>
          </a:prstGeom>
          <a:noFill/>
        </p:spPr>
        <p:txBody>
          <a:bodyPr wrap="square">
            <a:spAutoFit/>
          </a:bodyPr>
          <a:lstStyle/>
          <a:p>
            <a:pPr algn="l"/>
            <a:r>
              <a:rPr sz="1300" b="0" i="0">
                <a:solidFill>
                  <a:srgbClr val="5B5B6E"/>
                </a:solidFill>
                <a:latin typeface="Calibri"/>
              </a:rPr>
              <a:t>Year-one total divided by 12. Agency fees, tools, ad spend, production, everything.</a:t>
            </a:r>
          </a:p>
        </p:txBody>
      </p:sp>
      <p:sp>
        <p:nvSpPr>
          <p:cNvPr id="11" name="Rectangle 10"/>
          <p:cNvSpPr/>
          <p:nvPr/>
        </p:nvSpPr>
        <p:spPr>
          <a:xfrm>
            <a:off x="4351589" y="2143744"/>
            <a:ext cx="3488515" cy="2926080"/>
          </a:xfrm>
          <a:prstGeom prst="rect">
            <a:avLst/>
          </a:prstGeom>
          <a:solidFill>
            <a:srgbClr val="FFFFFF"/>
          </a:solidFill>
          <a:ln w="12700">
            <a:solidFill>
              <a:srgbClr val="D8D7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9333" y="2344912"/>
            <a:ext cx="3077035" cy="256032"/>
          </a:xfrm>
          <a:prstGeom prst="rect">
            <a:avLst/>
          </a:prstGeom>
          <a:noFill/>
        </p:spPr>
        <p:txBody>
          <a:bodyPr wrap="square">
            <a:spAutoFit/>
          </a:bodyPr>
          <a:lstStyle/>
          <a:p>
            <a:pPr algn="l"/>
            <a:r>
              <a:rPr sz="800" b="0" i="0">
                <a:solidFill>
                  <a:srgbClr val="5B5B6E"/>
                </a:solidFill>
                <a:latin typeface="Courier New"/>
              </a:rPr>
              <a:t>MONTHLY PREMIUM, M12 (COMMITTED)</a:t>
            </a:r>
          </a:p>
        </p:txBody>
      </p:sp>
      <p:sp>
        <p:nvSpPr>
          <p:cNvPr id="13" name="TextBox 12"/>
          <p:cNvSpPr txBox="1"/>
          <p:nvPr/>
        </p:nvSpPr>
        <p:spPr>
          <a:xfrm>
            <a:off x="4589333" y="2692384"/>
            <a:ext cx="3077035" cy="1005840"/>
          </a:xfrm>
          <a:prstGeom prst="rect">
            <a:avLst/>
          </a:prstGeom>
          <a:noFill/>
        </p:spPr>
        <p:txBody>
          <a:bodyPr wrap="square">
            <a:spAutoFit/>
          </a:bodyPr>
          <a:lstStyle/>
          <a:p>
            <a:pPr algn="l"/>
            <a:r>
              <a:rPr sz="4800" b="0" i="0">
                <a:solidFill>
                  <a:srgbClr val="15152A"/>
                </a:solidFill>
                <a:latin typeface="Georgia"/>
              </a:rPr>
              <a:t>K 80k+</a:t>
            </a:r>
          </a:p>
        </p:txBody>
      </p:sp>
      <p:sp>
        <p:nvSpPr>
          <p:cNvPr id="14" name="TextBox 13"/>
          <p:cNvSpPr txBox="1"/>
          <p:nvPr/>
        </p:nvSpPr>
        <p:spPr>
          <a:xfrm>
            <a:off x="4589333" y="3835384"/>
            <a:ext cx="3077035" cy="1051560"/>
          </a:xfrm>
          <a:prstGeom prst="rect">
            <a:avLst/>
          </a:prstGeom>
          <a:noFill/>
        </p:spPr>
        <p:txBody>
          <a:bodyPr wrap="square">
            <a:spAutoFit/>
          </a:bodyPr>
          <a:lstStyle/>
          <a:p>
            <a:pPr algn="l"/>
            <a:r>
              <a:rPr sz="1300" b="0" i="0">
                <a:solidFill>
                  <a:srgbClr val="5B5B6E"/>
                </a:solidFill>
                <a:latin typeface="Calibri"/>
              </a:rPr>
              <a:t>From digital-sourced clients at the contracted floor. Stretch target: K 200k+.</a:t>
            </a:r>
          </a:p>
        </p:txBody>
      </p:sp>
      <p:sp>
        <p:nvSpPr>
          <p:cNvPr id="15" name="Rectangle 14"/>
          <p:cNvSpPr/>
          <p:nvPr/>
        </p:nvSpPr>
        <p:spPr>
          <a:xfrm>
            <a:off x="8004697" y="2143744"/>
            <a:ext cx="3488515" cy="2926080"/>
          </a:xfrm>
          <a:prstGeom prst="rect">
            <a:avLst/>
          </a:prstGeom>
          <a:solidFill>
            <a:srgbClr val="0A00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2441" y="2344912"/>
            <a:ext cx="3077035" cy="256032"/>
          </a:xfrm>
          <a:prstGeom prst="rect">
            <a:avLst/>
          </a:prstGeom>
          <a:noFill/>
        </p:spPr>
        <p:txBody>
          <a:bodyPr wrap="square">
            <a:spAutoFit/>
          </a:bodyPr>
          <a:lstStyle/>
          <a:p>
            <a:pPr algn="l"/>
            <a:r>
              <a:rPr sz="800" b="0" i="0">
                <a:solidFill>
                  <a:srgbClr val="A0A0D0"/>
                </a:solidFill>
                <a:latin typeface="Courier New"/>
              </a:rPr>
              <a:t>WHAT THAT MEANS</a:t>
            </a:r>
          </a:p>
        </p:txBody>
      </p:sp>
      <p:sp>
        <p:nvSpPr>
          <p:cNvPr id="17" name="TextBox 16"/>
          <p:cNvSpPr txBox="1"/>
          <p:nvPr/>
        </p:nvSpPr>
        <p:spPr>
          <a:xfrm>
            <a:off x="8242441" y="2692384"/>
            <a:ext cx="3077035" cy="1005840"/>
          </a:xfrm>
          <a:prstGeom prst="rect">
            <a:avLst/>
          </a:prstGeom>
          <a:noFill/>
        </p:spPr>
        <p:txBody>
          <a:bodyPr wrap="square">
            <a:spAutoFit/>
          </a:bodyPr>
          <a:lstStyle/>
          <a:p>
            <a:pPr algn="l"/>
            <a:r>
              <a:rPr sz="4800" b="0" i="0">
                <a:solidFill>
                  <a:srgbClr val="FFFFFF"/>
                </a:solidFill>
                <a:latin typeface="Georgia"/>
              </a:rPr>
              <a:t>Break-even</a:t>
            </a:r>
          </a:p>
        </p:txBody>
      </p:sp>
      <p:sp>
        <p:nvSpPr>
          <p:cNvPr id="18" name="TextBox 17"/>
          <p:cNvSpPr txBox="1"/>
          <p:nvPr/>
        </p:nvSpPr>
        <p:spPr>
          <a:xfrm>
            <a:off x="8242441" y="3835384"/>
            <a:ext cx="3077035" cy="1051560"/>
          </a:xfrm>
          <a:prstGeom prst="rect">
            <a:avLst/>
          </a:prstGeom>
          <a:noFill/>
        </p:spPr>
        <p:txBody>
          <a:bodyPr wrap="square">
            <a:spAutoFit/>
          </a:bodyPr>
          <a:lstStyle/>
          <a:p>
            <a:pPr algn="l"/>
            <a:r>
              <a:rPr sz="1300" b="0" i="0">
                <a:solidFill>
                  <a:srgbClr val="C0C0E0"/>
                </a:solidFill>
                <a:latin typeface="Calibri"/>
              </a:rPr>
              <a:t>By Month 12, the digital programme covers its own monthly cost. Everything beyond that is the return.</a:t>
            </a:r>
          </a:p>
        </p:txBody>
      </p:sp>
      <p:sp>
        <p:nvSpPr>
          <p:cNvPr id="19" name="TextBox 18"/>
          <p:cNvSpPr txBox="1"/>
          <p:nvPr/>
        </p:nvSpPr>
        <p:spPr>
          <a:xfrm>
            <a:off x="698482" y="5298424"/>
            <a:ext cx="10794730" cy="594360"/>
          </a:xfrm>
          <a:prstGeom prst="rect">
            <a:avLst/>
          </a:prstGeom>
          <a:noFill/>
        </p:spPr>
        <p:txBody>
          <a:bodyPr wrap="square">
            <a:spAutoFit/>
          </a:bodyPr>
          <a:lstStyle/>
          <a:p>
            <a:pPr algn="l"/>
            <a:r>
              <a:rPr sz="1300" b="0" i="0">
                <a:solidFill>
                  <a:srgbClr val="5B5B6E"/>
                </a:solidFill>
                <a:latin typeface="Calibri"/>
              </a:rPr>
              <a:t>This is the conservative case. Stretch performance, which the team works to hit internally, delivers K 200,000+ in monthly premium revenue by M12 against the same cost base. Compounding into year two, the cost-per-enquiry falls 30%+ as organic and referral channels mature.</a:t>
            </a:r>
          </a:p>
        </p:txBody>
      </p:sp>
      <p:cxnSp>
        <p:nvCxnSpPr>
          <p:cNvPr id="20" name="Connector 19"/>
          <p:cNvCxnSpPr/>
          <p:nvPr/>
        </p:nvCxnSpPr>
        <p:spPr>
          <a:xfrm>
            <a:off x="698482" y="6213362"/>
            <a:ext cx="10794730" cy="0"/>
          </a:xfrm>
          <a:prstGeom prst="line">
            <a:avLst/>
          </a:prstGeom>
          <a:ln w="6350">
            <a:solidFill>
              <a:srgbClr val="D8D7E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98482" y="6085346"/>
            <a:ext cx="3657600" cy="228600"/>
          </a:xfrm>
          <a:prstGeom prst="rect">
            <a:avLst/>
          </a:prstGeom>
          <a:noFill/>
        </p:spPr>
        <p:txBody>
          <a:bodyPr wrap="square">
            <a:spAutoFit/>
          </a:bodyPr>
          <a:lstStyle/>
          <a:p>
            <a:pPr algn="l"/>
            <a:r>
              <a:rPr sz="800" b="0" i="0">
                <a:solidFill>
                  <a:srgbClr val="5B5B6E"/>
                </a:solidFill>
                <a:latin typeface="Courier New"/>
              </a:rPr>
              <a:t>Longhorn × BridgeCom</a:t>
            </a:r>
          </a:p>
        </p:txBody>
      </p:sp>
      <p:sp>
        <p:nvSpPr>
          <p:cNvPr id="22" name="TextBox 21"/>
          <p:cNvSpPr txBox="1"/>
          <p:nvPr/>
        </p:nvSpPr>
        <p:spPr>
          <a:xfrm>
            <a:off x="9664412" y="6085346"/>
            <a:ext cx="1828800" cy="228600"/>
          </a:xfrm>
          <a:prstGeom prst="rect">
            <a:avLst/>
          </a:prstGeom>
          <a:noFill/>
        </p:spPr>
        <p:txBody>
          <a:bodyPr wrap="square">
            <a:spAutoFit/>
          </a:bodyPr>
          <a:lstStyle/>
          <a:p>
            <a:pPr algn="r"/>
            <a:r>
              <a:rPr sz="800" b="0" i="0">
                <a:solidFill>
                  <a:srgbClr val="5B5B6E"/>
                </a:solidFill>
                <a:latin typeface="Courier New"/>
              </a:rPr>
              <a:t>23 / 24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06E"/>
        </a:solidFill>
        <a:effectLst/>
      </p:bgPr>
    </p:bg>
    <p:spTree>
      <p:nvGrpSpPr>
        <p:cNvPr id="1" name=""/>
        <p:cNvGrpSpPr/>
        <p:nvPr/>
      </p:nvGrpSpPr>
      <p:grpSpPr/>
      <p:sp>
        <p:nvSpPr>
          <p:cNvPr id="2" name="TextBox 1"/>
          <p:cNvSpPr txBox="1"/>
          <p:nvPr/>
        </p:nvSpPr>
        <p:spPr>
          <a:xfrm>
            <a:off x="698482" y="320040"/>
            <a:ext cx="3200400" cy="320040"/>
          </a:xfrm>
          <a:prstGeom prst="rect">
            <a:avLst/>
          </a:prstGeom>
          <a:noFill/>
        </p:spPr>
        <p:txBody>
          <a:bodyPr wrap="square">
            <a:spAutoFit/>
          </a:bodyPr>
          <a:lstStyle/>
          <a:p>
            <a:pPr algn="l"/>
            <a:r>
              <a:rPr sz="1000" b="1" i="0">
                <a:solidFill>
                  <a:srgbClr val="FFFFFF"/>
                </a:solidFill>
                <a:latin typeface="Calibri"/>
              </a:rPr>
              <a:t>BridgeCom Narratives</a:t>
            </a:r>
          </a:p>
        </p:txBody>
      </p:sp>
      <p:sp>
        <p:nvSpPr>
          <p:cNvPr id="3" name="TextBox 2"/>
          <p:cNvSpPr txBox="1"/>
          <p:nvPr/>
        </p:nvSpPr>
        <p:spPr>
          <a:xfrm>
            <a:off x="698482" y="594360"/>
            <a:ext cx="3200400" cy="201168"/>
          </a:xfrm>
          <a:prstGeom prst="rect">
            <a:avLst/>
          </a:prstGeom>
          <a:noFill/>
        </p:spPr>
        <p:txBody>
          <a:bodyPr wrap="square">
            <a:spAutoFit/>
          </a:bodyPr>
          <a:lstStyle/>
          <a:p>
            <a:pPr algn="l"/>
            <a:r>
              <a:rPr sz="750" b="0" i="0">
                <a:solidFill>
                  <a:srgbClr val="FFFFFF"/>
                </a:solidFill>
                <a:latin typeface="Courier New"/>
              </a:rPr>
              <a:t>FOR LONGHORN INSURANCE</a:t>
            </a:r>
          </a:p>
        </p:txBody>
      </p:sp>
      <p:sp>
        <p:nvSpPr>
          <p:cNvPr id="4" name="TextBox 3"/>
          <p:cNvSpPr txBox="1"/>
          <p:nvPr/>
        </p:nvSpPr>
        <p:spPr>
          <a:xfrm>
            <a:off x="9207212" y="320040"/>
            <a:ext cx="2286000" cy="320040"/>
          </a:xfrm>
          <a:prstGeom prst="rect">
            <a:avLst/>
          </a:prstGeom>
          <a:noFill/>
        </p:spPr>
        <p:txBody>
          <a:bodyPr wrap="square">
            <a:spAutoFit/>
          </a:bodyPr>
          <a:lstStyle/>
          <a:p>
            <a:pPr algn="r"/>
            <a:r>
              <a:rPr sz="900" b="0" i="0">
                <a:solidFill>
                  <a:srgbClr val="FFFFFF"/>
                </a:solidFill>
                <a:latin typeface="Courier New"/>
              </a:rPr>
              <a:t>Close</a:t>
            </a:r>
          </a:p>
        </p:txBody>
      </p:sp>
      <p:sp>
        <p:nvSpPr>
          <p:cNvPr id="5" name="TextBox 4"/>
          <p:cNvSpPr txBox="1"/>
          <p:nvPr/>
        </p:nvSpPr>
        <p:spPr>
          <a:xfrm>
            <a:off x="698482" y="634984"/>
            <a:ext cx="10794730" cy="256032"/>
          </a:xfrm>
          <a:prstGeom prst="rect">
            <a:avLst/>
          </a:prstGeom>
          <a:noFill/>
        </p:spPr>
        <p:txBody>
          <a:bodyPr wrap="square">
            <a:spAutoFit/>
          </a:bodyPr>
          <a:lstStyle/>
          <a:p>
            <a:pPr algn="l"/>
            <a:r>
              <a:rPr sz="900" b="0" i="0">
                <a:solidFill>
                  <a:srgbClr val="A0A0C0"/>
                </a:solidFill>
                <a:latin typeface="Courier New"/>
              </a:rPr>
              <a:t>• CLOSING</a:t>
            </a:r>
          </a:p>
        </p:txBody>
      </p:sp>
      <p:sp>
        <p:nvSpPr>
          <p:cNvPr id="6" name="TextBox 5"/>
          <p:cNvSpPr txBox="1"/>
          <p:nvPr/>
        </p:nvSpPr>
        <p:spPr>
          <a:xfrm>
            <a:off x="698482" y="982456"/>
            <a:ext cx="10794730" cy="1188720"/>
          </a:xfrm>
          <a:prstGeom prst="rect">
            <a:avLst/>
          </a:prstGeom>
          <a:noFill/>
        </p:spPr>
        <p:txBody>
          <a:bodyPr wrap="square">
            <a:spAutoFit/>
          </a:bodyPr>
          <a:lstStyle/>
          <a:p>
            <a:pPr algn="l"/>
            <a:r>
              <a:rPr sz="5800" b="0" i="1">
                <a:solidFill>
                  <a:srgbClr val="FFFFFF"/>
                </a:solidFill>
                <a:latin typeface="Georgia"/>
              </a:rPr>
              <a:t>Longhorn owns everything.
BridgeCom holds nothing back.</a:t>
            </a:r>
          </a:p>
        </p:txBody>
      </p:sp>
      <p:sp>
        <p:nvSpPr>
          <p:cNvPr id="7" name="Rectangle 6"/>
          <p:cNvSpPr/>
          <p:nvPr/>
        </p:nvSpPr>
        <p:spPr>
          <a:xfrm>
            <a:off x="698482" y="2463784"/>
            <a:ext cx="5287637" cy="1417320"/>
          </a:xfrm>
          <a:prstGeom prst="rect">
            <a:avLst/>
          </a:prstGeom>
          <a:solidFill>
            <a:srgbClr val="181090"/>
          </a:solidFill>
          <a:ln w="12700">
            <a:solidFill>
              <a:srgbClr val="505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6226" y="2628376"/>
            <a:ext cx="4894445" cy="411480"/>
          </a:xfrm>
          <a:prstGeom prst="rect">
            <a:avLst/>
          </a:prstGeom>
          <a:noFill/>
        </p:spPr>
        <p:txBody>
          <a:bodyPr wrap="square">
            <a:spAutoFit/>
          </a:bodyPr>
          <a:lstStyle/>
          <a:p>
            <a:pPr algn="l"/>
            <a:r>
              <a:rPr sz="2200" b="0" i="0">
                <a:solidFill>
                  <a:srgbClr val="FFFFFF"/>
                </a:solidFill>
                <a:latin typeface="Georgia"/>
              </a:rPr>
              <a:t>All accounts &amp; admin rights</a:t>
            </a:r>
          </a:p>
        </p:txBody>
      </p:sp>
      <p:sp>
        <p:nvSpPr>
          <p:cNvPr id="9" name="TextBox 8"/>
          <p:cNvSpPr txBox="1"/>
          <p:nvPr/>
        </p:nvSpPr>
        <p:spPr>
          <a:xfrm>
            <a:off x="936226" y="3085576"/>
            <a:ext cx="4894445" cy="685800"/>
          </a:xfrm>
          <a:prstGeom prst="rect">
            <a:avLst/>
          </a:prstGeom>
          <a:noFill/>
        </p:spPr>
        <p:txBody>
          <a:bodyPr wrap="square">
            <a:spAutoFit/>
          </a:bodyPr>
          <a:lstStyle/>
          <a:p>
            <a:pPr algn="l"/>
            <a:r>
              <a:rPr sz="1200" b="0" i="0">
                <a:solidFill>
                  <a:srgbClr val="B0B0D8"/>
                </a:solidFill>
                <a:latin typeface="Calibri"/>
              </a:rPr>
              <a:t>Facebook, Instagram, LinkedIn, WhatsApp Business, Google Ads, Analytics, CRM. Longhorn is the primary owner. BridgeCom has agency access only.</a:t>
            </a:r>
          </a:p>
        </p:txBody>
      </p:sp>
      <p:sp>
        <p:nvSpPr>
          <p:cNvPr id="10" name="Rectangle 9"/>
          <p:cNvSpPr/>
          <p:nvPr/>
        </p:nvSpPr>
        <p:spPr>
          <a:xfrm>
            <a:off x="6205575" y="2463784"/>
            <a:ext cx="5287637" cy="1417320"/>
          </a:xfrm>
          <a:prstGeom prst="rect">
            <a:avLst/>
          </a:prstGeom>
          <a:solidFill>
            <a:srgbClr val="181090"/>
          </a:solidFill>
          <a:ln w="12700">
            <a:solidFill>
              <a:srgbClr val="505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3319" y="2628376"/>
            <a:ext cx="4894445" cy="411480"/>
          </a:xfrm>
          <a:prstGeom prst="rect">
            <a:avLst/>
          </a:prstGeom>
          <a:noFill/>
        </p:spPr>
        <p:txBody>
          <a:bodyPr wrap="square">
            <a:spAutoFit/>
          </a:bodyPr>
          <a:lstStyle/>
          <a:p>
            <a:pPr algn="l"/>
            <a:r>
              <a:rPr sz="2200" b="0" i="0">
                <a:solidFill>
                  <a:srgbClr val="FFFFFF"/>
                </a:solidFill>
                <a:latin typeface="Georgia"/>
              </a:rPr>
              <a:t>All assets, data &amp; contacts</a:t>
            </a:r>
          </a:p>
        </p:txBody>
      </p:sp>
      <p:sp>
        <p:nvSpPr>
          <p:cNvPr id="12" name="TextBox 11"/>
          <p:cNvSpPr txBox="1"/>
          <p:nvPr/>
        </p:nvSpPr>
        <p:spPr>
          <a:xfrm>
            <a:off x="6443319" y="3085576"/>
            <a:ext cx="4894445" cy="685800"/>
          </a:xfrm>
          <a:prstGeom prst="rect">
            <a:avLst/>
          </a:prstGeom>
          <a:noFill/>
        </p:spPr>
        <p:txBody>
          <a:bodyPr wrap="square">
            <a:spAutoFit/>
          </a:bodyPr>
          <a:lstStyle/>
          <a:p>
            <a:pPr algn="l"/>
            <a:r>
              <a:rPr sz="1200" b="0" i="0">
                <a:solidFill>
                  <a:srgbClr val="B0B0D8"/>
                </a:solidFill>
                <a:latin typeface="Calibri"/>
              </a:rPr>
              <a:t>Website design files, every piece of content produced, the CRM contact database, the WhatsApp opt-in list. If the engagement ends, Longhorn keeps all of it.</a:t>
            </a:r>
          </a:p>
        </p:txBody>
      </p:sp>
      <p:cxnSp>
        <p:nvCxnSpPr>
          <p:cNvPr id="13" name="Connector 12"/>
          <p:cNvCxnSpPr/>
          <p:nvPr/>
        </p:nvCxnSpPr>
        <p:spPr>
          <a:xfrm>
            <a:off x="698482" y="4292584"/>
            <a:ext cx="10794730" cy="0"/>
          </a:xfrm>
          <a:prstGeom prst="line">
            <a:avLst/>
          </a:prstGeom>
          <a:ln w="10160">
            <a:solidFill>
              <a:srgbClr val="30308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98482" y="4493752"/>
            <a:ext cx="2743200" cy="228600"/>
          </a:xfrm>
          <a:prstGeom prst="rect">
            <a:avLst/>
          </a:prstGeom>
          <a:noFill/>
        </p:spPr>
        <p:txBody>
          <a:bodyPr wrap="square">
            <a:spAutoFit/>
          </a:bodyPr>
          <a:lstStyle/>
          <a:p>
            <a:pPr algn="l"/>
            <a:r>
              <a:rPr sz="800" b="0" i="0">
                <a:solidFill>
                  <a:srgbClr val="9090C0"/>
                </a:solidFill>
                <a:latin typeface="Courier New"/>
              </a:rPr>
              <a:t>NEXT STEP</a:t>
            </a:r>
          </a:p>
        </p:txBody>
      </p:sp>
      <p:sp>
        <p:nvSpPr>
          <p:cNvPr id="15" name="TextBox 14"/>
          <p:cNvSpPr txBox="1"/>
          <p:nvPr/>
        </p:nvSpPr>
        <p:spPr>
          <a:xfrm>
            <a:off x="698482" y="4768072"/>
            <a:ext cx="6858000" cy="1005840"/>
          </a:xfrm>
          <a:prstGeom prst="rect">
            <a:avLst/>
          </a:prstGeom>
          <a:noFill/>
        </p:spPr>
        <p:txBody>
          <a:bodyPr wrap="square">
            <a:spAutoFit/>
          </a:bodyPr>
          <a:lstStyle/>
          <a:p>
            <a:pPr algn="l"/>
            <a:r>
              <a:rPr sz="3000" b="0" i="0">
                <a:solidFill>
                  <a:srgbClr val="FFFFFF"/>
                </a:solidFill>
                <a:latin typeface="Georgia"/>
              </a:rPr>
              <a:t>A two-hour working session with Longhorn leadership to walk every channel, every KPI and every line of the budget before signature.</a:t>
            </a:r>
          </a:p>
        </p:txBody>
      </p:sp>
      <p:sp>
        <p:nvSpPr>
          <p:cNvPr id="16" name="TextBox 15"/>
          <p:cNvSpPr txBox="1"/>
          <p:nvPr/>
        </p:nvSpPr>
        <p:spPr>
          <a:xfrm>
            <a:off x="8686800" y="4612624"/>
            <a:ext cx="3200400" cy="384048"/>
          </a:xfrm>
          <a:prstGeom prst="rect">
            <a:avLst/>
          </a:prstGeom>
          <a:noFill/>
        </p:spPr>
        <p:txBody>
          <a:bodyPr wrap="square">
            <a:spAutoFit/>
          </a:bodyPr>
          <a:lstStyle/>
          <a:p>
            <a:pPr algn="l"/>
            <a:r>
              <a:rPr sz="2000" b="1" i="0">
                <a:solidFill>
                  <a:srgbClr val="FFFFFF"/>
                </a:solidFill>
                <a:latin typeface="Calibri"/>
              </a:rPr>
              <a:t>BridgeCom Narratives</a:t>
            </a:r>
          </a:p>
        </p:txBody>
      </p:sp>
      <p:sp>
        <p:nvSpPr>
          <p:cNvPr id="17" name="TextBox 16"/>
          <p:cNvSpPr txBox="1"/>
          <p:nvPr/>
        </p:nvSpPr>
        <p:spPr>
          <a:xfrm>
            <a:off x="8686800" y="5069824"/>
            <a:ext cx="3200400" cy="274320"/>
          </a:xfrm>
          <a:prstGeom prst="rect">
            <a:avLst/>
          </a:prstGeom>
          <a:noFill/>
        </p:spPr>
        <p:txBody>
          <a:bodyPr wrap="square">
            <a:spAutoFit/>
          </a:bodyPr>
          <a:lstStyle/>
          <a:p>
            <a:pPr algn="l"/>
            <a:r>
              <a:rPr sz="1100" b="0" i="0">
                <a:solidFill>
                  <a:srgbClr val="9090C0"/>
                </a:solidFill>
                <a:latin typeface="Courier New"/>
              </a:rPr>
              <a:t>hello@bridgecomnarratives.com</a:t>
            </a:r>
          </a:p>
        </p:txBody>
      </p:sp>
      <p:sp>
        <p:nvSpPr>
          <p:cNvPr id="18" name="TextBox 17"/>
          <p:cNvSpPr txBox="1"/>
          <p:nvPr/>
        </p:nvSpPr>
        <p:spPr>
          <a:xfrm>
            <a:off x="8686800" y="5389864"/>
            <a:ext cx="3200400" cy="274320"/>
          </a:xfrm>
          <a:prstGeom prst="rect">
            <a:avLst/>
          </a:prstGeom>
          <a:noFill/>
        </p:spPr>
        <p:txBody>
          <a:bodyPr wrap="square">
            <a:spAutoFit/>
          </a:bodyPr>
          <a:lstStyle/>
          <a:p>
            <a:pPr algn="l"/>
            <a:r>
              <a:rPr sz="1100" b="0" i="0">
                <a:solidFill>
                  <a:srgbClr val="9090C0"/>
                </a:solidFill>
                <a:latin typeface="Courier New"/>
              </a:rPr>
              <a:t>Lusaka, Zambia  ·  May 2026</a:t>
            </a:r>
          </a:p>
        </p:txBody>
      </p:sp>
      <p:cxnSp>
        <p:nvCxnSpPr>
          <p:cNvPr id="19" name="Connector 18"/>
          <p:cNvCxnSpPr/>
          <p:nvPr/>
        </p:nvCxnSpPr>
        <p:spPr>
          <a:xfrm>
            <a:off x="698482" y="6213362"/>
            <a:ext cx="10794730" cy="0"/>
          </a:xfrm>
          <a:prstGeom prst="line">
            <a:avLst/>
          </a:prstGeom>
          <a:ln w="6350">
            <a:solidFill>
              <a:srgbClr val="80809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98482" y="6085346"/>
            <a:ext cx="3657600" cy="228600"/>
          </a:xfrm>
          <a:prstGeom prst="rect">
            <a:avLst/>
          </a:prstGeom>
          <a:noFill/>
        </p:spPr>
        <p:txBody>
          <a:bodyPr wrap="square">
            <a:spAutoFit/>
          </a:bodyPr>
          <a:lstStyle/>
          <a:p>
            <a:pPr algn="l"/>
            <a:r>
              <a:rPr sz="800" b="0" i="0">
                <a:solidFill>
                  <a:srgbClr val="9090A8"/>
                </a:solidFill>
                <a:latin typeface="Courier New"/>
              </a:rPr>
              <a:t>Longhorn × BridgeCom</a:t>
            </a:r>
          </a:p>
        </p:txBody>
      </p:sp>
      <p:sp>
        <p:nvSpPr>
          <p:cNvPr id="21" name="TextBox 20"/>
          <p:cNvSpPr txBox="1"/>
          <p:nvPr/>
        </p:nvSpPr>
        <p:spPr>
          <a:xfrm>
            <a:off x="9664412" y="6085346"/>
            <a:ext cx="1828800" cy="228600"/>
          </a:xfrm>
          <a:prstGeom prst="rect">
            <a:avLst/>
          </a:prstGeom>
          <a:noFill/>
        </p:spPr>
        <p:txBody>
          <a:bodyPr wrap="square">
            <a:spAutoFit/>
          </a:bodyPr>
          <a:lstStyle/>
          <a:p>
            <a:pPr algn="r"/>
            <a:r>
              <a:rPr sz="800" b="0" i="0">
                <a:solidFill>
                  <a:srgbClr val="9090A8"/>
                </a:solidFill>
                <a:latin typeface="Courier New"/>
              </a:rPr>
              <a:t>24 /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